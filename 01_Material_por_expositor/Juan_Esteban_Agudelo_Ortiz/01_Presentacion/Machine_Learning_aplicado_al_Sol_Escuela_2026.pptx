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6" r:id="rId22"/>
    <p:sldId id="267" r:id="rId24"/>
    <p:sldId id="268" r:id="rId25"/>
    <p:sldId id="269" r:id="rId26"/>
    <p:sldId id="305" r:id="rId10"/>
    <p:sldId id="301" r:id="rId13"/>
    <p:sldId id="302" r:id="rId12"/>
    <p:sldId id="303" r:id="rId11"/>
    <p:sldId id="304" r:id="rId50"/>
    <p:sldId id="271" r:id="rId28"/>
    <p:sldId id="299" r:id="rId15"/>
    <p:sldId id="300" r:id="rId14"/>
    <p:sldId id="272" r:id="rId29"/>
    <p:sldId id="273" r:id="rId30"/>
    <p:sldId id="274" r:id="rId31"/>
    <p:sldId id="275" r:id="rId32"/>
    <p:sldId id="276" r:id="rId33"/>
    <p:sldId id="277" r:id="rId34"/>
    <p:sldId id="278" r:id="rId35"/>
    <p:sldId id="279" r:id="rId36"/>
    <p:sldId id="280" r:id="rId37"/>
    <p:sldId id="306" r:id="rId27"/>
    <p:sldId id="281" r:id="rId38"/>
    <p:sldId id="282" r:id="rId39"/>
    <p:sldId id="283" r:id="rId40"/>
    <p:sldId id="284" r:id="rId41"/>
    <p:sldId id="285" r:id="rId42"/>
    <p:sldId id="286" r:id="rId43"/>
    <p:sldId id="287" r:id="rId44"/>
    <p:sldId id="288" r:id="rId45"/>
    <p:sldId id="289" r:id="rId46"/>
    <p:sldId id="290" r:id="rId47"/>
    <p:sldId id="291" r:id="rId48"/>
    <p:sldId id="292" r:id="rId49"/>
    <p:sldId id="294" r:id="rId51"/>
    <p:sldId id="295" r:id="rId52"/>
    <p:sldId id="296" r:id="rId53"/>
    <p:sldId id="297" r:id="rId54"/>
    <p:sldId id="298" r:id="rId55"/>
  </p:sldIdLst>
  <p:sldSz cx="18288000" cy="10287000"/>
  <p:notesSz cx="6858000" cy="9144000"/>
  <p:embeddedFontLst>
    <p:embeddedFont>
      <p:font typeface="Helvetica World" charset="1" panose="020B0500040000020004"/>
      <p:regular r:id="rId16"/>
    </p:embeddedFont>
    <p:embeddedFont>
      <p:font typeface="Georgia Pro Condensed" charset="1" panose="02040506050405020303"/>
      <p:regular r:id="rId17"/>
    </p:embeddedFont>
    <p:embeddedFont>
      <p:font typeface="Arimo Bold" charset="1" panose="020B0704020202020204"/>
      <p:regular r:id="rId18"/>
    </p:embeddedFont>
    <p:embeddedFont>
      <p:font typeface="Arimo" charset="1" panose="020B0604020202020204"/>
      <p:regular r:id="rId19"/>
    </p:embeddedFont>
    <p:embeddedFont>
      <p:font typeface="Helvetica World Bold" charset="1" panose="020B0800040000020004"/>
      <p:regular r:id="rId20"/>
    </p:embeddedFont>
    <p:embeddedFont>
      <p:font typeface="Arimo Italics" charset="1" panose="020B060402020209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12.xml"/><Relationship Id="rId15" Type="http://schemas.openxmlformats.org/officeDocument/2006/relationships/slide" Target="slides/slide11.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slide" Target="slides/slide1.xml"/><Relationship Id="rId23" Type="http://schemas.openxmlformats.org/officeDocument/2006/relationships/notesMaster" Target="notesMasters/notesMaster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22.xml"/><Relationship Id="rId28" Type="http://schemas.openxmlformats.org/officeDocument/2006/relationships/slide" Target="slides/slide10.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9.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Sesión del jueves 29 de octubre de 2026, dos horas. Tres bloques: conceptos, aplicaciones en física solar y mi investigación, con dos momentos de práctica en el notebook (corre en CPU, sin GPU).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Tiempos propuestos: 20 + 25 + 60 + 15 de discusión = 120 min. Las prácticas son las secciones 1 a 5 y 6 a 7 del notebook 01_Del_dato_solar_al_caption.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Conceptos mínimos de machine learning con ejemplos generales; los datos solares llegan en el bloque 02.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Supervised aprende de pares input–output con labels. Puede ser regresión, cuando se predice un número, o clasificación, cuando se predice una clase (¿perro o gato?). Unsupervised solo ve observaciones y busca estructura, por ejemplo grupos. Para cerrar la lámina: con labels confiables, supervised; para explorar datos sin labels, unsupervised. Los dos esquemas son machine learning que los astrofísicos hacemos todo el tiempo sin llamarlo así, y ninguno necesita una red neuronal. Supervised: ajustar la ley de enfriamiento de Newton a temperaturas medidas. El input es el tiempo, el label es la temperatura medida, el modelo tiene 3 parámetros y el fit minimiza la MSE (la loss de la lámina 11); con los parámetros ajustados se predice la temperatura en un tiempo nuevo. Unsupervised: estrellas con paralaje y movimiento propio parecidos forman grupos, que son cúmulos a la misma distancia moviéndose juntos; nadie le dice al algoritmo qué estrella pertenece a qué cúmulo. Así se buscan cúmulos en catálogos como Gaia. Los datos de los dos esquemas son simulados. Otros métodos sin redes que sirven para lo mismo: SVM o random forests para clasificar, k-means o DBSCAN para agrupar.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que pongan cara a la definición: todos estos productos funcionan sobre foundation models. En rigor ChatGPT es la aplicación y GPT el modelo; lo mismo con Meta AI y Llama. Hay de texto (ChatGPT, Claude, Gemini, DeepSeek, Mistral, Grok, Meta AI), de imágenes (Nano Banana, que es el modelo de imágenes de Gemini, y Midjourney) y de código (GitHub Copilot). Pregunta para el público: ¿cuáles han usado? Nano Banana no tiene logo propio; se usa el emoji del plátano. Logos tomados de Wikimedia Commons; son marcas registradas de sus dueños y se muestran solo para identificarlos: ChatGPT logo (Original: OpenAI Vector: Zhing Za, Public domain); Claude AI logo (Anthropic, Public domain); Google Gemini logo 2025 (Google LLC, Public domain); Twemoji 1f34c (Twitter, CC BY 4.0); Midjourney Emblem (Midjourney (vector version by Tohaomg), Public domain); GitHub Copilot (2025) (GitHub, Public domain); Meta AI Logo (2026) (Meta Platforms, Inc., Public domain); Deepseek-logo-icon (Usertoop, CC0); Mistral AI logo (2025–) (Original: Mistral AI Vector: Pantarch, Public domain); Grok-2025-logo (X.AI Corp.,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cuatro palabras vuelven en toda la sesión. Si el modelo solo mejora en train y no en held-out, memorizó (overfitting). El baseline tonto importa cuando una clase domina: si el 95 % de las fotos son de gatos, un modelo que siempre dice «gato» acierta el 95 % sin aprender nada.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Ejemplos de la revisión de Asensio Ramos et al. (2023) y del libro HelioML, más MUISCA, nuestro trabajo en curso.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la lámina: vemos cuatro casos (agujeros coronales, flares y CME, HelioML y MUISCA). La lista completa de la sección 7 de la revisión (Asensio Ramos et al. 2023): 7.1 segmentation, 7.2 classification, 7.3 y 7.4 flare prediction y modelos explicables, 7.5 heliosfera y space weather, 7.6 ciclo solar, 7.7 inversión de Stokes (acelerar y caracterizar la incertidumbre), 7.8 reconstrucción 3D de la corona, 7.9 deconvolution, 7.10 image-to-image: datos sintéticos, velocidades, super-resolution, denoising, desaturación y far-side imaging. HelioML añade otras, como la estimación de DEM (DeepEM). No las vamos a ver todas: elegimos cuatro casos para ver cómo se plantea cada tipo de problema. Cifras para tener a mano: U-Net con 2385 mapas (7.1); Enhance lleva el píxel de HMI de 0,5″ a 0,25″ y puede crear artefactos (7.10.3); SICON invierte un mapa de 512 × 512 de Hinode en ≈ 200 ms (7.7.1); FarNet detecta ≈ 47 % más regiones del far side a iguales falsos positivos (7.10.6).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Revisión, sección 7.1. La U-Net no clasifica cada píxel por separado: sus convoluciones 2D (kernels de 3 × 3, figura 7 de la revisión) combinan información de la vecindad espacial en un encoder–decoder con skip connections, y la salida es un mapa; lo que sí se evalúa píxel a píxel es la loss. La U-Net de Illarionov y Tlatov (2018) se entrenó con 2385 mapas binarios de la estación de Kislovodsk y la loss es la binary cross-entropy (ec. 51): L = −Σ [y log ŷ + (1−y) log(1−ŷ)], con y el label del píxel y ŷ la probabilidad predicha. Frente a CHIMERA, la correlación del área fue 0,76. CHRONNOS (Jarolim et al. 2021) usa siete canales EUV más el magnetograma y distingue agujeros de canales de protuberancias. La figura es de Reiss et al. (2021): nueve métodos (entre ellos CNN193 y CHRONNOS) sobre el mismo agujero; coinciden en el centro y difieren en los bordes, lo que cambia el viento solar predicho.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Revisión, secciones 7.3 y 7.3.6; HelioML, capítulo 1 (Bobra e Ilonidis 2016, ApJ 821, 127). La figura es el recorte del notebook: los 13 canales de la AR 11944 a las 18:24 UT, en pleno flare X1.2.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figura sale del notebook del capítulo 1 (helioml.org/02/notebook.html): qué tanto separa cada parámetro SHARP las regiones con y sin CME; la helicidad de corriente media es la que más separa. Nueve capítulos con notebook: CME, Enhance, DEM, centelleo, espectros de regiones con flares, far side, cruces de la magnetopausa, electrones de MeV y regiones fuente del viento solar. Licencia CC BY-NC-ND 4.0. Buen sitio para practicar después de la sesión.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Trabajo en curso; el artículo está en preparación. Todo sale del resumen del borrador: evaluado en un paso de MURaM held-out y en cuatro regiones de Hinode/SOT-SP del catálogo MODEST, comparando con las inversiones 2D de SPINOR. La mancha está fuera del rango de campos del entrenamiento. Arriba, la arquitectura; abajo, B_LOS: verdad de SPINOR, baseline y cada variante, con el error en la fila inferior.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resumen de Surya (Roy et al. 2025), se evaluó zero-shot en forecasting de dinámica solar y de flares, y con fine-tuning (LoRA) en viento solar, segmentation de regiones activas, flares y espectros EUV. Para cerrar la lámina: Nuestra pregunta: ¿se pueden traducir los embeddings de Surya al lenguaje?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el prototipo de vision-language model (VLM) sobre Surya, con dos prácticas en el notebook.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Empezar por lo que ya conocen: los asistentes de chat se usan para resumir, traducir, explicar y programar, y es el mismo modelo en todos los casos. Eso es un foundation model: según Bommasani et al. (2021), un modelo entrenado con datos amplios a gran escala y adaptable a una gran variedad de tareas finales (downstream tasks). Otros ejemplos del día a día: generación de imágenes (Stable Diffusion, Rombach et al.), transcripción de voz (Whisper, Radford et al.), asistentes de programación. En las ciencias aparece lo mismo: modelos base para imágenes de teledetección y, en el Sol, Surya, que veremos en un momento. Pregunta para el público: ¿qué tareas le han pedido ustedes a un asistente de chat? Transición: ¿y qué pasa cuando el modelo base es para el Sol?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Surya es el modelo sobre el que construimos el resto de la sesión; los conceptos que usa (loss, held-out, deep learning) ya se vieron en el bloque 01. Una downstream task es la tarea final para la que se aprovecha un modelo preentrenado: en lugar de entrenar una red desde cero para cada problema, se parte de un modelo que ya aprendió cómo se ve el Sol y se ajusta, poco o nada, a cada tarea. Según el resumen del artículo (Roy et al. 2025): sin ajuste (zero-shot) se evaluó en dinámica solar y en forecasting de flares; con fine-tuning ligero (LoRA) en viento solar, segmentation de regiones activas, flares y espectros EUV. La figura es la arquitectura: bloques espectrales y de atención de corto y largo alcance sobre 13 canales y dos instantes (T0 y T1). Ahora le ponemos un LLM encima. Transición: ¿cómo le enseñamos a ese modelo a hablar de lo que ve? Empecemos por el objetivo: un copiloto.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cuadros de entrada separados 60 min, cadencia de 12 min. Nunca se entrenó para hablar: sus embeddings no están alineados con el lenguaje. Los datos de entrada, antes de llegar a Surya, pasan por una normalización fija.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histogramas muestran qué hace cada paso: el signed log comprime la cola larga de valores brillantes; la standardization con constantes globales deja los píxeles del flare a cientos de desviaciones. Las constantes vienen de scalers.yaml. Esta normalización la define Surya, no nosotros: es lo que hay que hacer con un dato para que el modelo lo entienda; la veremos en la práctica 1. Cifras reales de la imagen del 7 de enero de 2014, 18:24 UT: mínimo −0,526 y máximo 219,601 tras normalizar aia94. Transición: Surya ve el Sol, pero no habla. ¿Cómo le pedimos que describa lo que 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copiloto es la meta a largo plazo; el VLM que describe una observación es el primer eslabón. Transición: para enseñarle a un modelo a describir, hacen falta pares observación–caption; ¿de dónde salen?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pipeline de artículos busca en NASA ADS, extrae figuras, lee metadatos con un LLM y ubica el evento en HEK; la comparación con plantilla la diseñó e implementó Julio Flórez. Ejemplo de caption de plantilla: «An active region in the southern hemisphere on the east side of the disk (S05 E32) with 1 sunspot. It is a small single unipolar sunspot.» Transición: ya sabemos qué texto queremos; ahora, qué ve el modelo de la imagen. Para cerrar la lámina: El prototipo usa el catálogo; los artículos llegan cuando el pipeline madure.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Seguir los cuatro paneles en orden: ① el disco completo con la caja de la región, ② el recorte de 704 × 704 px, ③ sus 45 × 45 tokens (se dibuja la norma de cada uno) y ④ los 16 × 16 que quedan tras el pooling. La caja viene de los reportes de regiones activas de NOAA (vía HEK). El pooling numpy del notebook coincide con el de torch (diferencia máxima 6e-8). Transición: ahora lo hacen ustedes, del dato crudo a los 256 tokens.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min. Celda de la sección 2 del notebook (sin el bucle de impresión). Después, secciones 3 a 5: región de interés, tokens y pooling. Pregunta de la sección 4 para discutir: ¿qué estructuras de la imagen se ven en el mapa de normas de los tokens? Transición: ya tenemos 256 tokens de 1280 números; el LLM espera vectores de 4096.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Seguir la figura de arriba abajo con las formas de los tensores. Por qué no lineal: Surya se entrenó para pronosticar, no para alinearse con texto. Como Surya está frozen, los embeddings se calculan una vez y se guardan; Surya y el LLM nunca comparten memoria de GPU.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real: el caption de plantilla de la AR 11892 (9 nov 2013), 40 tokens con el &lt;|im_end|&gt;; posiciones calculadas con el tokenizer de Qwen3-8B y el mismo código del entrenamiento. Entre el prompt y el caption hay un bloque &lt;think&gt;&lt;/think&gt; vacío: Qwen3 puede razonar antes de responder y aquí ese modo está apagado. Transición: ahora lo ven en el notebook.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Extracto de la sección 6 (sin docstrings ni __init__). Los pesos son aleatorios: solo sirve para ver las formas. ≈ 10 min. Transición: con el projector entrenado (en GPU, fuera de la clase), ¿qué aprendió?</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2: 139 muestras de entrenamiento y 55 held-out. 0,557 y +0,18 salen del log de entrenamiento (la siguiente lámina los muestra en las curvas); el image gap es el promedio de las epochs 5 a 20. 17/19 está en la sección 8 del notebook; 29/55 sale del ejercicio 4. Recordar la lámina de entrenar y evaluar: todo se mide en held-out y contra un baseline.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la sección 8 del notebook: seis captions generados y la tabla contra los baselines. La loss en train sigue bajando mientras la held-out se estanca desde la epoch 9: más epochs no ayudan con 139 muestras. Error de longitud grande (31° en días nuevos). La evaluación completa tendrá tres niveles: métricas léxicas, un LLM como juez y revisión humana.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loss se elige según el label. MSE para regresión, como predecir la temperatura de mañana; elevar al cuadrado castiga más los errores grandes. Binary cross-entropy para sí o no, como decidir si hay un perro en una foto. Cross-entropy para K clases; en un LLM, K es el tamaño del vocabulario y el modelo predice la siguiente palabra (token) a partir de las anteriores. log es el logaritmo natural. Ejemplo de la gráfica (probabilidades ilustrativas): si el modelo le da 0,57 a la palabra correcta «pelota», la loss de esa palabra es −ln 0,57 ≈ 0,56. Transición: ¿cómo se baja esa loss? Con su derivada.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con las tres ideas y dejar la tarea: los ejercicios 1 a 4 del notebook; las soluciones están en 05_Recursos_adicionales/soluciones_ejercicios.ipynb. Luego, discusión.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Enlaces completos en 04_Lecturas/README.md.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Iniciativa independiente; sin logos institucionales en esta lámina. Notebooks de la serie: github.com/Datos-De-Ciencia/series-numpy-curva-de-luz.</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Invitar a escanear el QR con el celular.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y discusión.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para llevarse es que backpropagation no es magia, es una derivada parcial. ∂L/∂w es cuánto cambia la loss al mover un solo peso, con todos los demás fijos. La red es una composición de funciones, así que esa derivada es el producto de derivadas locales (regla de la cadena), empezando por la loss y yendo hacia la entrada: por eso «back». Con una neurona, z = w x + b y ŷ = f(z): ∂z/∂w = x y ∂ŷ/∂z = f′(z). Con millones de pesos se hace lo mismo para cada uno; PyTorch lo automatiza (autograd). Después, gradient descent mueve cada peso en contra de su pendiente, con learning rate η: si η es muy grande se pasa del mínimo, si es muy pequeño tarda demasiado (revisión, sec. 5.3.2; ec. 37 para dos capas y ec. 32 para el paso).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Definición de trabajo: una DNN es un regresor no lineal enorme. La primera ecuación es una neurona: suma ponderada de sus entradas más un bias, y una activación no lineal f (ReLU, GELU). La segunda dice que la red es una composición de capas; la profundidad es cuántas se apilan. Sin la f no lineal, apilar capas sería otra vez una función lineal. Los pesos w y b son lo que se aprende con la loss y backpropagation de las láminas siguientes.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ecuación es la convolución: el filtro K se pone sobre cada vecindad del píxel (i, j), se multiplican los valores y se suman (en deep learning se implementa así, sin voltear el filtro). El filtro del esquema es un Sobel, que resalta bordes verticales; en una CNN esos valores no se fijan a mano, se aprenden. Como el mismo filtro se usa en toda la imagen, la red tiene pocos pesos y detecta el patrón en cualquier posición. Apilando capas con pooling, cada capa ve una región más grande. Abajo, el uso típico: la foto de un perro pasa por varias capas de convolución y pooling, y la red responde «perro».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Primera ecuación, la RNN: el estado h_t combina el estado anterior con la entrada nueva, con los mismos pesos W y U en todos los pasos. Con secuencias largas esa memoria se diluye (los gradientes se desvanecen). La LSTM agrega una memoria c_t que pasa casi intacta: la compuerta f_t decide qué olvidar, i_t qué guardar del candidato nuevo c̃_t, y o_t qué parte mostrar en h_t. ⊙ es el producto elemento a elemento. Ejemplos típicos: texto palabra por palabra, audio y series de tiempo de un sensor.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token se proyecta en una query Q, una key K y un value V. QKᵀ compara cada query con todas las keys; el softmax convierte cada fila en pesos que suman 1, y con ellos se promedian los values. Se divide por √d (la dimensión de las keys) para que el softmax no se sature. A diferencia de la RNN no hay que esperar paso a paso, y cualquier token puede mirar a cualquier otro. Un bloque es atención más un MLP, repetido N veces. Es la arquitectura de los LLM como ChatGPT, Claude o Gemini, y hoy también de muchos modelos de imágenes. En el ejemplo, «activa» mira sobre todo a «región» (qué es lo activo) y a «sur» (dónde está); los pesos son ilustrativos.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Lámina sin explicación: dejar que miren unos segundos y preguntar qué tienen en común. Todo esto (fotos, video, audio, texto, juegos, imágenes médicas y astronómicas) lo procesan hoy redes neuronales, y de ahí viene el deep learning. La arquitectura se elige según la forma del dato: imagen, secuencia o conjunto de tokens; las siguientes láminas muestran una por una. Fotos de Wikimedia Commons: AdinaVoicu, «Tabby cat with blue eyes-3336579», CC0; Luc Viatour, «Ara ararauna Luc Viatour», CC BY 2.0; 4300streetcar, «Tainan street traffic at night May 2025», CC BY 4.0; Galak76, «Studio microphone with pop-shield crop», CC BY-SA 3.0; Kelly Fitz, «Long-window reassigned spectrogram of speech», CC BY-SA 3.0; AnonymousUnknown author, «Handwritten letter of Nana Phadnavis», Public domain; Pittigrilli, «35 mm Kodak film negative held between fingers», CC BY-SA 4.0; Culture Japon, «Go game board», CC BY-SA 4.0; O'Dea, «Chest x-ray - posteroanterior view», CC BY-SA 3.0; NASA and the European Space Agency., «Hubble ultra deep field», Public domain; Alabama Extension, «Typing On Apple Desktop Keyboard - 51328178723», CC0.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notesSlide" Target="../notesSlides/notesSlide1.xml"/><Relationship Id="rId6"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4.xml"/><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42.png"/><Relationship Id="rId8" Type="http://schemas.openxmlformats.org/officeDocument/2006/relationships/image" Target="../media/image4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41.png"/><Relationship Id="rId7" Type="http://schemas.openxmlformats.org/officeDocument/2006/relationships/notesSlide" Target="../notesSlides/notesSlide3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notesSlide" Target="../notesSlides/notesSlide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notesSlide" Target="../notesSlides/notesSlide36.xml"/><Relationship Id="rId9"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notesSlide" Target="../notesSlides/notesSlide37.xml"/><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notesSlide" Target="../notesSlides/notesSlide38.xml"/><Relationship Id="rId9" Type="http://schemas.openxmlformats.org/officeDocument/2006/relationships/image" Target="../media/image47.png"/><Relationship Id="rId10" Type="http://schemas.openxmlformats.org/officeDocument/2006/relationships/image" Target="../media/image4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notesSlide" Target="../notesSlides/notesSlide28.xml"/><Relationship Id="rId8"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41.png"/><Relationship Id="rId7" Type="http://schemas.openxmlformats.org/officeDocument/2006/relationships/image" Target="../media/image44.png"/><Relationship Id="rId8"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6.png"/><Relationship Id="rId6"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21.png"/><Relationship Id="rId6"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22.png"/><Relationship Id="rId6"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25.png"/><Relationship Id="rId6" Type="http://schemas.openxmlformats.org/officeDocument/2006/relationships/notesSlide" Target="../notesSlides/notesSlide31.xml"/><Relationship Id="rId7" Type="http://schemas.openxmlformats.org/officeDocument/2006/relationships/image" Target="../media/image24.png"/><Relationship Id="rId8"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26.png"/><Relationship Id="rId6"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grpSp>
        <p:nvGrpSpPr>
          <p:cNvPr name="Group 2" id="2"/>
          <p:cNvGrpSpPr/>
          <p:nvPr/>
        </p:nvGrpSpPr>
        <p:grpSpPr>
          <a:xfrm rot="0">
            <a:off x="0" y="-12700"/>
            <a:ext cx="11201400" cy="10299700"/>
            <a:chOff x="0" y="0"/>
            <a:chExt cx="963348" cy="885799"/>
          </a:xfrm>
        </p:grpSpPr>
        <p:sp>
          <p:nvSpPr>
            <p:cNvPr name="Freeform 3" id="3"/>
            <p:cNvSpPr/>
            <p:nvPr/>
          </p:nvSpPr>
          <p:spPr>
            <a:xfrm flipH="false" flipV="false" rot="0">
              <a:off x="0" y="0"/>
              <a:ext cx="963348" cy="885799"/>
            </a:xfrm>
            <a:custGeom>
              <a:avLst/>
              <a:gdLst/>
              <a:ahLst/>
              <a:cxnLst/>
              <a:rect r="r" b="b" t="t" l="l"/>
              <a:pathLst>
                <a:path h="885799" w="963348">
                  <a:moveTo>
                    <a:pt x="0" y="0"/>
                  </a:moveTo>
                  <a:lnTo>
                    <a:pt x="963348" y="0"/>
                  </a:lnTo>
                  <a:lnTo>
                    <a:pt x="963348" y="885799"/>
                  </a:lnTo>
                  <a:lnTo>
                    <a:pt x="0" y="885799"/>
                  </a:lnTo>
                  <a:close/>
                </a:path>
              </a:pathLst>
            </a:custGeom>
            <a:solidFill>
              <a:srgbClr val="071D30"/>
            </a:solidFill>
          </p:spPr>
        </p:sp>
      </p:grpSp>
      <p:grpSp>
        <p:nvGrpSpPr>
          <p:cNvPr name="Group 4" id="4"/>
          <p:cNvGrpSpPr/>
          <p:nvPr/>
        </p:nvGrpSpPr>
        <p:grpSpPr>
          <a:xfrm rot="0">
            <a:off x="11868150"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6"/>
              <a:stretch>
                <a:fillRect l="0" t="-199" r="0" b="-199"/>
              </a:stretch>
            </a:blipFill>
          </p:spPr>
        </p:sp>
      </p:grpSp>
      <p:sp>
        <p:nvSpPr>
          <p:cNvPr name="TextBox 6" id="6"/>
          <p:cNvSpPr txBox="true"/>
          <p:nvPr/>
        </p:nvSpPr>
        <p:spPr>
          <a:xfrm rot="0">
            <a:off x="857250" y="7400925"/>
            <a:ext cx="9525000" cy="371475"/>
          </a:xfrm>
          <a:prstGeom prst="rect">
            <a:avLst/>
          </a:prstGeom>
        </p:spPr>
        <p:txBody>
          <a:bodyPr anchor="t" rtlCol="false" tIns="0" lIns="0" bIns="0" rIns="0">
            <a:spAutoFit/>
          </a:bodyPr>
          <a:lstStyle/>
          <a:p>
            <a:pPr algn="l" marL="0" indent="0" lvl="0">
              <a:lnSpc>
                <a:spcPts val="2925"/>
              </a:lnSpc>
              <a:spcBef>
                <a:spcPct val="0"/>
              </a:spcBef>
            </a:pPr>
            <a:r>
              <a:rPr lang="en-US" sz="2250" spc="-33" strike="noStrike" u="none" i="0">
                <a:solidFill>
                  <a:srgbClr val="F5F7FA"/>
                </a:solidFill>
                <a:latin typeface="Helvetica World"/>
                <a:ea typeface="Helvetica World"/>
                <a:cs typeface="Helvetica World"/>
                <a:sym typeface="Helvetica World"/>
              </a:rPr>
              <a:t>Juan Esteban Agudelo Ortiz  ·  OAN, Universidad Nacional de Colombia  ·  29 oct 2026</a:t>
            </a:r>
          </a:p>
        </p:txBody>
      </p:sp>
      <p:sp>
        <p:nvSpPr>
          <p:cNvPr name="TextBox 7" id="7"/>
          <p:cNvSpPr txBox="true"/>
          <p:nvPr/>
        </p:nvSpPr>
        <p:spPr>
          <a:xfrm rot="0">
            <a:off x="857250" y="1809750"/>
            <a:ext cx="9754495" cy="2743200"/>
          </a:xfrm>
          <a:prstGeom prst="rect">
            <a:avLst/>
          </a:prstGeom>
        </p:spPr>
        <p:txBody>
          <a:bodyPr anchor="t" rtlCol="false" tIns="0" lIns="0" bIns="0" rIns="0">
            <a:spAutoFit/>
          </a:bodyPr>
          <a:lstStyle/>
          <a:p>
            <a:pPr algn="l" marL="0" indent="0" lvl="0">
              <a:lnSpc>
                <a:spcPts val="10500"/>
              </a:lnSpc>
              <a:spcBef>
                <a:spcPct val="0"/>
              </a:spcBef>
            </a:pPr>
            <a:r>
              <a:rPr lang="en-US" sz="10500" spc="-367" strike="noStrike" u="none">
                <a:solidFill>
                  <a:srgbClr val="F5B82E"/>
                </a:solidFill>
                <a:latin typeface="Georgia Pro Condensed"/>
                <a:ea typeface="Georgia Pro Condensed"/>
                <a:cs typeface="Georgia Pro Condensed"/>
                <a:sym typeface="Georgia Pro Condensed"/>
              </a:rPr>
              <a:t>HelioData</a:t>
            </a:r>
          </a:p>
          <a:p>
            <a:pPr algn="l" marL="0" indent="0" lvl="0">
              <a:lnSpc>
                <a:spcPts val="10500"/>
              </a:lnSpc>
              <a:spcBef>
                <a:spcPct val="0"/>
              </a:spcBef>
            </a:pPr>
            <a:r>
              <a:rPr lang="en-US" sz="10500" spc="-367" strike="noStrike" u="none">
                <a:solidFill>
                  <a:srgbClr val="F5B82E"/>
                </a:solidFill>
                <a:latin typeface="Georgia Pro Condensed"/>
                <a:ea typeface="Georgia Pro Condensed"/>
                <a:cs typeface="Georgia Pro Condensed"/>
                <a:sym typeface="Georgia Pro Condensed"/>
              </a:rPr>
              <a:t>Academy 2026</a:t>
            </a:r>
          </a:p>
        </p:txBody>
      </p:sp>
      <p:sp>
        <p:nvSpPr>
          <p:cNvPr name="TextBox 8" id="8"/>
          <p:cNvSpPr txBox="true"/>
          <p:nvPr/>
        </p:nvSpPr>
        <p:spPr>
          <a:xfrm rot="0">
            <a:off x="876300" y="847725"/>
            <a:ext cx="9525000" cy="350520"/>
          </a:xfrm>
          <a:prstGeom prst="rect">
            <a:avLst/>
          </a:prstGeom>
        </p:spPr>
        <p:txBody>
          <a:bodyPr anchor="t" rtlCol="false" tIns="0" lIns="0" bIns="0" rIns="0">
            <a:spAutoFit/>
          </a:bodyPr>
          <a:lstStyle/>
          <a:p>
            <a:pPr algn="l">
              <a:lnSpc>
                <a:spcPts val="2729"/>
              </a:lnSpc>
            </a:pPr>
            <a:r>
              <a:rPr lang="en-US" sz="1950" b="true">
                <a:solidFill>
                  <a:srgbClr val="F5B82E"/>
                </a:solidFill>
                <a:latin typeface="Arimo Bold"/>
                <a:ea typeface="Arimo Bold"/>
                <a:cs typeface="Arimo Bold"/>
                <a:sym typeface="Arimo Bold"/>
              </a:rPr>
              <a:t>ESCUELA DE ASTROFÍSICA SOLAR  ·  OCTUBRE 2026</a:t>
            </a:r>
          </a:p>
        </p:txBody>
      </p:sp>
      <p:grpSp>
        <p:nvGrpSpPr>
          <p:cNvPr name="Group 9" id="9"/>
          <p:cNvGrpSpPr/>
          <p:nvPr/>
        </p:nvGrpSpPr>
        <p:grpSpPr>
          <a:xfrm rot="0">
            <a:off x="876300" y="4667250"/>
            <a:ext cx="1428750" cy="57150"/>
            <a:chOff x="0" y="0"/>
            <a:chExt cx="1905000" cy="76200"/>
          </a:xfrm>
        </p:grpSpPr>
        <p:sp>
          <p:nvSpPr>
            <p:cNvPr name="Freeform 10" id="10"/>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F5B82E"/>
            </a:solidFill>
          </p:spPr>
        </p:sp>
        <p:sp>
          <p:nvSpPr>
            <p:cNvPr name="TextBox 11" id="11"/>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857250" y="5076825"/>
            <a:ext cx="9525000" cy="699135"/>
          </a:xfrm>
          <a:prstGeom prst="rect">
            <a:avLst/>
          </a:prstGeom>
        </p:spPr>
        <p:txBody>
          <a:bodyPr anchor="t" rtlCol="false" tIns="0" lIns="0" bIns="0" rIns="0">
            <a:spAutoFit/>
          </a:bodyPr>
          <a:lstStyle/>
          <a:p>
            <a:pPr algn="l">
              <a:lnSpc>
                <a:spcPts val="3520"/>
              </a:lnSpc>
            </a:pPr>
            <a:r>
              <a:rPr lang="en-US" sz="3200" b="true" i="0">
                <a:solidFill>
                  <a:srgbClr val="FFFFFF"/>
                </a:solidFill>
                <a:latin typeface="Arimo Bold"/>
                <a:ea typeface="Arimo Bold"/>
                <a:cs typeface="Arimo Bold"/>
                <a:sym typeface="Arimo Bold"/>
              </a:rPr>
              <a:t>Machine Learning aplicado al estudio del Sol</a:t>
            </a:r>
          </a:p>
        </p:txBody>
      </p:sp>
      <p:sp>
        <p:nvSpPr>
          <p:cNvPr name="TextBox 13" id="13"/>
          <p:cNvSpPr txBox="true"/>
          <p:nvPr/>
        </p:nvSpPr>
        <p:spPr>
          <a:xfrm rot="0">
            <a:off x="857250" y="5895975"/>
            <a:ext cx="7620000" cy="440055"/>
          </a:xfrm>
          <a:prstGeom prst="rect">
            <a:avLst/>
          </a:prstGeom>
        </p:spPr>
        <p:txBody>
          <a:bodyPr anchor="t" rtlCol="false" tIns="0" lIns="0" bIns="0" rIns="0">
            <a:spAutoFit/>
          </a:bodyPr>
          <a:lstStyle/>
          <a:p>
            <a:pPr algn="l">
              <a:lnSpc>
                <a:spcPts val="3569"/>
              </a:lnSpc>
            </a:pPr>
            <a:r>
              <a:rPr lang="en-US" sz="2550" i="0">
                <a:solidFill>
                  <a:srgbClr val="9FB3C8"/>
                </a:solidFill>
                <a:latin typeface="Arimo"/>
                <a:ea typeface="Arimo"/>
                <a:cs typeface="Arimo"/>
                <a:sym typeface="Arimo"/>
              </a:rPr>
              <a:t>Del dato solar al lenguaje: aplicaciones y un copiloto de física solar</a:t>
            </a:r>
          </a:p>
        </p:txBody>
      </p:sp>
      <p:grpSp>
        <p:nvGrpSpPr>
          <p:cNvPr name="Group 14" id="14"/>
          <p:cNvGrpSpPr/>
          <p:nvPr/>
        </p:nvGrpSpPr>
        <p:grpSpPr>
          <a:xfrm rot="0">
            <a:off x="8763000" y="1047750"/>
            <a:ext cx="2381250" cy="2381250"/>
            <a:chOff x="0" y="0"/>
            <a:chExt cx="3175000" cy="3175000"/>
          </a:xfrm>
        </p:grpSpPr>
        <p:sp>
          <p:nvSpPr>
            <p:cNvPr name="Freeform 15" id="15"/>
            <p:cNvSpPr/>
            <p:nvPr/>
          </p:nvSpPr>
          <p:spPr>
            <a:xfrm flipH="false" flipV="false" rot="0">
              <a:off x="357188" y="357188"/>
              <a:ext cx="2460625" cy="2460625"/>
            </a:xfrm>
            <a:custGeom>
              <a:avLst/>
              <a:gdLst/>
              <a:ahLst/>
              <a:cxnLst/>
              <a:rect r="r" b="b" t="t" l="l"/>
              <a:pathLst>
                <a:path h="2460625" w="2460625">
                  <a:moveTo>
                    <a:pt x="529166" y="1230312"/>
                  </a:moveTo>
                  <a:cubicBezTo>
                    <a:pt x="529166" y="1617544"/>
                    <a:pt x="843080" y="1931458"/>
                    <a:pt x="1230312" y="1931458"/>
                  </a:cubicBezTo>
                  <a:cubicBezTo>
                    <a:pt x="1617544" y="1931458"/>
                    <a:pt x="1931458" y="1617544"/>
                    <a:pt x="1931458" y="1230312"/>
                  </a:cubicBezTo>
                  <a:cubicBezTo>
                    <a:pt x="1931458" y="843080"/>
                    <a:pt x="1617544" y="529166"/>
                    <a:pt x="1230312" y="529166"/>
                  </a:cubicBezTo>
                  <a:cubicBezTo>
                    <a:pt x="843080" y="529166"/>
                    <a:pt x="529166" y="843080"/>
                    <a:pt x="529166" y="1230312"/>
                  </a:cubicBezTo>
                  <a:close/>
                  <a:moveTo>
                    <a:pt x="2397124" y="501385"/>
                  </a:moveTo>
                  <a:cubicBezTo>
                    <a:pt x="2315128" y="362089"/>
                    <a:pt x="2014204" y="373351"/>
                    <a:pt x="1608809" y="530888"/>
                  </a:cubicBezTo>
                  <a:cubicBezTo>
                    <a:pt x="1203414" y="688424"/>
                    <a:pt x="755853" y="968023"/>
                    <a:pt x="436355" y="1263339"/>
                  </a:cubicBezTo>
                  <a:cubicBezTo>
                    <a:pt x="116858" y="1558655"/>
                    <a:pt x="-25473" y="1824302"/>
                    <a:pt x="63500" y="1959239"/>
                  </a:cubicBezTo>
                  <a:cubicBezTo>
                    <a:pt x="145496" y="2098535"/>
                    <a:pt x="446420" y="2087273"/>
                    <a:pt x="851815" y="1929736"/>
                  </a:cubicBezTo>
                  <a:cubicBezTo>
                    <a:pt x="1257210" y="1772200"/>
                    <a:pt x="1704771" y="1492601"/>
                    <a:pt x="2024269" y="1197285"/>
                  </a:cubicBezTo>
                  <a:cubicBezTo>
                    <a:pt x="2343766" y="901969"/>
                    <a:pt x="2486097" y="636323"/>
                    <a:pt x="2397124" y="501385"/>
                  </a:cubicBezTo>
                  <a:close/>
                  <a:moveTo>
                    <a:pt x="1230312" y="211666"/>
                  </a:moveTo>
                  <a:lnTo>
                    <a:pt x="1230312" y="0"/>
                  </a:lnTo>
                  <a:moveTo>
                    <a:pt x="1230312" y="2460624"/>
                  </a:moveTo>
                  <a:lnTo>
                    <a:pt x="1230312" y="2248958"/>
                  </a:lnTo>
                  <a:moveTo>
                    <a:pt x="211666" y="1230312"/>
                  </a:moveTo>
                  <a:lnTo>
                    <a:pt x="0" y="1230312"/>
                  </a:lnTo>
                  <a:moveTo>
                    <a:pt x="2460624" y="1230312"/>
                  </a:moveTo>
                  <a:lnTo>
                    <a:pt x="2248958" y="1230312"/>
                  </a:lnTo>
                  <a:moveTo>
                    <a:pt x="515937" y="515937"/>
                  </a:moveTo>
                  <a:lnTo>
                    <a:pt x="370416" y="370416"/>
                  </a:lnTo>
                  <a:moveTo>
                    <a:pt x="1944687" y="1944687"/>
                  </a:moveTo>
                  <a:lnTo>
                    <a:pt x="2090208" y="2090208"/>
                  </a:lnTo>
                  <a:moveTo>
                    <a:pt x="582083" y="1322916"/>
                  </a:moveTo>
                  <a:lnTo>
                    <a:pt x="873124" y="1322916"/>
                  </a:lnTo>
                  <a:lnTo>
                    <a:pt x="1018645" y="1018645"/>
                  </a:lnTo>
                  <a:lnTo>
                    <a:pt x="1243541" y="1547812"/>
                  </a:lnTo>
                  <a:lnTo>
                    <a:pt x="1441979" y="1150937"/>
                  </a:lnTo>
                  <a:lnTo>
                    <a:pt x="1574270" y="1322916"/>
                  </a:lnTo>
                  <a:lnTo>
                    <a:pt x="1891770" y="1322916"/>
                  </a:lnTo>
                </a:path>
              </a:pathLst>
            </a:custGeom>
            <a:ln w="66675" cap="sq">
              <a:solidFill>
                <a:srgbClr val="F5B82E"/>
              </a:solidFill>
              <a:prstDash val="solid"/>
              <a:miter/>
            </a:ln>
          </p:spPr>
        </p:sp>
        <p:sp>
          <p:nvSpPr>
            <p:cNvPr name="TextBox 16" id="16"/>
            <p:cNvSpPr txBox="true"/>
            <p:nvPr/>
          </p:nvSpPr>
          <p:spPr>
            <a:xfrm>
              <a:off x="0" y="-38100"/>
              <a:ext cx="3175000" cy="3213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8763000" y="1047750"/>
            <a:ext cx="2381250" cy="2381250"/>
            <a:chOff x="0" y="0"/>
            <a:chExt cx="3175000" cy="3175000"/>
          </a:xfrm>
        </p:grpSpPr>
        <p:sp>
          <p:nvSpPr>
            <p:cNvPr name="Freeform 18" id="18"/>
            <p:cNvSpPr/>
            <p:nvPr/>
          </p:nvSpPr>
          <p:spPr>
            <a:xfrm flipH="false" flipV="false" rot="0">
              <a:off x="2275417" y="410104"/>
              <a:ext cx="423333" cy="423333"/>
            </a:xfrm>
            <a:custGeom>
              <a:avLst/>
              <a:gdLst/>
              <a:ahLst/>
              <a:cxnLst/>
              <a:rect r="r" b="b" t="t" l="l"/>
              <a:pathLst>
                <a:path h="423333" w="423333">
                  <a:moveTo>
                    <a:pt x="211666" y="0"/>
                  </a:moveTo>
                  <a:lnTo>
                    <a:pt x="264583" y="158750"/>
                  </a:lnTo>
                  <a:lnTo>
                    <a:pt x="423333" y="211667"/>
                  </a:lnTo>
                  <a:lnTo>
                    <a:pt x="264583" y="264584"/>
                  </a:lnTo>
                  <a:lnTo>
                    <a:pt x="211666" y="423334"/>
                  </a:lnTo>
                  <a:lnTo>
                    <a:pt x="158750" y="264584"/>
                  </a:lnTo>
                  <a:lnTo>
                    <a:pt x="0" y="211667"/>
                  </a:lnTo>
                  <a:lnTo>
                    <a:pt x="158750" y="158750"/>
                  </a:lnTo>
                  <a:close/>
                </a:path>
              </a:pathLst>
            </a:custGeom>
            <a:solidFill>
              <a:srgbClr val="F5B82E"/>
            </a:solidFill>
          </p:spPr>
        </p:sp>
        <p:sp>
          <p:nvSpPr>
            <p:cNvPr name="TextBox 19" id="19"/>
            <p:cNvSpPr txBox="true"/>
            <p:nvPr/>
          </p:nvSpPr>
          <p:spPr>
            <a:xfrm>
              <a:off x="0" y="-38100"/>
              <a:ext cx="3175000" cy="32131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857250" y="8905875"/>
            <a:ext cx="3143250" cy="1000125"/>
            <a:chOff x="0" y="0"/>
            <a:chExt cx="4191000" cy="1333500"/>
          </a:xfrm>
        </p:grpSpPr>
        <p:sp>
          <p:nvSpPr>
            <p:cNvPr name="Freeform 21" id="21"/>
            <p:cNvSpPr/>
            <p:nvPr/>
          </p:nvSpPr>
          <p:spPr>
            <a:xfrm flipH="false" flipV="false" rot="0">
              <a:off x="0" y="0"/>
              <a:ext cx="4191000" cy="1333500"/>
            </a:xfrm>
            <a:custGeom>
              <a:avLst/>
              <a:gdLst/>
              <a:ahLst/>
              <a:cxnLst/>
              <a:rect r="r" b="b" t="t" l="l"/>
              <a:pathLst>
                <a:path h="1333500" w="4191000">
                  <a:moveTo>
                    <a:pt x="228600" y="0"/>
                  </a:moveTo>
                  <a:lnTo>
                    <a:pt x="3962400" y="0"/>
                  </a:lnTo>
                  <a:cubicBezTo>
                    <a:pt x="4088652" y="0"/>
                    <a:pt x="4191000" y="102348"/>
                    <a:pt x="4191000" y="228600"/>
                  </a:cubicBezTo>
                  <a:lnTo>
                    <a:pt x="4191000" y="1104900"/>
                  </a:lnTo>
                  <a:cubicBezTo>
                    <a:pt x="4191000" y="1231152"/>
                    <a:pt x="4088652" y="1333500"/>
                    <a:pt x="3962400" y="1333500"/>
                  </a:cubicBezTo>
                  <a:lnTo>
                    <a:pt x="228600" y="1333500"/>
                  </a:lnTo>
                  <a:cubicBezTo>
                    <a:pt x="102348" y="1333500"/>
                    <a:pt x="0" y="1231152"/>
                    <a:pt x="0" y="1104900"/>
                  </a:cubicBezTo>
                  <a:lnTo>
                    <a:pt x="0" y="228600"/>
                  </a:lnTo>
                  <a:cubicBezTo>
                    <a:pt x="0" y="102348"/>
                    <a:pt x="102348" y="0"/>
                    <a:pt x="228600" y="0"/>
                  </a:cubicBezTo>
                  <a:close/>
                </a:path>
              </a:pathLst>
            </a:custGeom>
            <a:solidFill>
              <a:srgbClr val="FFFFFF"/>
            </a:solidFill>
          </p:spPr>
        </p:sp>
        <p:sp>
          <p:nvSpPr>
            <p:cNvPr name="TextBox 22" id="22"/>
            <p:cNvSpPr txBox="true"/>
            <p:nvPr/>
          </p:nvSpPr>
          <p:spPr>
            <a:xfrm>
              <a:off x="0" y="-38100"/>
              <a:ext cx="4191000" cy="1371600"/>
            </a:xfrm>
            <a:prstGeom prst="rect">
              <a:avLst/>
            </a:prstGeom>
          </p:spPr>
          <p:txBody>
            <a:bodyPr anchor="ctr" rtlCol="false" tIns="50800" lIns="50800" bIns="50800" rIns="50800"/>
            <a:lstStyle/>
            <a:p>
              <a:pPr algn="l">
                <a:lnSpc>
                  <a:spcPts val="1679"/>
                </a:lnSpc>
              </a:pPr>
            </a:p>
          </p:txBody>
        </p:sp>
      </p:grpSp>
      <p:sp>
        <p:nvSpPr>
          <p:cNvPr name="Freeform 23" id="23" descr="Logo Group of Solar Astrophysics GoSA"/>
          <p:cNvSpPr/>
          <p:nvPr/>
        </p:nvSpPr>
        <p:spPr>
          <a:xfrm flipH="false" flipV="false" rot="0">
            <a:off x="1028700" y="9029700"/>
            <a:ext cx="1619250" cy="762000"/>
          </a:xfrm>
          <a:custGeom>
            <a:avLst/>
            <a:gdLst/>
            <a:ahLst/>
            <a:cxnLst/>
            <a:rect r="r" b="b" t="t" l="l"/>
            <a:pathLst>
              <a:path h="762000" w="1619250">
                <a:moveTo>
                  <a:pt x="0" y="0"/>
                </a:moveTo>
                <a:lnTo>
                  <a:pt x="1619250" y="0"/>
                </a:lnTo>
                <a:lnTo>
                  <a:pt x="1619250" y="762000"/>
                </a:lnTo>
                <a:lnTo>
                  <a:pt x="0" y="762000"/>
                </a:lnTo>
                <a:lnTo>
                  <a:pt x="0" y="0"/>
                </a:lnTo>
                <a:close/>
              </a:path>
            </a:pathLst>
          </a:custGeom>
          <a:blipFill>
            <a:blip r:embed="rId3"/>
            <a:stretch>
              <a:fillRect l="-278" t="0" r="-278" b="0"/>
            </a:stretch>
          </a:blipFill>
        </p:spPr>
        <p:txBody>
          <a:bodyPr/>
          <a:p/>
        </p:txBody>
      </p:sp>
      <p:sp>
        <p:nvSpPr>
          <p:cNvPr name="Freeform 24" id="24" descr="Logo Observatorio Astronómico Nacional"/>
          <p:cNvSpPr/>
          <p:nvPr/>
        </p:nvSpPr>
        <p:spPr>
          <a:xfrm flipH="false" flipV="false" rot="0">
            <a:off x="2857500" y="8991600"/>
            <a:ext cx="895350" cy="838200"/>
          </a:xfrm>
          <a:custGeom>
            <a:avLst/>
            <a:gdLst/>
            <a:ahLst/>
            <a:cxnLst/>
            <a:rect r="r" b="b" t="t" l="l"/>
            <a:pathLst>
              <a:path h="838200" w="895350">
                <a:moveTo>
                  <a:pt x="0" y="0"/>
                </a:moveTo>
                <a:lnTo>
                  <a:pt x="895350" y="0"/>
                </a:lnTo>
                <a:lnTo>
                  <a:pt x="895350" y="838200"/>
                </a:lnTo>
                <a:lnTo>
                  <a:pt x="0" y="838200"/>
                </a:lnTo>
                <a:lnTo>
                  <a:pt x="0" y="0"/>
                </a:lnTo>
                <a:close/>
              </a:path>
            </a:pathLst>
          </a:custGeom>
          <a:blipFill>
            <a:blip r:embed="rId4"/>
            <a:stretch>
              <a:fillRect l="-257" t="0" r="-257" b="0"/>
            </a:stretch>
          </a:blipFill>
        </p:spPr>
        <p:txBody>
          <a:bodyPr/>
          <a:p/>
        </p:txBody>
      </p:sp>
      <p:sp>
        <p:nvSpPr>
          <p:cNvPr name="TextBox 25" id="25"/>
          <p:cNvSpPr txBox="true"/>
          <p:nvPr/>
        </p:nvSpPr>
        <p:spPr>
          <a:xfrm rot="0">
            <a:off x="4286250" y="8982075"/>
            <a:ext cx="6667500" cy="632460"/>
          </a:xfrm>
          <a:prstGeom prst="rect">
            <a:avLst/>
          </a:prstGeom>
        </p:spPr>
        <p:txBody>
          <a:bodyPr anchor="t" rtlCol="false" tIns="0" lIns="0" bIns="0" rIns="0">
            <a:spAutoFit/>
          </a:bodyPr>
          <a:lstStyle/>
          <a:p>
            <a:pPr algn="l">
              <a:lnSpc>
                <a:spcPts val="2475"/>
              </a:lnSpc>
            </a:pPr>
            <a:r>
              <a:rPr lang="en-US" sz="1650">
                <a:solidFill>
                  <a:srgbClr val="9FB3C8"/>
                </a:solidFill>
                <a:latin typeface="Arimo"/>
                <a:ea typeface="Arimo"/>
                <a:cs typeface="Arimo"/>
                <a:sym typeface="Arimo"/>
              </a:rPr>
              <a:t>Group of Solar Astrophysics GoSA</a:t>
            </a:r>
          </a:p>
          <a:p>
            <a:pPr algn="l">
              <a:lnSpc>
                <a:spcPts val="2475"/>
              </a:lnSpc>
            </a:pPr>
            <a:r>
              <a:rPr lang="en-US" sz="1650">
                <a:solidFill>
                  <a:srgbClr val="9FB3C8"/>
                </a:solidFill>
                <a:latin typeface="Arimo"/>
                <a:ea typeface="Arimo"/>
                <a:cs typeface="Arimo"/>
                <a:sym typeface="Arimo"/>
              </a:rPr>
              <a:t>Observatorio Astronómico Nacional · UNAL Bogotá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9118" y="3367087"/>
            <a:ext cx="5445932" cy="39052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071D30"/>
                </a:solidFill>
                <a:latin typeface="Helvetica World Bold"/>
                <a:ea typeface="Helvetica World Bold"/>
                <a:cs typeface="Helvetica World Bold"/>
                <a:sym typeface="Helvetica World Bold"/>
              </a:rPr>
              <a:t>Conceptos de ML</a:t>
            </a:r>
          </a:p>
        </p:txBody>
      </p:sp>
      <p:sp>
        <p:nvSpPr>
          <p:cNvPr name="TextBox 3" id="3"/>
          <p:cNvSpPr txBox="true"/>
          <p:nvPr/>
        </p:nvSpPr>
        <p:spPr>
          <a:xfrm rot="0">
            <a:off x="669118" y="5105400"/>
            <a:ext cx="5445932" cy="692150"/>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071D30"/>
                </a:solidFill>
                <a:latin typeface="Helvetica World"/>
                <a:ea typeface="Helvetica World"/>
                <a:cs typeface="Helvetica World"/>
                <a:sym typeface="Helvetica World"/>
              </a:rPr>
              <a:t>Supervised y unsupervised, deep learning, y cómo se entrena y se evalúa un modelo. (≈ 20 min)</a:t>
            </a:r>
          </a:p>
        </p:txBody>
      </p:sp>
      <p:sp>
        <p:nvSpPr>
          <p:cNvPr name="TextBox 4" id="4"/>
          <p:cNvSpPr txBox="true"/>
          <p:nvPr/>
        </p:nvSpPr>
        <p:spPr>
          <a:xfrm rot="0">
            <a:off x="6419850" y="3367087"/>
            <a:ext cx="5446184" cy="39052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071D30"/>
                </a:solidFill>
                <a:latin typeface="Helvetica World Bold"/>
                <a:ea typeface="Helvetica World Bold"/>
                <a:cs typeface="Helvetica World Bold"/>
                <a:sym typeface="Helvetica World Bold"/>
              </a:rPr>
              <a:t>Aplicaciones en física solar</a:t>
            </a:r>
          </a:p>
        </p:txBody>
      </p:sp>
      <p:sp>
        <p:nvSpPr>
          <p:cNvPr name="TextBox 5" id="5"/>
          <p:cNvSpPr txBox="true"/>
          <p:nvPr/>
        </p:nvSpPr>
        <p:spPr>
          <a:xfrm rot="0">
            <a:off x="6421966" y="5105400"/>
            <a:ext cx="5446184" cy="692150"/>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071D30"/>
                </a:solidFill>
                <a:latin typeface="Helvetica World"/>
                <a:ea typeface="Helvetica World"/>
                <a:cs typeface="Helvetica World"/>
                <a:sym typeface="Helvetica World"/>
              </a:rPr>
              <a:t>Segmentation, super-resolution, inversión y forecasting; HelioML y MUISCA. (≈ 25 min)</a:t>
            </a:r>
          </a:p>
        </p:txBody>
      </p:sp>
      <p:sp>
        <p:nvSpPr>
          <p:cNvPr name="TextBox 6" id="6"/>
          <p:cNvSpPr txBox="true"/>
          <p:nvPr/>
        </p:nvSpPr>
        <p:spPr>
          <a:xfrm rot="0">
            <a:off x="12172950" y="3367087"/>
            <a:ext cx="5448300" cy="39052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071D30"/>
                </a:solidFill>
                <a:latin typeface="Helvetica World Bold"/>
                <a:ea typeface="Helvetica World Bold"/>
                <a:cs typeface="Helvetica World Bold"/>
                <a:sym typeface="Helvetica World Bold"/>
              </a:rPr>
              <a:t>Mi investigación: un copiloto</a:t>
            </a:r>
          </a:p>
        </p:txBody>
      </p:sp>
      <p:sp>
        <p:nvSpPr>
          <p:cNvPr name="TextBox 7" id="7"/>
          <p:cNvSpPr txBox="true"/>
          <p:nvPr/>
        </p:nvSpPr>
        <p:spPr>
          <a:xfrm rot="0">
            <a:off x="12172950" y="5105400"/>
            <a:ext cx="5448300" cy="692150"/>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071D30"/>
                </a:solidFill>
                <a:latin typeface="Helvetica World"/>
                <a:ea typeface="Helvetica World"/>
                <a:cs typeface="Helvetica World"/>
                <a:sym typeface="Helvetica World"/>
              </a:rPr>
              <a:t>Surya, pares imagen–texto, projector y resultados, con dos prácticas. (≈ 60 min + 15 de discusión)</a:t>
            </a:r>
          </a:p>
        </p:txBody>
      </p:sp>
      <p:grpSp>
        <p:nvGrpSpPr>
          <p:cNvPr name="Group 8" id="8"/>
          <p:cNvGrpSpPr/>
          <p:nvPr/>
        </p:nvGrpSpPr>
        <p:grpSpPr>
          <a:xfrm rot="0">
            <a:off x="669118" y="4248150"/>
            <a:ext cx="323850" cy="323850"/>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5B82E"/>
            </a:solidFill>
          </p:spPr>
        </p:sp>
      </p:grpSp>
      <p:grpSp>
        <p:nvGrpSpPr>
          <p:cNvPr name="Group 10" id="10"/>
          <p:cNvGrpSpPr/>
          <p:nvPr/>
        </p:nvGrpSpPr>
        <p:grpSpPr>
          <a:xfrm rot="0">
            <a:off x="6421966" y="4248150"/>
            <a:ext cx="323850" cy="32385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5B82E"/>
            </a:solidFill>
          </p:spPr>
        </p:sp>
      </p:grpSp>
      <p:grpSp>
        <p:nvGrpSpPr>
          <p:cNvPr name="Group 12" id="12"/>
          <p:cNvGrpSpPr/>
          <p:nvPr/>
        </p:nvGrpSpPr>
        <p:grpSpPr>
          <a:xfrm rot="0">
            <a:off x="12172950" y="4248150"/>
            <a:ext cx="323850" cy="323850"/>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5B82E"/>
            </a:solidFill>
          </p:spPr>
        </p:sp>
      </p:grpSp>
      <p:sp>
        <p:nvSpPr>
          <p:cNvPr name="TextBox 14" id="14"/>
          <p:cNvSpPr txBox="true"/>
          <p:nvPr/>
        </p:nvSpPr>
        <p:spPr>
          <a:xfrm rot="0">
            <a:off x="666750" y="809625"/>
            <a:ext cx="16954500" cy="1069976"/>
          </a:xfrm>
          <a:prstGeom prst="rect">
            <a:avLst/>
          </a:prstGeom>
        </p:spPr>
        <p:txBody>
          <a:bodyPr anchor="t" rtlCol="false" tIns="0" lIns="0" bIns="0" rIns="0">
            <a:spAutoFit/>
          </a:bodyPr>
          <a:lstStyle/>
          <a:p>
            <a:pPr algn="l" marL="0" indent="0" lvl="0">
              <a:lnSpc>
                <a:spcPts val="8000"/>
              </a:lnSpc>
            </a:pPr>
            <a:r>
              <a:rPr lang="en-US" sz="8000">
                <a:solidFill>
                  <a:srgbClr val="071D30"/>
                </a:solidFill>
                <a:latin typeface="Georgia Pro Condensed"/>
                <a:ea typeface="Georgia Pro Condensed"/>
                <a:cs typeface="Georgia Pro Condensed"/>
                <a:sym typeface="Georgia Pro Condensed"/>
              </a:rPr>
              <a:t>Agenda de la sesión</a:t>
            </a:r>
          </a:p>
        </p:txBody>
      </p:sp>
      <p:sp>
        <p:nvSpPr>
          <p:cNvPr name="TextBox 15" id="15"/>
          <p:cNvSpPr txBox="true"/>
          <p:nvPr/>
        </p:nvSpPr>
        <p:spPr>
          <a:xfrm rot="0">
            <a:off x="666750" y="2371725"/>
            <a:ext cx="1905000" cy="790575"/>
          </a:xfrm>
          <a:prstGeom prst="rect">
            <a:avLst/>
          </a:prstGeom>
        </p:spPr>
        <p:txBody>
          <a:bodyPr anchor="t" rtlCol="false" tIns="0" lIns="0" bIns="0" rIns="0">
            <a:spAutoFit/>
          </a:bodyPr>
          <a:lstStyle/>
          <a:p>
            <a:pPr algn="l">
              <a:lnSpc>
                <a:spcPts val="6299"/>
              </a:lnSpc>
            </a:pPr>
            <a:r>
              <a:rPr lang="en-US" sz="4500" b="true">
                <a:solidFill>
                  <a:srgbClr val="F5B82E"/>
                </a:solidFill>
                <a:latin typeface="Arimo Bold"/>
                <a:ea typeface="Arimo Bold"/>
                <a:cs typeface="Arimo Bold"/>
                <a:sym typeface="Arimo Bold"/>
              </a:rPr>
              <a:t>01</a:t>
            </a:r>
          </a:p>
        </p:txBody>
      </p:sp>
      <p:sp>
        <p:nvSpPr>
          <p:cNvPr name="TextBox 16" id="16"/>
          <p:cNvSpPr txBox="true"/>
          <p:nvPr/>
        </p:nvSpPr>
        <p:spPr>
          <a:xfrm rot="0">
            <a:off x="6419850" y="2371725"/>
            <a:ext cx="1905000" cy="790575"/>
          </a:xfrm>
          <a:prstGeom prst="rect">
            <a:avLst/>
          </a:prstGeom>
        </p:spPr>
        <p:txBody>
          <a:bodyPr anchor="t" rtlCol="false" tIns="0" lIns="0" bIns="0" rIns="0">
            <a:spAutoFit/>
          </a:bodyPr>
          <a:lstStyle/>
          <a:p>
            <a:pPr algn="l">
              <a:lnSpc>
                <a:spcPts val="6299"/>
              </a:lnSpc>
            </a:pPr>
            <a:r>
              <a:rPr lang="en-US" sz="4500" b="true">
                <a:solidFill>
                  <a:srgbClr val="F5B82E"/>
                </a:solidFill>
                <a:latin typeface="Arimo Bold"/>
                <a:ea typeface="Arimo Bold"/>
                <a:cs typeface="Arimo Bold"/>
                <a:sym typeface="Arimo Bold"/>
              </a:rPr>
              <a:t>02</a:t>
            </a:r>
          </a:p>
        </p:txBody>
      </p:sp>
      <p:sp>
        <p:nvSpPr>
          <p:cNvPr name="TextBox 17" id="17"/>
          <p:cNvSpPr txBox="true"/>
          <p:nvPr/>
        </p:nvSpPr>
        <p:spPr>
          <a:xfrm rot="0">
            <a:off x="12172950" y="2371725"/>
            <a:ext cx="1905000" cy="790575"/>
          </a:xfrm>
          <a:prstGeom prst="rect">
            <a:avLst/>
          </a:prstGeom>
        </p:spPr>
        <p:txBody>
          <a:bodyPr anchor="t" rtlCol="false" tIns="0" lIns="0" bIns="0" rIns="0">
            <a:spAutoFit/>
          </a:bodyPr>
          <a:lstStyle/>
          <a:p>
            <a:pPr algn="l">
              <a:lnSpc>
                <a:spcPts val="6299"/>
              </a:lnSpc>
            </a:pPr>
            <a:r>
              <a:rPr lang="en-US" sz="4500" b="true">
                <a:solidFill>
                  <a:srgbClr val="F5B82E"/>
                </a:solidFill>
                <a:latin typeface="Arimo Bold"/>
                <a:ea typeface="Arimo Bold"/>
                <a:cs typeface="Arimo Bold"/>
                <a:sym typeface="Arimo Bold"/>
              </a:rPr>
              <a:t>03</a:t>
            </a:r>
          </a:p>
        </p:txBody>
      </p:sp>
      <p:sp>
        <p:nvSpPr>
          <p:cNvPr name="TextBox 18" id="18"/>
          <p:cNvSpPr txBox="true"/>
          <p:nvPr/>
        </p:nvSpPr>
        <p:spPr>
          <a:xfrm rot="0">
            <a:off x="685800" y="1943100"/>
            <a:ext cx="7620000" cy="300990"/>
          </a:xfrm>
          <a:prstGeom prst="rect">
            <a:avLst/>
          </a:prstGeom>
        </p:spPr>
        <p:txBody>
          <a:bodyPr anchor="t" rtlCol="false" tIns="0" lIns="0" bIns="0" rIns="0">
            <a:spAutoFit/>
          </a:bodyPr>
          <a:lstStyle/>
          <a:p>
            <a:pPr algn="l">
              <a:lnSpc>
                <a:spcPts val="2310"/>
              </a:lnSpc>
            </a:pPr>
            <a:r>
              <a:rPr lang="en-US" sz="1650" b="true">
                <a:solidFill>
                  <a:srgbClr val="087F8C"/>
                </a:solidFill>
                <a:latin typeface="Arimo Bold"/>
                <a:ea typeface="Arimo Bold"/>
                <a:cs typeface="Arimo Bold"/>
                <a:sym typeface="Arimo Bold"/>
              </a:rPr>
              <a:t>RUTA DE LA SESIÓN</a:t>
            </a:r>
          </a:p>
        </p:txBody>
      </p:sp>
      <p:grpSp>
        <p:nvGrpSpPr>
          <p:cNvPr name="Group 19" id="19"/>
          <p:cNvGrpSpPr/>
          <p:nvPr/>
        </p:nvGrpSpPr>
        <p:grpSpPr>
          <a:xfrm rot="0">
            <a:off x="16383000" y="571500"/>
            <a:ext cx="1238250" cy="1238250"/>
            <a:chOff x="0" y="0"/>
            <a:chExt cx="1651000" cy="1651000"/>
          </a:xfrm>
        </p:grpSpPr>
        <p:sp>
          <p:nvSpPr>
            <p:cNvPr name="Freeform 20" id="20"/>
            <p:cNvSpPr/>
            <p:nvPr/>
          </p:nvSpPr>
          <p:spPr>
            <a:xfrm flipH="false" flipV="false" rot="0">
              <a:off x="185738" y="185738"/>
              <a:ext cx="1279525" cy="1279525"/>
            </a:xfrm>
            <a:custGeom>
              <a:avLst/>
              <a:gdLst/>
              <a:ahLst/>
              <a:cxnLst/>
              <a:rect r="r" b="b" t="t" l="l"/>
              <a:pathLst>
                <a:path h="1279525" w="1279525">
                  <a:moveTo>
                    <a:pt x="275166" y="639762"/>
                  </a:moveTo>
                  <a:cubicBezTo>
                    <a:pt x="275166" y="841123"/>
                    <a:pt x="438401" y="1004358"/>
                    <a:pt x="639762" y="1004358"/>
                  </a:cubicBezTo>
                  <a:cubicBezTo>
                    <a:pt x="841123" y="1004358"/>
                    <a:pt x="1004358" y="841123"/>
                    <a:pt x="1004358" y="639762"/>
                  </a:cubicBezTo>
                  <a:cubicBezTo>
                    <a:pt x="1004358" y="438401"/>
                    <a:pt x="841123" y="275166"/>
                    <a:pt x="639762" y="275166"/>
                  </a:cubicBezTo>
                  <a:cubicBezTo>
                    <a:pt x="438401" y="275166"/>
                    <a:pt x="275166" y="438401"/>
                    <a:pt x="275166" y="639762"/>
                  </a:cubicBezTo>
                  <a:close/>
                  <a:moveTo>
                    <a:pt x="1246505" y="260720"/>
                  </a:moveTo>
                  <a:cubicBezTo>
                    <a:pt x="1203867" y="188286"/>
                    <a:pt x="1047386" y="194142"/>
                    <a:pt x="836581" y="276061"/>
                  </a:cubicBezTo>
                  <a:cubicBezTo>
                    <a:pt x="625775" y="357980"/>
                    <a:pt x="393043" y="503372"/>
                    <a:pt x="226905" y="656936"/>
                  </a:cubicBezTo>
                  <a:cubicBezTo>
                    <a:pt x="60766" y="810500"/>
                    <a:pt x="-13246" y="948637"/>
                    <a:pt x="33020" y="1018804"/>
                  </a:cubicBezTo>
                  <a:cubicBezTo>
                    <a:pt x="75657" y="1091238"/>
                    <a:pt x="232138" y="1085382"/>
                    <a:pt x="442943" y="1003463"/>
                  </a:cubicBezTo>
                  <a:cubicBezTo>
                    <a:pt x="653749" y="921544"/>
                    <a:pt x="886481" y="776152"/>
                    <a:pt x="1052619" y="622588"/>
                  </a:cubicBezTo>
                  <a:cubicBezTo>
                    <a:pt x="1218758" y="469024"/>
                    <a:pt x="1292770" y="330887"/>
                    <a:pt x="1246505" y="260720"/>
                  </a:cubicBezTo>
                  <a:close/>
                  <a:moveTo>
                    <a:pt x="639762" y="110066"/>
                  </a:moveTo>
                  <a:lnTo>
                    <a:pt x="639762" y="0"/>
                  </a:lnTo>
                  <a:moveTo>
                    <a:pt x="639762" y="1279524"/>
                  </a:moveTo>
                  <a:lnTo>
                    <a:pt x="639762" y="1169458"/>
                  </a:lnTo>
                  <a:moveTo>
                    <a:pt x="110066" y="639762"/>
                  </a:moveTo>
                  <a:lnTo>
                    <a:pt x="0" y="639762"/>
                  </a:lnTo>
                  <a:moveTo>
                    <a:pt x="1279524" y="639762"/>
                  </a:moveTo>
                  <a:lnTo>
                    <a:pt x="1169458" y="639762"/>
                  </a:lnTo>
                  <a:moveTo>
                    <a:pt x="268287" y="268287"/>
                  </a:moveTo>
                  <a:lnTo>
                    <a:pt x="192616" y="192616"/>
                  </a:lnTo>
                  <a:moveTo>
                    <a:pt x="1011237" y="1011237"/>
                  </a:moveTo>
                  <a:lnTo>
                    <a:pt x="1086908" y="1086908"/>
                  </a:lnTo>
                  <a:moveTo>
                    <a:pt x="302683" y="687916"/>
                  </a:moveTo>
                  <a:lnTo>
                    <a:pt x="454024" y="687916"/>
                  </a:lnTo>
                  <a:lnTo>
                    <a:pt x="529695" y="529695"/>
                  </a:lnTo>
                  <a:lnTo>
                    <a:pt x="646641" y="804862"/>
                  </a:lnTo>
                  <a:lnTo>
                    <a:pt x="749829" y="598487"/>
                  </a:lnTo>
                  <a:lnTo>
                    <a:pt x="818620" y="687916"/>
                  </a:lnTo>
                  <a:lnTo>
                    <a:pt x="983720" y="687916"/>
                  </a:lnTo>
                </a:path>
              </a:pathLst>
            </a:custGeom>
            <a:ln w="38100" cap="sq">
              <a:solidFill>
                <a:srgbClr val="087F8C"/>
              </a:solidFill>
              <a:prstDash val="solid"/>
              <a:miter/>
            </a:ln>
          </p:spPr>
        </p:sp>
        <p:sp>
          <p:nvSpPr>
            <p:cNvPr name="TextBox 21" id="21"/>
            <p:cNvSpPr txBox="true"/>
            <p:nvPr/>
          </p:nvSpPr>
          <p:spPr>
            <a:xfrm>
              <a:off x="0" y="-38100"/>
              <a:ext cx="1651000" cy="1689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16383000" y="571500"/>
            <a:ext cx="1238250" cy="1238250"/>
            <a:chOff x="0" y="0"/>
            <a:chExt cx="1651000" cy="1651000"/>
          </a:xfrm>
        </p:grpSpPr>
        <p:sp>
          <p:nvSpPr>
            <p:cNvPr name="Freeform 23" id="23"/>
            <p:cNvSpPr/>
            <p:nvPr/>
          </p:nvSpPr>
          <p:spPr>
            <a:xfrm flipH="false" flipV="false" rot="0">
              <a:off x="1183217" y="213254"/>
              <a:ext cx="220133" cy="220133"/>
            </a:xfrm>
            <a:custGeom>
              <a:avLst/>
              <a:gdLst/>
              <a:ahLst/>
              <a:cxnLst/>
              <a:rect r="r" b="b" t="t" l="l"/>
              <a:pathLst>
                <a:path h="220133" w="220133">
                  <a:moveTo>
                    <a:pt x="110066" y="0"/>
                  </a:moveTo>
                  <a:lnTo>
                    <a:pt x="137583" y="82550"/>
                  </a:lnTo>
                  <a:lnTo>
                    <a:pt x="220133" y="110067"/>
                  </a:lnTo>
                  <a:lnTo>
                    <a:pt x="137583" y="137584"/>
                  </a:lnTo>
                  <a:lnTo>
                    <a:pt x="110066" y="220134"/>
                  </a:lnTo>
                  <a:lnTo>
                    <a:pt x="82550" y="137584"/>
                  </a:lnTo>
                  <a:lnTo>
                    <a:pt x="0" y="110067"/>
                  </a:lnTo>
                  <a:lnTo>
                    <a:pt x="82550" y="82550"/>
                  </a:lnTo>
                  <a:close/>
                </a:path>
              </a:pathLst>
            </a:custGeom>
            <a:solidFill>
              <a:srgbClr val="F5B82E"/>
            </a:solidFill>
          </p:spPr>
        </p:sp>
        <p:sp>
          <p:nvSpPr>
            <p:cNvPr name="TextBox 24" id="24"/>
            <p:cNvSpPr txBox="true"/>
            <p:nvPr/>
          </p:nvSpPr>
          <p:spPr>
            <a:xfrm>
              <a:off x="0" y="-38100"/>
              <a:ext cx="1651000" cy="1689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grpSp>
        <p:nvGrpSpPr>
          <p:cNvPr name="Group 26" id="26"/>
          <p:cNvGrpSpPr/>
          <p:nvPr/>
        </p:nvGrpSpPr>
        <p:grpSpPr>
          <a:xfrm rot="0">
            <a:off x="666750" y="9639300"/>
            <a:ext cx="16954500" cy="19050"/>
            <a:chOff x="0" y="0"/>
            <a:chExt cx="22606000" cy="25400"/>
          </a:xfrm>
        </p:grpSpPr>
        <p:sp>
          <p:nvSpPr>
            <p:cNvPr name="Freeform 27" id="27"/>
            <p:cNvSpPr/>
            <p:nvPr/>
          </p:nvSpPr>
          <p:spPr>
            <a:xfrm flipH="false" flipV="false" rot="0">
              <a:off x="0" y="0"/>
              <a:ext cx="22606000" cy="25400"/>
            </a:xfrm>
            <a:custGeom>
              <a:avLst/>
              <a:gdLst/>
              <a:ahLst/>
              <a:cxnLst/>
              <a:rect r="r" b="b" t="t" l="l"/>
              <a:pathLst>
                <a:path h="25400" w="22606000">
                  <a:moveTo>
                    <a:pt x="0" y="0"/>
                  </a:moveTo>
                  <a:lnTo>
                    <a:pt x="22606000" y="0"/>
                  </a:lnTo>
                  <a:lnTo>
                    <a:pt x="22606000" y="25400"/>
                  </a:lnTo>
                  <a:lnTo>
                    <a:pt x="0" y="25400"/>
                  </a:lnTo>
                  <a:close/>
                </a:path>
              </a:pathLst>
            </a:custGeom>
            <a:solidFill>
              <a:srgbClr val="C9D3DD"/>
            </a:solidFill>
          </p:spPr>
        </p:sp>
        <p:sp>
          <p:nvSpPr>
            <p:cNvPr name="TextBox 28" id="28"/>
            <p:cNvSpPr txBox="true"/>
            <p:nvPr/>
          </p:nvSpPr>
          <p:spPr>
            <a:xfrm>
              <a:off x="0" y="-38100"/>
              <a:ext cx="22606000" cy="63500"/>
            </a:xfrm>
            <a:prstGeom prst="rect">
              <a:avLst/>
            </a:prstGeom>
          </p:spPr>
          <p:txBody>
            <a:bodyPr anchor="ctr" rtlCol="false" tIns="50800" lIns="50800" bIns="50800" rIns="50800"/>
            <a:lstStyle/>
            <a:p>
              <a:pPr algn="l">
                <a:lnSpc>
                  <a:spcPts val="1679"/>
                </a:lnSpc>
              </a:pPr>
            </a:p>
          </p:txBody>
        </p:sp>
      </p:grpSp>
      <p:sp>
        <p:nvSpPr>
          <p:cNvPr name="Freeform 29" id="29" descr="Logo GoSA"/>
          <p:cNvSpPr/>
          <p:nvPr/>
        </p:nvSpPr>
        <p:spPr>
          <a:xfrm flipH="false" flipV="false" rot="0">
            <a:off x="161925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2"/>
            <a:stretch>
              <a:fillRect l="0" t="-307" r="0" b="-307"/>
            </a:stretch>
          </a:blipFill>
        </p:spPr>
        <p:txBody>
          <a:bodyPr/>
          <a:p/>
        </p:txBody>
      </p:sp>
      <p:sp>
        <p:nvSpPr>
          <p:cNvPr name="Freeform 30" id="30"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grpSp>
        <p:nvGrpSpPr>
          <p:cNvPr name="Group 31" id="31"/>
          <p:cNvGrpSpPr/>
          <p:nvPr/>
        </p:nvGrpSpPr>
        <p:grpSpPr>
          <a:xfrm rot="0">
            <a:off x="828675" y="4391025"/>
            <a:ext cx="16792575" cy="28575"/>
            <a:chOff x="0" y="0"/>
            <a:chExt cx="22390100" cy="38100"/>
          </a:xfrm>
        </p:grpSpPr>
        <p:sp>
          <p:nvSpPr>
            <p:cNvPr name="Freeform 32" id="32"/>
            <p:cNvSpPr/>
            <p:nvPr/>
          </p:nvSpPr>
          <p:spPr>
            <a:xfrm flipH="false" flipV="false" rot="0">
              <a:off x="0" y="0"/>
              <a:ext cx="22390100" cy="38100"/>
            </a:xfrm>
            <a:custGeom>
              <a:avLst/>
              <a:gdLst/>
              <a:ahLst/>
              <a:cxnLst/>
              <a:rect r="r" b="b" t="t" l="l"/>
              <a:pathLst>
                <a:path h="38100" w="22390100">
                  <a:moveTo>
                    <a:pt x="0" y="0"/>
                  </a:moveTo>
                  <a:lnTo>
                    <a:pt x="22390100" y="0"/>
                  </a:lnTo>
                  <a:lnTo>
                    <a:pt x="22390100" y="38100"/>
                  </a:lnTo>
                  <a:lnTo>
                    <a:pt x="0" y="38100"/>
                  </a:lnTo>
                  <a:close/>
                </a:path>
              </a:pathLst>
            </a:custGeom>
            <a:solidFill>
              <a:srgbClr val="087F8C"/>
            </a:solidFill>
          </p:spPr>
        </p:sp>
        <p:sp>
          <p:nvSpPr>
            <p:cNvPr name="TextBox 33" id="33"/>
            <p:cNvSpPr txBox="true"/>
            <p:nvPr/>
          </p:nvSpPr>
          <p:spPr>
            <a:xfrm>
              <a:off x="0" y="-38100"/>
              <a:ext cx="22390100" cy="762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F5F7FA"/>
                </a:solidFill>
                <a:latin typeface="Helvetica World"/>
                <a:ea typeface="Helvetica World"/>
                <a:cs typeface="Helvetica World"/>
                <a:sym typeface="Helvetica World"/>
              </a:rPr>
              <a:t>3</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5B82E"/>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1619250" y="5248275"/>
            <a:ext cx="12944475" cy="1298575"/>
          </a:xfrm>
          <a:prstGeom prst="rect">
            <a:avLst/>
          </a:prstGeom>
        </p:spPr>
        <p:txBody>
          <a:bodyPr anchor="t" rtlCol="false" tIns="0" lIns="0" bIns="0" rIns="0">
            <a:spAutoFit/>
          </a:bodyPr>
          <a:lstStyle/>
          <a:p>
            <a:pPr algn="l" marL="0" indent="0" lvl="0">
              <a:lnSpc>
                <a:spcPts val="10400"/>
              </a:lnSpc>
              <a:spcBef>
                <a:spcPct val="0"/>
              </a:spcBef>
            </a:pPr>
            <a:r>
              <a:rPr lang="en-US" sz="8000" spc="-240" strike="noStrike" u="none" i="0">
                <a:solidFill>
                  <a:srgbClr val="071D30"/>
                </a:solidFill>
                <a:latin typeface="Georgia Pro Condensed"/>
                <a:ea typeface="Georgia Pro Condensed"/>
                <a:cs typeface="Georgia Pro Condensed"/>
                <a:sym typeface="Georgia Pro Condensed"/>
              </a:rPr>
              <a:t>Machine Learning</a:t>
            </a:r>
          </a:p>
        </p:txBody>
      </p:sp>
      <p:sp>
        <p:nvSpPr>
          <p:cNvPr name="TextBox 7" id="7"/>
          <p:cNvSpPr txBox="true"/>
          <p:nvPr/>
        </p:nvSpPr>
        <p:spPr>
          <a:xfrm rot="0">
            <a:off x="1524000" y="2628900"/>
            <a:ext cx="6667500" cy="2266950"/>
          </a:xfrm>
          <a:prstGeom prst="rect">
            <a:avLst/>
          </a:prstGeom>
        </p:spPr>
        <p:txBody>
          <a:bodyPr anchor="t" rtlCol="false" tIns="0" lIns="0" bIns="0" rIns="0">
            <a:spAutoFit/>
          </a:bodyPr>
          <a:lstStyle/>
          <a:p>
            <a:pPr algn="l">
              <a:lnSpc>
                <a:spcPts val="16500"/>
              </a:lnSpc>
            </a:pPr>
            <a:r>
              <a:rPr lang="en-US" sz="16500" b="true" i="0">
                <a:solidFill>
                  <a:srgbClr val="071D30"/>
                </a:solidFill>
                <a:latin typeface="Arimo Bold"/>
                <a:ea typeface="Arimo Bold"/>
                <a:cs typeface="Arimo Bold"/>
                <a:sym typeface="Arimo Bold"/>
              </a:rPr>
              <a:t>01</a:t>
            </a:r>
          </a:p>
        </p:txBody>
      </p:sp>
      <p:sp>
        <p:nvSpPr>
          <p:cNvPr name="TextBox 8" id="8"/>
          <p:cNvSpPr txBox="true"/>
          <p:nvPr/>
        </p:nvSpPr>
        <p:spPr>
          <a:xfrm rot="0">
            <a:off x="1638300" y="1752600"/>
            <a:ext cx="4762500" cy="350520"/>
          </a:xfrm>
          <a:prstGeom prst="rect">
            <a:avLst/>
          </a:prstGeom>
        </p:spPr>
        <p:txBody>
          <a:bodyPr anchor="t" rtlCol="false" tIns="0" lIns="0" bIns="0" rIns="0">
            <a:spAutoFit/>
          </a:bodyPr>
          <a:lstStyle/>
          <a:p>
            <a:pPr algn="l">
              <a:lnSpc>
                <a:spcPts val="2729"/>
              </a:lnSpc>
            </a:pPr>
            <a:r>
              <a:rPr lang="en-US" sz="1950" b="true">
                <a:solidFill>
                  <a:srgbClr val="071D30"/>
                </a:solidFill>
                <a:latin typeface="Arimo Bold"/>
                <a:ea typeface="Arimo Bold"/>
                <a:cs typeface="Arimo Bold"/>
                <a:sym typeface="Arimo Bold"/>
              </a:rPr>
              <a:t>SECCIÓN</a:t>
            </a:r>
          </a:p>
        </p:txBody>
      </p:sp>
      <p:sp>
        <p:nvSpPr>
          <p:cNvPr name="TextBox 9" id="9"/>
          <p:cNvSpPr txBox="true"/>
          <p:nvPr/>
        </p:nvSpPr>
        <p:spPr>
          <a:xfrm rot="0">
            <a:off x="1638300" y="6791325"/>
            <a:ext cx="10477500" cy="499110"/>
          </a:xfrm>
          <a:prstGeom prst="rect">
            <a:avLst/>
          </a:prstGeom>
        </p:spPr>
        <p:txBody>
          <a:bodyPr anchor="t" rtlCol="false" tIns="0" lIns="0" bIns="0" rIns="0">
            <a:spAutoFit/>
          </a:bodyPr>
          <a:lstStyle/>
          <a:p>
            <a:pPr algn="l">
              <a:lnSpc>
                <a:spcPts val="3990"/>
              </a:lnSpc>
            </a:pPr>
            <a:r>
              <a:rPr lang="en-US" sz="2850" i="0">
                <a:solidFill>
                  <a:srgbClr val="071D30"/>
                </a:solidFill>
                <a:latin typeface="Arimo"/>
                <a:ea typeface="Arimo"/>
                <a:cs typeface="Arimo"/>
                <a:sym typeface="Arimo"/>
              </a:rPr>
              <a:t>¿Qué significa que un modelo aprenda de los datos?</a:t>
            </a:r>
          </a:p>
        </p:txBody>
      </p:sp>
      <p:grpSp>
        <p:nvGrpSpPr>
          <p:cNvPr name="Group 10" id="10"/>
          <p:cNvGrpSpPr/>
          <p:nvPr/>
        </p:nvGrpSpPr>
        <p:grpSpPr>
          <a:xfrm rot="0">
            <a:off x="11715750" y="2095500"/>
            <a:ext cx="5334000" cy="5334000"/>
            <a:chOff x="0" y="0"/>
            <a:chExt cx="7112000" cy="7112000"/>
          </a:xfrm>
        </p:grpSpPr>
        <p:sp>
          <p:nvSpPr>
            <p:cNvPr name="Freeform 11" id="11"/>
            <p:cNvSpPr/>
            <p:nvPr/>
          </p:nvSpPr>
          <p:spPr>
            <a:xfrm flipH="false" flipV="false" rot="0">
              <a:off x="800100" y="800100"/>
              <a:ext cx="5511800" cy="5511800"/>
            </a:xfrm>
            <a:custGeom>
              <a:avLst/>
              <a:gdLst/>
              <a:ahLst/>
              <a:cxnLst/>
              <a:rect r="r" b="b" t="t" l="l"/>
              <a:pathLst>
                <a:path h="5511800" w="5511800">
                  <a:moveTo>
                    <a:pt x="1185333" y="2755900"/>
                  </a:moveTo>
                  <a:cubicBezTo>
                    <a:pt x="1185333" y="3623300"/>
                    <a:pt x="1888500" y="4326467"/>
                    <a:pt x="2755900" y="4326467"/>
                  </a:cubicBezTo>
                  <a:cubicBezTo>
                    <a:pt x="3623300" y="4326467"/>
                    <a:pt x="4326467" y="3623300"/>
                    <a:pt x="4326467" y="2755900"/>
                  </a:cubicBezTo>
                  <a:cubicBezTo>
                    <a:pt x="4326467" y="1888500"/>
                    <a:pt x="3623300" y="1185333"/>
                    <a:pt x="2755900" y="1185333"/>
                  </a:cubicBezTo>
                  <a:cubicBezTo>
                    <a:pt x="1888500" y="1185333"/>
                    <a:pt x="1185333" y="1888500"/>
                    <a:pt x="1185333" y="2755900"/>
                  </a:cubicBezTo>
                  <a:close/>
                  <a:moveTo>
                    <a:pt x="5369560" y="1123103"/>
                  </a:moveTo>
                  <a:cubicBezTo>
                    <a:pt x="5185888" y="811081"/>
                    <a:pt x="4511819" y="836308"/>
                    <a:pt x="3603734" y="1189190"/>
                  </a:cubicBezTo>
                  <a:cubicBezTo>
                    <a:pt x="2695649" y="1542071"/>
                    <a:pt x="1693112" y="2168373"/>
                    <a:pt x="977437" y="2829881"/>
                  </a:cubicBezTo>
                  <a:cubicBezTo>
                    <a:pt x="261763" y="3491389"/>
                    <a:pt x="-57058" y="4086437"/>
                    <a:pt x="142240" y="4388697"/>
                  </a:cubicBezTo>
                  <a:cubicBezTo>
                    <a:pt x="325911" y="4700719"/>
                    <a:pt x="999981" y="4675492"/>
                    <a:pt x="1908066" y="4322611"/>
                  </a:cubicBezTo>
                  <a:cubicBezTo>
                    <a:pt x="2816151" y="3969729"/>
                    <a:pt x="3818688" y="3343427"/>
                    <a:pt x="4534363" y="2681919"/>
                  </a:cubicBezTo>
                  <a:cubicBezTo>
                    <a:pt x="5250037" y="2020411"/>
                    <a:pt x="5568857" y="1425364"/>
                    <a:pt x="5369560" y="1123103"/>
                  </a:cubicBezTo>
                  <a:close/>
                  <a:moveTo>
                    <a:pt x="2755900" y="474133"/>
                  </a:moveTo>
                  <a:lnTo>
                    <a:pt x="2755900" y="0"/>
                  </a:lnTo>
                  <a:moveTo>
                    <a:pt x="2755900" y="5511800"/>
                  </a:moveTo>
                  <a:lnTo>
                    <a:pt x="2755900" y="5037667"/>
                  </a:lnTo>
                  <a:moveTo>
                    <a:pt x="474133" y="2755900"/>
                  </a:moveTo>
                  <a:lnTo>
                    <a:pt x="0" y="2755900"/>
                  </a:lnTo>
                  <a:moveTo>
                    <a:pt x="5511800" y="2755900"/>
                  </a:moveTo>
                  <a:lnTo>
                    <a:pt x="5037667" y="2755900"/>
                  </a:lnTo>
                  <a:moveTo>
                    <a:pt x="1155700" y="1155700"/>
                  </a:moveTo>
                  <a:lnTo>
                    <a:pt x="829733" y="829733"/>
                  </a:lnTo>
                  <a:moveTo>
                    <a:pt x="4356100" y="4356100"/>
                  </a:moveTo>
                  <a:lnTo>
                    <a:pt x="4682067" y="4682067"/>
                  </a:lnTo>
                  <a:moveTo>
                    <a:pt x="1303867" y="2963333"/>
                  </a:moveTo>
                  <a:lnTo>
                    <a:pt x="1955800" y="2963333"/>
                  </a:lnTo>
                  <a:lnTo>
                    <a:pt x="2281767" y="2281767"/>
                  </a:lnTo>
                  <a:lnTo>
                    <a:pt x="2785533" y="3467100"/>
                  </a:lnTo>
                  <a:lnTo>
                    <a:pt x="3230033" y="2578100"/>
                  </a:lnTo>
                  <a:lnTo>
                    <a:pt x="3526367" y="2963333"/>
                  </a:lnTo>
                  <a:lnTo>
                    <a:pt x="4237567" y="2963333"/>
                  </a:lnTo>
                </a:path>
              </a:pathLst>
            </a:custGeom>
            <a:ln w="85725" cap="sq">
              <a:solidFill>
                <a:srgbClr val="071D30"/>
              </a:solidFill>
              <a:prstDash val="solid"/>
              <a:miter/>
            </a:ln>
          </p:spPr>
        </p:sp>
        <p:sp>
          <p:nvSpPr>
            <p:cNvPr name="TextBox 12" id="12"/>
            <p:cNvSpPr txBox="true"/>
            <p:nvPr/>
          </p:nvSpPr>
          <p:spPr>
            <a:xfrm>
              <a:off x="0" y="-38100"/>
              <a:ext cx="7112000" cy="7150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1715750" y="2095500"/>
            <a:ext cx="5334000" cy="5334000"/>
            <a:chOff x="0" y="0"/>
            <a:chExt cx="7112000" cy="7112000"/>
          </a:xfrm>
        </p:grpSpPr>
        <p:sp>
          <p:nvSpPr>
            <p:cNvPr name="Freeform 14" id="14"/>
            <p:cNvSpPr/>
            <p:nvPr/>
          </p:nvSpPr>
          <p:spPr>
            <a:xfrm flipH="false" flipV="false" rot="0">
              <a:off x="5096933" y="918633"/>
              <a:ext cx="948267" cy="948267"/>
            </a:xfrm>
            <a:custGeom>
              <a:avLst/>
              <a:gdLst/>
              <a:ahLst/>
              <a:cxnLst/>
              <a:rect r="r" b="b" t="t" l="l"/>
              <a:pathLst>
                <a:path h="948267" w="948267">
                  <a:moveTo>
                    <a:pt x="474134" y="0"/>
                  </a:moveTo>
                  <a:lnTo>
                    <a:pt x="592667" y="355600"/>
                  </a:lnTo>
                  <a:lnTo>
                    <a:pt x="948267" y="474134"/>
                  </a:lnTo>
                  <a:lnTo>
                    <a:pt x="592667" y="592667"/>
                  </a:lnTo>
                  <a:lnTo>
                    <a:pt x="474134" y="948267"/>
                  </a:lnTo>
                  <a:lnTo>
                    <a:pt x="355600" y="592667"/>
                  </a:lnTo>
                  <a:lnTo>
                    <a:pt x="0" y="474134"/>
                  </a:lnTo>
                  <a:lnTo>
                    <a:pt x="355600" y="355600"/>
                  </a:lnTo>
                  <a:close/>
                </a:path>
              </a:pathLst>
            </a:custGeom>
            <a:solidFill>
              <a:srgbClr val="FFFFFF"/>
            </a:solidFill>
          </p:spPr>
        </p:sp>
        <p:sp>
          <p:nvSpPr>
            <p:cNvPr name="TextBox 15" id="15"/>
            <p:cNvSpPr txBox="true"/>
            <p:nvPr/>
          </p:nvSpPr>
          <p:spPr>
            <a:xfrm>
              <a:off x="0" y="-38100"/>
              <a:ext cx="7112000" cy="7150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17" id="17"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18" id="18"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F5F7FA"/>
                </a:solidFill>
                <a:latin typeface="Helvetica World"/>
                <a:ea typeface="Helvetica World"/>
                <a:cs typeface="Helvetica World"/>
                <a:sym typeface="Helvetica World"/>
              </a:rPr>
              <a:t>4</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7F8C"/>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2067009"/>
            <a:chOff x="0" y="0"/>
            <a:chExt cx="17259300" cy="2756012"/>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spcBef>
                  <a:spcPct val="0"/>
                </a:spcBef>
              </a:pPr>
              <a:r>
                <a:rPr lang="en-US" sz="8000" spc="-240" strike="noStrike" u="none" i="0">
                  <a:solidFill>
                    <a:srgbClr val="F5B82E"/>
                  </a:solidFill>
                  <a:latin typeface="Georgia Pro Condensed"/>
                  <a:ea typeface="Georgia Pro Condensed"/>
                  <a:cs typeface="Georgia Pro Condensed"/>
                  <a:sym typeface="Georgia Pro Condensed"/>
                </a:rPr>
                <a:t>Dos formas de aprender</a:t>
              </a:r>
            </a:p>
          </p:txBody>
        </p:sp>
        <p:sp>
          <p:nvSpPr>
            <p:cNvPr name="TextBox 8" id="8"/>
            <p:cNvSpPr txBox="true"/>
            <p:nvPr/>
          </p:nvSpPr>
          <p:spPr>
            <a:xfrm rot="0">
              <a:off x="0" y="2197212"/>
              <a:ext cx="172593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F5F7FA"/>
                  </a:solidFill>
                  <a:latin typeface="Helvetica World Bold"/>
                  <a:ea typeface="Helvetica World Bold"/>
                  <a:cs typeface="Helvetica World Bold"/>
                  <a:sym typeface="Helvetica World Bold"/>
                </a:rPr>
                <a:t>Supervised vs. unsupervised learning</a:t>
              </a:r>
            </a:p>
          </p:txBody>
        </p:sp>
      </p:grpSp>
      <p:grpSp>
        <p:nvGrpSpPr>
          <p:cNvPr name="Group 9" id="9"/>
          <p:cNvGrpSpPr/>
          <p:nvPr/>
        </p:nvGrpSpPr>
        <p:grpSpPr>
          <a:xfrm rot="0">
            <a:off x="1800225" y="3950000"/>
            <a:ext cx="5753100" cy="1844675"/>
            <a:chOff x="0" y="0"/>
            <a:chExt cx="7670800" cy="2459567"/>
          </a:xfrm>
        </p:grpSpPr>
        <p:sp>
          <p:nvSpPr>
            <p:cNvPr name="TextBox 10" id="10"/>
            <p:cNvSpPr txBox="true"/>
            <p:nvPr/>
          </p:nvSpPr>
          <p:spPr>
            <a:xfrm rot="0">
              <a:off x="0" y="9525"/>
              <a:ext cx="76708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Supervised</a:t>
              </a:r>
            </a:p>
          </p:txBody>
        </p:sp>
        <p:sp>
          <p:nvSpPr>
            <p:cNvPr name="TextBox 11" id="11"/>
            <p:cNvSpPr txBox="true"/>
            <p:nvPr/>
          </p:nvSpPr>
          <p:spPr>
            <a:xfrm rot="0">
              <a:off x="0" y="1079500"/>
              <a:ext cx="76708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Aprende de pares input–output</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Regresión, como ajustar el enfriamiento</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Clasificación, como ¿perro o gato?</a:t>
              </a:r>
            </a:p>
          </p:txBody>
        </p:sp>
      </p:grpSp>
      <p:grpSp>
        <p:nvGrpSpPr>
          <p:cNvPr name="Group 12" id="12"/>
          <p:cNvGrpSpPr/>
          <p:nvPr/>
        </p:nvGrpSpPr>
        <p:grpSpPr>
          <a:xfrm rot="0">
            <a:off x="9296400" y="3950000"/>
            <a:ext cx="5448300" cy="1844675"/>
            <a:chOff x="0" y="0"/>
            <a:chExt cx="7264400" cy="2459567"/>
          </a:xfrm>
        </p:grpSpPr>
        <p:sp>
          <p:nvSpPr>
            <p:cNvPr name="TextBox 13" id="13"/>
            <p:cNvSpPr txBox="true"/>
            <p:nvPr/>
          </p:nvSpPr>
          <p:spPr>
            <a:xfrm rot="0">
              <a:off x="0" y="9525"/>
              <a:ext cx="72644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Unsupervised</a:t>
              </a:r>
            </a:p>
          </p:txBody>
        </p:sp>
        <p:sp>
          <p:nvSpPr>
            <p:cNvPr name="TextBox 14" id="14"/>
            <p:cNvSpPr txBox="true"/>
            <p:nvPr/>
          </p:nvSpPr>
          <p:spPr>
            <a:xfrm rot="0">
              <a:off x="0" y="1079500"/>
              <a:ext cx="72644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Solo ve observaciones, sin labels</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Busca estructura, por ejemplo con clustering</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Agrupa estrellas con paralaje parecido</a:t>
              </a:r>
            </a:p>
          </p:txBody>
        </p:sp>
      </p:grpSp>
      <p:grpSp>
        <p:nvGrpSpPr>
          <p:cNvPr name="Group 15" id="15"/>
          <p:cNvGrpSpPr/>
          <p:nvPr/>
        </p:nvGrpSpPr>
        <p:grpSpPr>
          <a:xfrm rot="0">
            <a:off x="8572500" y="3950000"/>
            <a:ext cx="28575" cy="4850000"/>
            <a:chOff x="0" y="0"/>
            <a:chExt cx="38100" cy="3175000"/>
          </a:xfrm>
        </p:grpSpPr>
        <p:sp>
          <p:nvSpPr>
            <p:cNvPr name="Freeform 16" id="16"/>
            <p:cNvSpPr/>
            <p:nvPr/>
          </p:nvSpPr>
          <p:spPr>
            <a:xfrm flipH="false" flipV="false" rot="0">
              <a:off x="0" y="0"/>
              <a:ext cx="38100" cy="3175000"/>
            </a:xfrm>
            <a:custGeom>
              <a:avLst/>
              <a:gdLst/>
              <a:ahLst/>
              <a:cxnLst/>
              <a:rect r="r" b="b" t="t" l="l"/>
              <a:pathLst>
                <a:path h="3175000" w="38100">
                  <a:moveTo>
                    <a:pt x="0" y="0"/>
                  </a:moveTo>
                  <a:lnTo>
                    <a:pt x="38100" y="0"/>
                  </a:lnTo>
                  <a:lnTo>
                    <a:pt x="38100" y="3175000"/>
                  </a:lnTo>
                  <a:lnTo>
                    <a:pt x="0" y="3175000"/>
                  </a:lnTo>
                  <a:close/>
                </a:path>
              </a:pathLst>
            </a:custGeom>
            <a:solidFill>
              <a:srgbClr val="F5B82E"/>
            </a:solidFill>
          </p:spPr>
        </p:sp>
        <p:sp>
          <p:nvSpPr>
            <p:cNvPr name="TextBox 17" id="17"/>
            <p:cNvSpPr txBox="true"/>
            <p:nvPr/>
          </p:nvSpPr>
          <p:spPr>
            <a:xfrm>
              <a:off x="0" y="-38100"/>
              <a:ext cx="38100" cy="3213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15049500" y="1238250"/>
            <a:ext cx="1905000" cy="1905000"/>
            <a:chOff x="0" y="0"/>
            <a:chExt cx="2540000" cy="2540000"/>
          </a:xfrm>
        </p:grpSpPr>
        <p:sp>
          <p:nvSpPr>
            <p:cNvPr name="Freeform 23" id="23"/>
            <p:cNvSpPr/>
            <p:nvPr/>
          </p:nvSpPr>
          <p:spPr>
            <a:xfrm flipH="false" flipV="false" rot="0">
              <a:off x="285750" y="285750"/>
              <a:ext cx="1968500" cy="1968500"/>
            </a:xfrm>
            <a:custGeom>
              <a:avLst/>
              <a:gdLst/>
              <a:ahLst/>
              <a:cxnLst/>
              <a:rect r="r" b="b" t="t" l="l"/>
              <a:pathLst>
                <a:path h="1968500" w="1968500">
                  <a:moveTo>
                    <a:pt x="423333" y="984250"/>
                  </a:moveTo>
                  <a:cubicBezTo>
                    <a:pt x="423333" y="1294036"/>
                    <a:pt x="674464" y="1545167"/>
                    <a:pt x="984250" y="1545167"/>
                  </a:cubicBezTo>
                  <a:cubicBezTo>
                    <a:pt x="1294036" y="1545167"/>
                    <a:pt x="1545167" y="1294036"/>
                    <a:pt x="1545167" y="984250"/>
                  </a:cubicBezTo>
                  <a:cubicBezTo>
                    <a:pt x="1545167" y="674464"/>
                    <a:pt x="1294036" y="423333"/>
                    <a:pt x="984250" y="423333"/>
                  </a:cubicBezTo>
                  <a:cubicBezTo>
                    <a:pt x="674464" y="423333"/>
                    <a:pt x="423333" y="674464"/>
                    <a:pt x="423333" y="984250"/>
                  </a:cubicBezTo>
                  <a:close/>
                  <a:moveTo>
                    <a:pt x="1917700" y="401108"/>
                  </a:moveTo>
                  <a:cubicBezTo>
                    <a:pt x="1852103" y="289672"/>
                    <a:pt x="1611364" y="298681"/>
                    <a:pt x="1287048" y="424711"/>
                  </a:cubicBezTo>
                  <a:cubicBezTo>
                    <a:pt x="962732" y="550740"/>
                    <a:pt x="604683" y="774419"/>
                    <a:pt x="349085" y="1010672"/>
                  </a:cubicBezTo>
                  <a:cubicBezTo>
                    <a:pt x="93487" y="1246925"/>
                    <a:pt x="-20378" y="1459442"/>
                    <a:pt x="50800" y="1567392"/>
                  </a:cubicBezTo>
                  <a:cubicBezTo>
                    <a:pt x="116397" y="1678828"/>
                    <a:pt x="357136" y="1669819"/>
                    <a:pt x="681452" y="1543789"/>
                  </a:cubicBezTo>
                  <a:cubicBezTo>
                    <a:pt x="1005768" y="1417760"/>
                    <a:pt x="1363817" y="1194081"/>
                    <a:pt x="1619415" y="957828"/>
                  </a:cubicBezTo>
                  <a:cubicBezTo>
                    <a:pt x="1875013" y="721575"/>
                    <a:pt x="1988878" y="509058"/>
                    <a:pt x="1917700" y="401108"/>
                  </a:cubicBezTo>
                  <a:close/>
                  <a:moveTo>
                    <a:pt x="984250" y="169333"/>
                  </a:moveTo>
                  <a:lnTo>
                    <a:pt x="984250" y="0"/>
                  </a:lnTo>
                  <a:moveTo>
                    <a:pt x="984250" y="1968500"/>
                  </a:moveTo>
                  <a:lnTo>
                    <a:pt x="984250" y="1799167"/>
                  </a:lnTo>
                  <a:moveTo>
                    <a:pt x="169333" y="984250"/>
                  </a:moveTo>
                  <a:lnTo>
                    <a:pt x="0" y="984250"/>
                  </a:lnTo>
                  <a:moveTo>
                    <a:pt x="1968500" y="984250"/>
                  </a:moveTo>
                  <a:lnTo>
                    <a:pt x="1799167" y="984250"/>
                  </a:lnTo>
                  <a:moveTo>
                    <a:pt x="412750" y="412750"/>
                  </a:moveTo>
                  <a:lnTo>
                    <a:pt x="296333" y="296333"/>
                  </a:lnTo>
                  <a:moveTo>
                    <a:pt x="1555750" y="1555750"/>
                  </a:moveTo>
                  <a:lnTo>
                    <a:pt x="1672167" y="1672167"/>
                  </a:lnTo>
                  <a:moveTo>
                    <a:pt x="465667" y="1058333"/>
                  </a:moveTo>
                  <a:lnTo>
                    <a:pt x="698500" y="1058333"/>
                  </a:lnTo>
                  <a:lnTo>
                    <a:pt x="814917" y="814917"/>
                  </a:lnTo>
                  <a:lnTo>
                    <a:pt x="994833" y="1238250"/>
                  </a:lnTo>
                  <a:lnTo>
                    <a:pt x="1153583" y="920750"/>
                  </a:lnTo>
                  <a:lnTo>
                    <a:pt x="1259417" y="1058333"/>
                  </a:lnTo>
                  <a:lnTo>
                    <a:pt x="1513417" y="1058333"/>
                  </a:lnTo>
                </a:path>
              </a:pathLst>
            </a:custGeom>
            <a:ln w="47625" cap="sq">
              <a:solidFill>
                <a:srgbClr val="F5B82E"/>
              </a:solidFill>
              <a:prstDash val="solid"/>
              <a:miter/>
            </a:ln>
          </p:spPr>
        </p:sp>
        <p:sp>
          <p:nvSpPr>
            <p:cNvPr name="TextBox 24" id="24"/>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5049500" y="1238250"/>
            <a:ext cx="1905000" cy="1905000"/>
            <a:chOff x="0" y="0"/>
            <a:chExt cx="2540000" cy="2540000"/>
          </a:xfrm>
        </p:grpSpPr>
        <p:sp>
          <p:nvSpPr>
            <p:cNvPr name="Freeform 26" id="26"/>
            <p:cNvSpPr/>
            <p:nvPr/>
          </p:nvSpPr>
          <p:spPr>
            <a:xfrm flipH="false" flipV="false" rot="0">
              <a:off x="1820333" y="328083"/>
              <a:ext cx="338667" cy="338667"/>
            </a:xfrm>
            <a:custGeom>
              <a:avLst/>
              <a:gdLst/>
              <a:ahLst/>
              <a:cxnLst/>
              <a:rect r="r" b="b" t="t" l="l"/>
              <a:pathLst>
                <a:path h="338667" w="338667">
                  <a:moveTo>
                    <a:pt x="169334" y="0"/>
                  </a:moveTo>
                  <a:lnTo>
                    <a:pt x="211667" y="127000"/>
                  </a:lnTo>
                  <a:lnTo>
                    <a:pt x="338667" y="169334"/>
                  </a:lnTo>
                  <a:lnTo>
                    <a:pt x="211667" y="211667"/>
                  </a:lnTo>
                  <a:lnTo>
                    <a:pt x="169334" y="338667"/>
                  </a:lnTo>
                  <a:lnTo>
                    <a:pt x="127000" y="211667"/>
                  </a:lnTo>
                  <a:lnTo>
                    <a:pt x="0" y="169334"/>
                  </a:lnTo>
                  <a:lnTo>
                    <a:pt x="127000" y="127000"/>
                  </a:lnTo>
                  <a:close/>
                </a:path>
              </a:pathLst>
            </a:custGeom>
            <a:solidFill>
              <a:srgbClr val="FFFFFF"/>
            </a:solidFill>
          </p:spPr>
        </p:sp>
        <p:sp>
          <p:nvSpPr>
            <p:cNvPr name="TextBox 27" id="27"/>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29" id="29"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30" id="30"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
        <p:nvSpPr>
          <p:cNvPr id="31" name="TextBox 30"/>
          <p:cNvSpPr txBox="1"/>
          <p:nvPr/>
        </p:nvSpPr>
        <p:spPr>
          <a:xfrm>
            <a:off x="1800000" y="9108000"/>
            <a:ext cx="14400000" cy="576000"/>
          </a:xfrm>
          <a:prstGeom prst="rect">
            <a:avLst/>
          </a:prstGeom>
          <a:noFill/>
        </p:spPr>
        <p:txBody>
          <a:bodyPr wrap="square" lIns="0" rIns="0" tIns="0" bIns="0">
            <a:spAutoFit/>
          </a:bodyPr>
          <a:lstStyle/>
          <a:p>
            <a:r>
              <a:rPr sz="1100">
                <a:solidFill>
                  <a:srgbClr val="DCEEF0"/>
                </a:solidFill>
                <a:latin typeface="Arimo"/>
              </a:rPr>
              <a:t>Referencias: Asensio Ramos, Cheung, Chifu y Gafeira (2023), Living Rev. Sol. Phys. 20, 4, sección 1. Esquemas con datos simulados.</a:t>
            </a:r>
          </a:p>
        </p:txBody>
      </p:sp>
      <p:pic>
        <p:nvPicPr>
          <p:cNvPr id="32" name="Esquema supervised" descr="esquema_supervised.png"/>
          <p:cNvPicPr>
            <a:picLocks noChangeAspect="1"/>
          </p:cNvPicPr>
          <p:nvPr/>
        </p:nvPicPr>
        <p:blipFill>
          <a:blip r:embed="rId7"/>
          <a:stretch>
            <a:fillRect/>
          </a:stretch>
        </p:blipFill>
        <p:spPr>
          <a:xfrm>
            <a:off x="1800225" y="6150000"/>
            <a:ext cx="6500000" cy="2708333"/>
          </a:xfrm>
          <a:prstGeom prst="rect">
            <a:avLst/>
          </a:prstGeom>
        </p:spPr>
      </p:pic>
      <p:pic>
        <p:nvPicPr>
          <p:cNvPr id="33" name="Esquema unsupervised" descr="esquema_unsupervised.png"/>
          <p:cNvPicPr>
            <a:picLocks noChangeAspect="1"/>
          </p:cNvPicPr>
          <p:nvPr/>
        </p:nvPicPr>
        <p:blipFill>
          <a:blip r:embed="rId8"/>
          <a:stretch>
            <a:fillRect/>
          </a:stretch>
        </p:blipFill>
        <p:spPr>
          <a:xfrm>
            <a:off x="9296400" y="6150000"/>
            <a:ext cx="6500000" cy="270833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4" id="4"/>
          <p:cNvGrpSpPr/>
          <p:nvPr/>
        </p:nvGrpSpPr>
        <p:grpSpPr>
          <a:xfrm rot="0">
            <a:off x="0" y="0"/>
            <a:ext cx="182880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3" id="3"/>
          <p:cNvSpPr txBox="true"/>
          <p:nvPr/>
        </p:nvSpPr>
        <p:spPr>
          <a:xfrm rot="0">
            <a:off x="666750" y="380000"/>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F5F7FA"/>
                </a:solidFill>
                <a:latin typeface="Georgia Pro Condensed"/>
                <a:ea typeface="Georgia Pro Condensed"/>
                <a:cs typeface="Georgia Pro Condensed"/>
                <a:sym typeface="Georgia Pro Condensed"/>
              </a:rPr>
              <a:t>Deep learning</a:t>
            </a:r>
          </a:p>
        </p:txBody>
      </p:sp>
      <p:sp>
        <p:nvSpPr>
          <p:cNvPr name="TextBox 18" id="18"/>
          <p:cNvSpPr txBox="true"/>
          <p:nvPr/>
        </p:nvSpPr>
        <p:spPr>
          <a:xfrm rot="0">
            <a:off x="9048750" y="1300000"/>
            <a:ext cx="8572500" cy="241935"/>
          </a:xfrm>
          <a:prstGeom prst="rect">
            <a:avLst/>
          </a:prstGeom>
        </p:spPr>
        <p:txBody>
          <a:bodyPr anchor="t" rtlCol="false" tIns="0" lIns="0" bIns="0" rIns="0">
            <a:spAutoFit/>
          </a:bodyPr>
          <a:lstStyle/>
          <a:p>
            <a:pPr algn="r">
              <a:lnSpc>
                <a:spcPts val="1889"/>
              </a:lnSpc>
            </a:pPr>
            <a:r>
              <a:rPr lang="en-US" sz="1350" i="0">
                <a:solidFill>
                  <a:srgbClr val="F5F7FA"/>
                </a:solidFill>
                <a:latin typeface="Arimo"/>
                <a:ea typeface="Arimo"/>
                <a:cs typeface="Arimo"/>
                <a:sym typeface="Arimo"/>
              </a:rPr>
              <a:t>Fotos de Wikimedia Commons; autores y licencias en las notas</a:t>
            </a:r>
          </a:p>
        </p:txBody>
      </p:sp>
      <p:pic>
        <p:nvPicPr>
          <p:cNvPr id="19" name="Collage" descr="collage_deep_learning.png"/>
          <p:cNvPicPr>
            <a:picLocks noChangeAspect="1"/>
          </p:cNvPicPr>
          <p:nvPr/>
        </p:nvPicPr>
        <p:blipFill>
          <a:blip r:embed="rId6"/>
          <a:stretch>
            <a:fillRect/>
          </a:stretch>
        </p:blipFill>
        <p:spPr>
          <a:xfrm>
            <a:off x="0" y="1885950"/>
            <a:ext cx="18288000" cy="8401050"/>
          </a:xfrm>
          <a:prstGeom prst="rect">
            <a:avLst/>
          </a:prstGeom>
        </p:spPr>
      </p:pic>
      <p:sp>
        <p:nvSpPr>
          <p:cNvPr id="23" name="Etiqueta imágenes"/>
          <p:cNvSpPr/>
          <p:nvPr/>
        </p:nvSpPr>
        <p:spPr>
          <a:xfrm>
            <a:off x="163812" y="7022837"/>
            <a:ext cx="1014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imágenes</a:t>
            </a:r>
          </a:p>
        </p:txBody>
      </p:sp>
      <p:sp>
        <p:nvSpPr>
          <p:cNvPr id="23" name="Etiqueta imágenes"/>
          <p:cNvSpPr/>
          <p:nvPr/>
        </p:nvSpPr>
        <p:spPr>
          <a:xfrm>
            <a:off x="7479012" y="4222487"/>
            <a:ext cx="1014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imágenes</a:t>
            </a:r>
          </a:p>
        </p:txBody>
      </p:sp>
      <p:sp>
        <p:nvSpPr>
          <p:cNvPr id="23" name="Etiqueta video"/>
          <p:cNvSpPr/>
          <p:nvPr/>
        </p:nvSpPr>
        <p:spPr>
          <a:xfrm>
            <a:off x="11136612" y="4222487"/>
            <a:ext cx="720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video</a:t>
            </a:r>
          </a:p>
        </p:txBody>
      </p:sp>
      <p:sp>
        <p:nvSpPr>
          <p:cNvPr id="23" name="Etiqueta audio"/>
          <p:cNvSpPr/>
          <p:nvPr/>
        </p:nvSpPr>
        <p:spPr>
          <a:xfrm>
            <a:off x="14794212" y="4222487"/>
            <a:ext cx="720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audio</a:t>
            </a:r>
          </a:p>
        </p:txBody>
      </p:sp>
      <p:sp>
        <p:nvSpPr>
          <p:cNvPr id="23" name="Etiqueta espectrograma de voz"/>
          <p:cNvSpPr/>
          <p:nvPr/>
        </p:nvSpPr>
        <p:spPr>
          <a:xfrm>
            <a:off x="7479012" y="7022837"/>
            <a:ext cx="2190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espectrograma de voz</a:t>
            </a:r>
          </a:p>
        </p:txBody>
      </p:sp>
      <p:sp>
        <p:nvSpPr>
          <p:cNvPr id="23" name="Etiqueta texto manuscrito"/>
          <p:cNvSpPr/>
          <p:nvPr/>
        </p:nvSpPr>
        <p:spPr>
          <a:xfrm>
            <a:off x="11136612" y="7022837"/>
            <a:ext cx="1798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texto manuscrito</a:t>
            </a:r>
          </a:p>
        </p:txBody>
      </p:sp>
      <p:sp>
        <p:nvSpPr>
          <p:cNvPr id="23" name="Etiqueta video"/>
          <p:cNvSpPr/>
          <p:nvPr/>
        </p:nvSpPr>
        <p:spPr>
          <a:xfrm>
            <a:off x="14794212" y="7022837"/>
            <a:ext cx="720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video</a:t>
            </a:r>
          </a:p>
        </p:txBody>
      </p:sp>
      <p:sp>
        <p:nvSpPr>
          <p:cNvPr id="23" name="Etiqueta juegos"/>
          <p:cNvSpPr/>
          <p:nvPr/>
        </p:nvSpPr>
        <p:spPr>
          <a:xfrm>
            <a:off x="163812" y="9823187"/>
            <a:ext cx="818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juegos</a:t>
            </a:r>
          </a:p>
        </p:txBody>
      </p:sp>
      <p:sp>
        <p:nvSpPr>
          <p:cNvPr id="23" name="Etiqueta imágenes médicas"/>
          <p:cNvSpPr/>
          <p:nvPr/>
        </p:nvSpPr>
        <p:spPr>
          <a:xfrm>
            <a:off x="3821412" y="9823187"/>
            <a:ext cx="1798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imágenes médicas</a:t>
            </a:r>
          </a:p>
        </p:txBody>
      </p:sp>
      <p:sp>
        <p:nvSpPr>
          <p:cNvPr id="23" name="Etiqueta imágenes astronómicas"/>
          <p:cNvSpPr/>
          <p:nvPr/>
        </p:nvSpPr>
        <p:spPr>
          <a:xfrm>
            <a:off x="7479012" y="9823187"/>
            <a:ext cx="2288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imágenes astronómicas</a:t>
            </a:r>
          </a:p>
        </p:txBody>
      </p:sp>
      <p:sp>
        <p:nvSpPr>
          <p:cNvPr id="23" name="Etiqueta texto"/>
          <p:cNvSpPr/>
          <p:nvPr/>
        </p:nvSpPr>
        <p:spPr>
          <a:xfrm>
            <a:off x="14794212" y="9823187"/>
            <a:ext cx="720000" cy="3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200" b="0">
                <a:solidFill>
                  <a:srgbClr val="071D30"/>
                </a:solidFill>
                <a:latin typeface="Helvetica World"/>
              </a:rPr>
              <a:t>texto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0" indent="0" lvl="0">
              <a:lnSpc>
                <a:spcPts val="3900"/>
              </a:lnSpc>
              <a:spcBef>
                <a:spcPct val="0"/>
              </a:spcBef>
              <a:buNone/>
            </a:pPr>
            <a:r>
              <a:rPr lang="en-US" sz="3000" spc="-37" strike="noStrike" u="none" i="0">
                <a:solidFill>
                  <a:srgbClr val="071D30"/>
                </a:solidFill>
                <a:latin typeface="Helvetica World"/>
                <a:ea typeface="Helvetica World"/>
                <a:cs typeface="Helvetica World"/>
                <a:sym typeface="Helvetica World"/>
              </a:rPr>
              <a:t>Un regresor no lineal enorme.</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Redes profundas (DNN)</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Cada capa hace sumas ponderadas y aplica una función no lineal; apilar capas da la profundidad.</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Definición según Asensio Ramos et al. (2023), sección 5</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dnn.png"/>
          <p:cNvPicPr>
            <a:picLocks noChangeAspect="1"/>
          </p:cNvPicPr>
          <p:nvPr/>
        </p:nvPicPr>
        <p:blipFill>
          <a:blip r:embed="rId7"/>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Asensio Ramos, Cheung, Chifu y Gafeira (2023), Living Rev. Sol. Phys. 20, 4, sección 5.1.</a:t>
            </a:r>
          </a:p>
        </p:txBody>
      </p:sp>
      <p:pic>
        <p:nvPicPr>
          <p:cNvPr id="24" name="Ecuación" descr="eq_dnn.png"/>
          <p:cNvPicPr>
            <a:picLocks noChangeAspect="1"/>
          </p:cNvPicPr>
          <p:nvPr/>
        </p:nvPicPr>
        <p:blipFill>
          <a:blip r:embed="rId6"/>
          <a:stretch>
            <a:fillRect/>
          </a:stretch>
        </p:blipFill>
        <p:spPr>
          <a:xfrm>
            <a:off x="666750" y="4650000"/>
            <a:ext cx="4307651" cy="180430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0" indent="0" lvl="0">
              <a:lnSpc>
                <a:spcPts val="3900"/>
              </a:lnSpc>
              <a:spcBef>
                <a:spcPct val="0"/>
              </a:spcBef>
              <a:buNone/>
            </a:pPr>
            <a:r>
              <a:rPr lang="en-US" sz="3000" spc="-37" strike="noStrike" u="none" i="0">
                <a:solidFill>
                  <a:srgbClr val="071D30"/>
                </a:solidFill>
                <a:latin typeface="Helvetica World"/>
                <a:ea typeface="Helvetica World"/>
                <a:cs typeface="Helvetica World"/>
                <a:sym typeface="Helvetica World"/>
              </a:rPr>
              <a:t>Leen imágenes con filtros locales.</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Redes convolucionales (CNN)</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El mismo filtro de 9 pesos recorre toda la imagen y encuentra el patrón donde esté.</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(esquema). Foto del perro de Marilyn Peddle, CC BY 2.0, Wikimedia Commons</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dnn.png"/>
          <p:cNvPicPr>
            <a:picLocks noChangeAspect="1"/>
          </p:cNvPicPr>
          <p:nvPr/>
        </p:nvPicPr>
        <p:blipFill>
          <a:blip r:embed="rId9"/>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Asensio Ramos, Cheung, Chifu y Gafeira (2023), Living Rev. Sol. Phys. 20, 4, sección 5.1.</a:t>
            </a:r>
          </a:p>
        </p:txBody>
      </p:sp>
      <p:pic>
        <p:nvPicPr>
          <p:cNvPr id="24" name="Ecuación" descr="eq_cnn.png"/>
          <p:cNvPicPr>
            <a:picLocks noChangeAspect="1"/>
          </p:cNvPicPr>
          <p:nvPr/>
        </p:nvPicPr>
        <p:blipFill>
          <a:blip r:embed="rId6"/>
          <a:stretch>
            <a:fillRect/>
          </a:stretch>
        </p:blipFill>
        <p:spPr>
          <a:xfrm>
            <a:off x="666750" y="4650000"/>
            <a:ext cx="5592390" cy="171928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0" indent="0" lvl="0">
              <a:lnSpc>
                <a:spcPts val="3900"/>
              </a:lnSpc>
              <a:spcBef>
                <a:spcPct val="0"/>
              </a:spcBef>
              <a:buNone/>
            </a:pPr>
            <a:r>
              <a:rPr lang="en-US" sz="3000" spc="-37" strike="noStrike" u="none" i="0">
                <a:solidFill>
                  <a:srgbClr val="071D30"/>
                </a:solidFill>
                <a:latin typeface="Helvetica World"/>
                <a:ea typeface="Helvetica World"/>
                <a:cs typeface="Helvetica World"/>
                <a:sym typeface="Helvetica World"/>
              </a:rPr>
              <a:t>Leen secuencias en el tiempo.</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RNN y LSTM</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La memoria hₜ resume lo visto hasta el paso t, y la LSTM decide qué olvidar y qué guardar.</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(esquema)</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dnn.png"/>
          <p:cNvPicPr>
            <a:picLocks noChangeAspect="1"/>
          </p:cNvPicPr>
          <p:nvPr/>
        </p:nvPicPr>
        <p:blipFill>
          <a:blip r:embed="rId9"/>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Asensio Ramos, Cheung, Chifu y Gafeira (2023), Living Rev. Sol. Phys. 20, 4, sección 5.1.</a:t>
            </a:r>
          </a:p>
        </p:txBody>
      </p:sp>
      <p:pic>
        <p:nvPicPr>
          <p:cNvPr id="24" name="Ecuación" descr="eq_rnn.png"/>
          <p:cNvPicPr>
            <a:picLocks noChangeAspect="1"/>
          </p:cNvPicPr>
          <p:nvPr/>
        </p:nvPicPr>
        <p:blipFill>
          <a:blip r:embed="rId6"/>
          <a:stretch>
            <a:fillRect/>
          </a:stretch>
        </p:blipFill>
        <p:spPr>
          <a:xfrm>
            <a:off x="666750" y="4650000"/>
            <a:ext cx="4255695" cy="15256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0" indent="0" lvl="0">
              <a:lnSpc>
                <a:spcPts val="3900"/>
              </a:lnSpc>
              <a:spcBef>
                <a:spcPct val="0"/>
              </a:spcBef>
              <a:buNone/>
            </a:pPr>
            <a:r>
              <a:rPr lang="en-US" sz="3000" spc="-37" strike="noStrike" u="none" i="0">
                <a:solidFill>
                  <a:srgbClr val="071D30"/>
                </a:solidFill>
                <a:latin typeface="Helvetica World"/>
                <a:ea typeface="Helvetica World"/>
                <a:cs typeface="Helvetica World"/>
                <a:sym typeface="Helvetica World"/>
              </a:rPr>
              <a:t>Calculan la atención entre todos los elementos.</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Transformers</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Cada token mira a todos los demás a la vez. Es la arquitectura de los LLM.</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(esquema; pesos de atención ilustrativos)</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dnn.png"/>
          <p:cNvPicPr>
            <a:picLocks noChangeAspect="1"/>
          </p:cNvPicPr>
          <p:nvPr/>
        </p:nvPicPr>
        <p:blipFill>
          <a:blip r:embed="rId10"/>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Asensio Ramos, Cheung, Chifu y Gafeira (2023), Living Rev. Sol. Phys. 20, 4, sección 5.1.</a:t>
            </a:r>
          </a:p>
        </p:txBody>
      </p:sp>
      <p:pic>
        <p:nvPicPr>
          <p:cNvPr id="24" name="Ecuación" descr="eq_transformer.png"/>
          <p:cNvPicPr>
            <a:picLocks noChangeAspect="1"/>
          </p:cNvPicPr>
          <p:nvPr/>
        </p:nvPicPr>
        <p:blipFill>
          <a:blip r:embed="rId6"/>
          <a:stretch>
            <a:fillRect/>
          </a:stretch>
        </p:blipFill>
        <p:spPr>
          <a:xfrm>
            <a:off x="666750" y="4650000"/>
            <a:ext cx="6886575" cy="185153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La </a:t>
            </a:r>
            <a:r>
              <a:rPr lang="en-US" sz="2200" spc="-37" strike="noStrike" u="none" b="1" i="0">
                <a:solidFill>
                  <a:srgbClr val="071D30"/>
                </a:solidFill>
                <a:latin typeface="Helvetica World Bold"/>
                <a:ea typeface="Helvetica World Bold"/>
                <a:cs typeface="Helvetica World Bold"/>
                <a:sym typeface="Helvetica World"/>
              </a:rPr>
              <a:t>loss</a:t>
            </a:r>
            <a:r>
              <a:rPr lang="en-US" sz="2200" spc="-37" strike="noStrike" u="none" i="0">
                <a:solidFill>
                  <a:srgbClr val="071D30"/>
                </a:solidFill>
                <a:latin typeface="Helvetica World"/>
                <a:ea typeface="Helvetica World"/>
                <a:cs typeface="Helvetica World"/>
                <a:sym typeface="Helvetica World"/>
              </a:rPr>
              <a:t> mide qué tan lejos está la predicción del label</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Entrenar es bajar la loss con </a:t>
            </a:r>
            <a:r>
              <a:rPr lang="en-US" sz="2200" spc="-37" strike="noStrike" u="none" b="1" i="0">
                <a:solidFill>
                  <a:srgbClr val="071D30"/>
                </a:solidFill>
                <a:latin typeface="Helvetica World Bold"/>
                <a:ea typeface="Helvetica World Bold"/>
                <a:cs typeface="Helvetica World Bold"/>
                <a:sym typeface="Helvetica World"/>
              </a:rPr>
              <a:t>gradient descent</a:t>
            </a:r>
            <a:r>
              <a:rPr lang="en-US" sz="2200" spc="-37" strike="noStrike" u="none" i="0">
                <a:solidFill>
                  <a:srgbClr val="071D30"/>
                </a:solidFill>
                <a:latin typeface="Helvetica World"/>
                <a:ea typeface="Helvetica World"/>
                <a:cs typeface="Helvetica World"/>
                <a:sym typeface="Helvetica World"/>
              </a:rPr>
              <a:t>; backpropagation dice cómo mover cada peso</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Se evalúa en datos </a:t>
            </a:r>
            <a:r>
              <a:rPr lang="en-US" sz="2200" spc="-37" strike="noStrike" u="none" b="1" i="0">
                <a:solidFill>
                  <a:srgbClr val="071D30"/>
                </a:solidFill>
                <a:latin typeface="Helvetica World Bold"/>
                <a:ea typeface="Helvetica World Bold"/>
                <a:cs typeface="Helvetica World Bold"/>
                <a:sym typeface="Helvetica World"/>
              </a:rPr>
              <a:t>held-out</a:t>
            </a:r>
            <a:r>
              <a:rPr lang="en-US" sz="2200" spc="-37" strike="noStrike" u="none" i="0">
                <a:solidFill>
                  <a:srgbClr val="071D30"/>
                </a:solidFill>
                <a:latin typeface="Helvetica World"/>
                <a:ea typeface="Helvetica World"/>
                <a:cs typeface="Helvetica World"/>
                <a:sym typeface="Helvetica World"/>
              </a:rPr>
              <a:t>, que el modelo nunca vio al entrenar</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Siempre contra un </a:t>
            </a:r>
            <a:r>
              <a:rPr lang="en-US" sz="2200" spc="-37" strike="noStrike" u="none" b="1" i="0">
                <a:solidFill>
                  <a:srgbClr val="071D30"/>
                </a:solidFill>
                <a:latin typeface="Helvetica World Bold"/>
                <a:ea typeface="Helvetica World Bold"/>
                <a:cs typeface="Helvetica World Bold"/>
                <a:sym typeface="Helvetica World"/>
              </a:rPr>
              <a:t>baseline</a:t>
            </a:r>
            <a:r>
              <a:rPr lang="en-US" sz="2200" spc="-37" strike="noStrike" u="none" i="0">
                <a:solidFill>
                  <a:srgbClr val="071D30"/>
                </a:solidFill>
                <a:latin typeface="Helvetica World"/>
                <a:ea typeface="Helvetica World"/>
                <a:cs typeface="Helvetica World"/>
                <a:sym typeface="Helvetica World"/>
              </a:rPr>
              <a:t> tonto, como decir siempre la clase más común</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Entrenar y evaluar</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Un modelo es bueno solo si supera a un baseline en datos que no vio.</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(esquema)</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entrenar_evaluar.png"/>
          <p:cNvPicPr>
            <a:picLocks noChangeAspect="1"/>
          </p:cNvPicPr>
          <p:nvPr/>
        </p:nvPicPr>
        <p:blipFill>
          <a:blip r:embed="rId5"/>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La </a:t>
            </a:r>
            <a:r>
              <a:rPr lang="en-US" sz="2200" spc="-37" strike="noStrike" u="none" b="1" i="0">
                <a:solidFill>
                  <a:srgbClr val="071D30"/>
                </a:solidFill>
                <a:latin typeface="Helvetica World Bold"/>
                <a:ea typeface="Helvetica World Bold"/>
                <a:cs typeface="Helvetica World Bold"/>
                <a:sym typeface="Helvetica World"/>
              </a:rPr>
              <a:t>MSE</a:t>
            </a:r>
            <a:r>
              <a:rPr lang="en-US" sz="2200" spc="-37" strike="noStrike" u="none" i="0">
                <a:solidFill>
                  <a:srgbClr val="071D30"/>
                </a:solidFill>
                <a:latin typeface="Helvetica World"/>
                <a:ea typeface="Helvetica World"/>
                <a:cs typeface="Helvetica World"/>
                <a:sym typeface="Helvetica World"/>
              </a:rPr>
              <a:t> para </a:t>
            </a:r>
            <a:r>
              <a:rPr lang="en-US" sz="2200" spc="-37" strike="noStrike" u="none" b="1" i="0">
                <a:solidFill>
                  <a:srgbClr val="071D30"/>
                </a:solidFill>
                <a:latin typeface="Helvetica World Bold"/>
                <a:ea typeface="Helvetica World Bold"/>
                <a:cs typeface="Helvetica World Bold"/>
                <a:sym typeface="Helvetica World"/>
              </a:rPr>
              <a:t>regresión</a:t>
            </a:r>
            <a:r>
              <a:rPr lang="en-US" sz="2200" spc="-37" strike="noStrike" u="none" i="0">
                <a:solidFill>
                  <a:srgbClr val="071D30"/>
                </a:solidFill>
                <a:latin typeface="Helvetica World"/>
                <a:ea typeface="Helvetica World"/>
                <a:cs typeface="Helvetica World"/>
                <a:sym typeface="Helvetica World"/>
              </a:rPr>
              <a:t>, cuando se predice un número</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La </a:t>
            </a:r>
            <a:r>
              <a:rPr lang="en-US" sz="2200" spc="-37" strike="noStrike" u="none" b="1" i="0">
                <a:solidFill>
                  <a:srgbClr val="071D30"/>
                </a:solidFill>
                <a:latin typeface="Helvetica World Bold"/>
                <a:ea typeface="Helvetica World Bold"/>
                <a:cs typeface="Helvetica World Bold"/>
                <a:sym typeface="Helvetica World"/>
              </a:rPr>
              <a:t>binary cross-entropy</a:t>
            </a:r>
            <a:r>
              <a:rPr lang="en-US" sz="2200" spc="-37" strike="noStrike" u="none" i="0">
                <a:solidFill>
                  <a:srgbClr val="071D30"/>
                </a:solidFill>
                <a:latin typeface="Helvetica World"/>
                <a:ea typeface="Helvetica World"/>
                <a:cs typeface="Helvetica World"/>
                <a:sym typeface="Helvetica World"/>
              </a:rPr>
              <a:t> para decidir </a:t>
            </a:r>
            <a:r>
              <a:rPr lang="en-US" sz="2200" spc="-37" strike="noStrike" u="none" b="1" i="0">
                <a:solidFill>
                  <a:srgbClr val="071D30"/>
                </a:solidFill>
                <a:latin typeface="Helvetica World Bold"/>
                <a:ea typeface="Helvetica World Bold"/>
                <a:cs typeface="Helvetica World Bold"/>
                <a:sym typeface="Helvetica World"/>
              </a:rPr>
              <a:t>sí o no</a:t>
            </a:r>
            <a:r>
              <a:rPr lang="en-US" sz="2200" spc="-37" strike="noStrike" u="none" i="0">
                <a:solidFill>
                  <a:srgbClr val="071D30"/>
                </a:solidFill>
                <a:latin typeface="Helvetica World"/>
                <a:ea typeface="Helvetica World"/>
                <a:cs typeface="Helvetica World"/>
                <a:sym typeface="Helvetica World"/>
              </a:rPr>
              <a:t>, como ¿hay un perro en la foto?</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La </a:t>
            </a:r>
            <a:r>
              <a:rPr lang="en-US" sz="2200" spc="-37" strike="noStrike" u="none" b="1" i="0">
                <a:solidFill>
                  <a:srgbClr val="071D30"/>
                </a:solidFill>
                <a:latin typeface="Helvetica World Bold"/>
                <a:ea typeface="Helvetica World Bold"/>
                <a:cs typeface="Helvetica World Bold"/>
                <a:sym typeface="Helvetica World"/>
              </a:rPr>
              <a:t>cross-entropy</a:t>
            </a:r>
            <a:r>
              <a:rPr lang="en-US" sz="2200" spc="-37" strike="noStrike" u="none" i="0">
                <a:solidFill>
                  <a:srgbClr val="071D30"/>
                </a:solidFill>
                <a:latin typeface="Helvetica World"/>
                <a:ea typeface="Helvetica World"/>
                <a:cs typeface="Helvetica World"/>
                <a:sym typeface="Helvetica World"/>
              </a:rPr>
              <a:t> para </a:t>
            </a:r>
            <a:r>
              <a:rPr lang="en-US" sz="2200" spc="-37" strike="noStrike" u="none" b="1" i="0">
                <a:solidFill>
                  <a:srgbClr val="071D30"/>
                </a:solidFill>
                <a:latin typeface="Helvetica World Bold"/>
                <a:ea typeface="Helvetica World Bold"/>
                <a:cs typeface="Helvetica World Bold"/>
                <a:sym typeface="Helvetica World"/>
              </a:rPr>
              <a:t>muchas clases</a:t>
            </a:r>
            <a:r>
              <a:rPr lang="en-US" sz="2200" spc="-37" strike="noStrike" u="none" i="0">
                <a:solidFill>
                  <a:srgbClr val="071D30"/>
                </a:solidFill>
                <a:latin typeface="Helvetica World"/>
                <a:ea typeface="Helvetica World"/>
                <a:cs typeface="Helvetica World"/>
                <a:sym typeface="Helvetica World"/>
              </a:rPr>
              <a:t>, como elegir la siguiente palabra de un texto</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Todas valen </a:t>
            </a:r>
            <a:r>
              <a:rPr lang="en-US" sz="2200" spc="-37" strike="noStrike" u="none" b="1" i="0">
                <a:solidFill>
                  <a:srgbClr val="071D30"/>
                </a:solidFill>
                <a:latin typeface="Helvetica World Bold"/>
                <a:ea typeface="Helvetica World Bold"/>
                <a:cs typeface="Helvetica World Bold"/>
                <a:sym typeface="Helvetica World"/>
              </a:rPr>
              <a:t>0</a:t>
            </a:r>
            <a:r>
              <a:rPr lang="en-US" sz="2200" spc="-37" strike="noStrike" u="none" i="0">
                <a:solidFill>
                  <a:srgbClr val="071D30"/>
                </a:solidFill>
                <a:latin typeface="Helvetica World"/>
                <a:ea typeface="Helvetica World"/>
                <a:cs typeface="Helvetica World"/>
                <a:sym typeface="Helvetica World"/>
              </a:rPr>
              <a:t> si la predicción es perfecta</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La loss depende del problema</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La loss convierte «qué es un buen modelo» en un número que se puede derivar.</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Ecuaciones según Asensio Ramos et al. (2023)</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entrenar_evaluar.png"/>
          <p:cNvPicPr>
            <a:picLocks noChangeAspect="1"/>
          </p:cNvPicPr>
          <p:nvPr/>
        </p:nvPicPr>
        <p:blipFill>
          <a:blip r:embed="rId8"/>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F5F7FA"/>
            </a:solidFill>
          </p:spPr>
        </p:sp>
        <p:sp>
          <p:nvSpPr>
            <p:cNvPr name="TextBox 4" id="4"/>
            <p:cNvSpPr txBox="true"/>
            <p:nvPr/>
          </p:nvSpPr>
          <p:spPr>
            <a:xfrm>
              <a:off x="0" y="-38100"/>
              <a:ext cx="2368158" cy="92114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8991600" y="0"/>
            <a:ext cx="9296400" cy="10287000"/>
            <a:chOff x="0" y="0"/>
            <a:chExt cx="1220873" cy="1350966"/>
          </a:xfrm>
        </p:grpSpPr>
        <p:sp>
          <p:nvSpPr>
            <p:cNvPr name="Freeform 6" id="6"/>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grpSp>
        <p:nvGrpSpPr>
          <p:cNvPr name="Group 8" id="8"/>
          <p:cNvGrpSpPr/>
          <p:nvPr/>
        </p:nvGrpSpPr>
        <p:grpSpPr>
          <a:xfrm rot="0">
            <a:off x="666750" y="5334000"/>
            <a:ext cx="6886575" cy="1898650"/>
            <a:chOff x="0" y="0"/>
            <a:chExt cx="9182100" cy="2531534"/>
          </a:xfrm>
        </p:grpSpPr>
        <p:sp>
          <p:nvSpPr>
            <p:cNvPr name="TextBox 9" id="9"/>
            <p:cNvSpPr txBox="true"/>
            <p:nvPr/>
          </p:nvSpPr>
          <p:spPr>
            <a:xfrm rot="0">
              <a:off x="0" y="0"/>
              <a:ext cx="91821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071D30"/>
                  </a:solidFill>
                  <a:latin typeface="Helvetica World Bold"/>
                  <a:ea typeface="Helvetica World Bold"/>
                  <a:cs typeface="Helvetica World Bold"/>
                  <a:sym typeface="Helvetica World Bold"/>
                </a:rPr>
                <a:t>Backpropagation es una derivada parcial</a:t>
              </a:r>
            </a:p>
          </p:txBody>
        </p:sp>
        <p:sp>
          <p:nvSpPr>
            <p:cNvPr name="TextBox 10" id="10"/>
            <p:cNvSpPr txBox="true"/>
            <p:nvPr/>
          </p:nvSpPr>
          <p:spPr>
            <a:xfrm rot="0">
              <a:off x="0" y="825500"/>
              <a:ext cx="9182100" cy="1706034"/>
            </a:xfrm>
            <a:prstGeom prst="rect">
              <a:avLst/>
            </a:prstGeom>
          </p:spPr>
          <p:txBody>
            <a:bodyPr anchor="t" rtlCol="false" tIns="0" lIns="0" bIns="0" rIns="0">
              <a:spAutoFit/>
            </a:bodyPr>
            <a:lstStyle/>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∂L/∂w dice cuánto cambia la loss si se mueve solo ese peso. La regla de la cadena la calcula de la loss hacia atrás, y gradient descent da un paso η en contra.</a:t>
              </a:r>
            </a:p>
          </p:txBody>
        </p:sp>
      </p:grpSp>
      <p:sp>
        <p:nvSpPr>
          <p:cNvPr name="TextBox 11" id="11"/>
          <p:cNvSpPr txBox="true"/>
          <p:nvPr/>
        </p:nvSpPr>
        <p:spPr>
          <a:xfrm rot="0">
            <a:off x="685800" y="657225"/>
            <a:ext cx="66675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ECUACIÓN  /  DATO DESTACADO</a:t>
            </a:r>
          </a:p>
        </p:txBody>
      </p:sp>
      <p:grpSp>
        <p:nvGrpSpPr>
          <p:cNvPr name="Group 12" id="12"/>
          <p:cNvGrpSpPr/>
          <p:nvPr/>
        </p:nvGrpSpPr>
        <p:grpSpPr>
          <a:xfrm rot="0">
            <a:off x="685800" y="4476750"/>
            <a:ext cx="1428750" cy="57150"/>
            <a:chOff x="0" y="0"/>
            <a:chExt cx="1905000" cy="76200"/>
          </a:xfrm>
        </p:grpSpPr>
        <p:sp>
          <p:nvSpPr>
            <p:cNvPr name="Freeform 13" id="13"/>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F5B82E"/>
            </a:solidFill>
          </p:spPr>
        </p:sp>
        <p:sp>
          <p:nvSpPr>
            <p:cNvPr name="TextBox 14" id="14"/>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685800" y="8515350"/>
            <a:ext cx="7620000" cy="300990"/>
          </a:xfrm>
          <a:prstGeom prst="rect">
            <a:avLst/>
          </a:prstGeom>
        </p:spPr>
        <p:txBody>
          <a:bodyPr anchor="t" rtlCol="false" tIns="0" lIns="0" bIns="0" rIns="0">
            <a:spAutoFit/>
          </a:bodyPr>
          <a:lstStyle/>
          <a:p>
            <a:pPr algn="l">
              <a:lnSpc>
                <a:spcPts val="2310"/>
              </a:lnSpc>
            </a:pPr>
            <a:r>
              <a:rPr lang="en-US" sz="1650" i="0">
                <a:solidFill>
                  <a:srgbClr val="53697A"/>
                </a:solidFill>
                <a:latin typeface="Arimo Italics"/>
                <a:ea typeface="Arimo Italics"/>
                <a:cs typeface="Arimo Italics"/>
                <a:sym typeface="Arimo Italics"/>
              </a:rPr>
              <a:t>Referencia: Asensio Ramos et al. (2023), sec. 5.3, ecs. 32 y 37</a:t>
            </a:r>
          </a:p>
        </p:txBody>
      </p:sp>
      <p:grpSp>
        <p:nvGrpSpPr>
          <p:cNvPr name="Group 16" id="16"/>
          <p:cNvGrpSpPr/>
          <p:nvPr/>
        </p:nvGrpSpPr>
        <p:grpSpPr>
          <a:xfrm rot="0">
            <a:off x="8991600" y="9429750"/>
            <a:ext cx="9296400" cy="857250"/>
            <a:chOff x="0" y="0"/>
            <a:chExt cx="12395200" cy="1143000"/>
          </a:xfrm>
        </p:grpSpPr>
        <p:sp>
          <p:nvSpPr>
            <p:cNvPr name="Freeform 17" id="17"/>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8" id="18"/>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(esquema)</a:t>
            </a:r>
          </a:p>
        </p:txBody>
      </p:sp>
      <p:sp>
        <p:nvSpPr>
          <p:cNvPr name="TextBox 20" id="20"/>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1" id="21"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2" id="22"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3" name="Picture 22" descr="eq_norm_full.png"/>
          <p:cNvPicPr>
            <a:picLocks noChangeAspect="1"/>
          </p:cNvPicPr>
          <p:nvPr/>
        </p:nvPicPr>
        <p:blipFill>
          <a:blip r:embed="rId7"/>
          <a:stretch>
            <a:fillRect/>
          </a:stretch>
        </p:blipFill>
        <p:spPr>
          <a:xfrm>
            <a:off x="684000" y="1150000"/>
            <a:ext cx="3300000" cy="3008000"/>
          </a:xfrm>
          <a:prstGeom prst="rect">
            <a:avLst/>
          </a:prstGeom>
        </p:spPr>
      </p:pic>
      <p:pic>
        <p:nvPicPr>
          <p:cNvPr id="24" name="Picture 23" descr="hist_norm.png"/>
          <p:cNvPicPr>
            <a:picLocks noChangeAspect="1"/>
          </p:cNvPicPr>
          <p:nvPr/>
        </p:nvPicPr>
        <p:blipFill>
          <a:blip r:embed="rId8"/>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F5F7FA"/>
                </a:solidFill>
                <a:latin typeface="Helvetica World"/>
                <a:ea typeface="Helvetica World"/>
                <a:cs typeface="Helvetica World"/>
                <a:sym typeface="Helvetica World"/>
              </a:rPr>
              <a:t>13</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5B82E"/>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1619250" y="5248275"/>
            <a:ext cx="12944475" cy="1298575"/>
          </a:xfrm>
          <a:prstGeom prst="rect">
            <a:avLst/>
          </a:prstGeom>
        </p:spPr>
        <p:txBody>
          <a:bodyPr anchor="t" rtlCol="false" tIns="0" lIns="0" bIns="0" rIns="0">
            <a:spAutoFit/>
          </a:bodyPr>
          <a:lstStyle/>
          <a:p>
            <a:pPr algn="l" marL="0" indent="0" lvl="0">
              <a:lnSpc>
                <a:spcPts val="8320"/>
              </a:lnSpc>
              <a:spcBef>
                <a:spcPct val="0"/>
              </a:spcBef>
            </a:pPr>
            <a:r>
              <a:rPr lang="en-US" sz="6400" spc="-240" strike="noStrike" u="none" i="0">
                <a:solidFill>
                  <a:srgbClr val="071D30"/>
                </a:solidFill>
                <a:latin typeface="Georgia Pro Condensed"/>
                <a:ea typeface="Georgia Pro Condensed"/>
                <a:cs typeface="Georgia Pro Condensed"/>
                <a:sym typeface="Georgia Pro Condensed"/>
              </a:rPr>
              <a:t>Aplicaciones en física solar</a:t>
            </a:r>
          </a:p>
        </p:txBody>
      </p:sp>
      <p:sp>
        <p:nvSpPr>
          <p:cNvPr name="TextBox 7" id="7"/>
          <p:cNvSpPr txBox="true"/>
          <p:nvPr/>
        </p:nvSpPr>
        <p:spPr>
          <a:xfrm rot="0">
            <a:off x="1524000" y="2628900"/>
            <a:ext cx="6667500" cy="2266950"/>
          </a:xfrm>
          <a:prstGeom prst="rect">
            <a:avLst/>
          </a:prstGeom>
        </p:spPr>
        <p:txBody>
          <a:bodyPr anchor="t" rtlCol="false" tIns="0" lIns="0" bIns="0" rIns="0">
            <a:spAutoFit/>
          </a:bodyPr>
          <a:lstStyle/>
          <a:p>
            <a:pPr algn="l">
              <a:lnSpc>
                <a:spcPts val="16500"/>
              </a:lnSpc>
            </a:pPr>
            <a:r>
              <a:rPr lang="en-US" sz="16500" b="true" i="0">
                <a:solidFill>
                  <a:srgbClr val="071D30"/>
                </a:solidFill>
                <a:latin typeface="Arimo Bold"/>
                <a:ea typeface="Arimo Bold"/>
                <a:cs typeface="Arimo Bold"/>
                <a:sym typeface="Arimo Bold"/>
              </a:rPr>
              <a:t>02</a:t>
            </a:r>
          </a:p>
        </p:txBody>
      </p:sp>
      <p:sp>
        <p:nvSpPr>
          <p:cNvPr name="TextBox 8" id="8"/>
          <p:cNvSpPr txBox="true"/>
          <p:nvPr/>
        </p:nvSpPr>
        <p:spPr>
          <a:xfrm rot="0">
            <a:off x="1638300" y="1752600"/>
            <a:ext cx="4762500" cy="350520"/>
          </a:xfrm>
          <a:prstGeom prst="rect">
            <a:avLst/>
          </a:prstGeom>
        </p:spPr>
        <p:txBody>
          <a:bodyPr anchor="t" rtlCol="false" tIns="0" lIns="0" bIns="0" rIns="0">
            <a:spAutoFit/>
          </a:bodyPr>
          <a:lstStyle/>
          <a:p>
            <a:pPr algn="l">
              <a:lnSpc>
                <a:spcPts val="2729"/>
              </a:lnSpc>
            </a:pPr>
            <a:r>
              <a:rPr lang="en-US" sz="1950" b="true">
                <a:solidFill>
                  <a:srgbClr val="071D30"/>
                </a:solidFill>
                <a:latin typeface="Arimo Bold"/>
                <a:ea typeface="Arimo Bold"/>
                <a:cs typeface="Arimo Bold"/>
                <a:sym typeface="Arimo Bold"/>
              </a:rPr>
              <a:t>SECCIÓN</a:t>
            </a:r>
          </a:p>
        </p:txBody>
      </p:sp>
      <p:sp>
        <p:nvSpPr>
          <p:cNvPr name="TextBox 9" id="9"/>
          <p:cNvSpPr txBox="true"/>
          <p:nvPr/>
        </p:nvSpPr>
        <p:spPr>
          <a:xfrm rot="0">
            <a:off x="1638300" y="6791325"/>
            <a:ext cx="10477500" cy="499110"/>
          </a:xfrm>
          <a:prstGeom prst="rect">
            <a:avLst/>
          </a:prstGeom>
        </p:spPr>
        <p:txBody>
          <a:bodyPr anchor="t" rtlCol="false" tIns="0" lIns="0" bIns="0" rIns="0">
            <a:spAutoFit/>
          </a:bodyPr>
          <a:lstStyle/>
          <a:p>
            <a:pPr algn="l">
              <a:lnSpc>
                <a:spcPts val="3990"/>
              </a:lnSpc>
            </a:pPr>
            <a:r>
              <a:rPr lang="en-US" sz="2850" i="0">
                <a:solidFill>
                  <a:srgbClr val="071D30"/>
                </a:solidFill>
                <a:latin typeface="Arimo"/>
                <a:ea typeface="Arimo"/>
                <a:cs typeface="Arimo"/>
                <a:sym typeface="Arimo"/>
              </a:rPr>
              <a:t>¿Qué se ha hecho ya con ML en datos solares?</a:t>
            </a:r>
          </a:p>
        </p:txBody>
      </p:sp>
      <p:grpSp>
        <p:nvGrpSpPr>
          <p:cNvPr name="Group 10" id="10"/>
          <p:cNvGrpSpPr/>
          <p:nvPr/>
        </p:nvGrpSpPr>
        <p:grpSpPr>
          <a:xfrm rot="0">
            <a:off x="11715750" y="2095500"/>
            <a:ext cx="5334000" cy="5334000"/>
            <a:chOff x="0" y="0"/>
            <a:chExt cx="7112000" cy="7112000"/>
          </a:xfrm>
        </p:grpSpPr>
        <p:sp>
          <p:nvSpPr>
            <p:cNvPr name="Freeform 11" id="11"/>
            <p:cNvSpPr/>
            <p:nvPr/>
          </p:nvSpPr>
          <p:spPr>
            <a:xfrm flipH="false" flipV="false" rot="0">
              <a:off x="800100" y="800100"/>
              <a:ext cx="5511800" cy="5511800"/>
            </a:xfrm>
            <a:custGeom>
              <a:avLst/>
              <a:gdLst/>
              <a:ahLst/>
              <a:cxnLst/>
              <a:rect r="r" b="b" t="t" l="l"/>
              <a:pathLst>
                <a:path h="5511800" w="5511800">
                  <a:moveTo>
                    <a:pt x="1185333" y="2755900"/>
                  </a:moveTo>
                  <a:cubicBezTo>
                    <a:pt x="1185333" y="3623300"/>
                    <a:pt x="1888500" y="4326467"/>
                    <a:pt x="2755900" y="4326467"/>
                  </a:cubicBezTo>
                  <a:cubicBezTo>
                    <a:pt x="3623300" y="4326467"/>
                    <a:pt x="4326467" y="3623300"/>
                    <a:pt x="4326467" y="2755900"/>
                  </a:cubicBezTo>
                  <a:cubicBezTo>
                    <a:pt x="4326467" y="1888500"/>
                    <a:pt x="3623300" y="1185333"/>
                    <a:pt x="2755900" y="1185333"/>
                  </a:cubicBezTo>
                  <a:cubicBezTo>
                    <a:pt x="1888500" y="1185333"/>
                    <a:pt x="1185333" y="1888500"/>
                    <a:pt x="1185333" y="2755900"/>
                  </a:cubicBezTo>
                  <a:close/>
                  <a:moveTo>
                    <a:pt x="5369560" y="1123103"/>
                  </a:moveTo>
                  <a:cubicBezTo>
                    <a:pt x="5185888" y="811081"/>
                    <a:pt x="4511819" y="836308"/>
                    <a:pt x="3603734" y="1189190"/>
                  </a:cubicBezTo>
                  <a:cubicBezTo>
                    <a:pt x="2695649" y="1542071"/>
                    <a:pt x="1693112" y="2168373"/>
                    <a:pt x="977437" y="2829881"/>
                  </a:cubicBezTo>
                  <a:cubicBezTo>
                    <a:pt x="261763" y="3491389"/>
                    <a:pt x="-57058" y="4086437"/>
                    <a:pt x="142240" y="4388697"/>
                  </a:cubicBezTo>
                  <a:cubicBezTo>
                    <a:pt x="325911" y="4700719"/>
                    <a:pt x="999981" y="4675492"/>
                    <a:pt x="1908066" y="4322611"/>
                  </a:cubicBezTo>
                  <a:cubicBezTo>
                    <a:pt x="2816151" y="3969729"/>
                    <a:pt x="3818688" y="3343427"/>
                    <a:pt x="4534363" y="2681919"/>
                  </a:cubicBezTo>
                  <a:cubicBezTo>
                    <a:pt x="5250037" y="2020411"/>
                    <a:pt x="5568857" y="1425364"/>
                    <a:pt x="5369560" y="1123103"/>
                  </a:cubicBezTo>
                  <a:close/>
                  <a:moveTo>
                    <a:pt x="2755900" y="474133"/>
                  </a:moveTo>
                  <a:lnTo>
                    <a:pt x="2755900" y="0"/>
                  </a:lnTo>
                  <a:moveTo>
                    <a:pt x="2755900" y="5511800"/>
                  </a:moveTo>
                  <a:lnTo>
                    <a:pt x="2755900" y="5037667"/>
                  </a:lnTo>
                  <a:moveTo>
                    <a:pt x="474133" y="2755900"/>
                  </a:moveTo>
                  <a:lnTo>
                    <a:pt x="0" y="2755900"/>
                  </a:lnTo>
                  <a:moveTo>
                    <a:pt x="5511800" y="2755900"/>
                  </a:moveTo>
                  <a:lnTo>
                    <a:pt x="5037667" y="2755900"/>
                  </a:lnTo>
                  <a:moveTo>
                    <a:pt x="1155700" y="1155700"/>
                  </a:moveTo>
                  <a:lnTo>
                    <a:pt x="829733" y="829733"/>
                  </a:lnTo>
                  <a:moveTo>
                    <a:pt x="4356100" y="4356100"/>
                  </a:moveTo>
                  <a:lnTo>
                    <a:pt x="4682067" y="4682067"/>
                  </a:lnTo>
                  <a:moveTo>
                    <a:pt x="1303867" y="2963333"/>
                  </a:moveTo>
                  <a:lnTo>
                    <a:pt x="1955800" y="2963333"/>
                  </a:lnTo>
                  <a:lnTo>
                    <a:pt x="2281767" y="2281767"/>
                  </a:lnTo>
                  <a:lnTo>
                    <a:pt x="2785533" y="3467100"/>
                  </a:lnTo>
                  <a:lnTo>
                    <a:pt x="3230033" y="2578100"/>
                  </a:lnTo>
                  <a:lnTo>
                    <a:pt x="3526367" y="2963333"/>
                  </a:lnTo>
                  <a:lnTo>
                    <a:pt x="4237567" y="2963333"/>
                  </a:lnTo>
                </a:path>
              </a:pathLst>
            </a:custGeom>
            <a:ln w="85725" cap="sq">
              <a:solidFill>
                <a:srgbClr val="071D30"/>
              </a:solidFill>
              <a:prstDash val="solid"/>
              <a:miter/>
            </a:ln>
          </p:spPr>
        </p:sp>
        <p:sp>
          <p:nvSpPr>
            <p:cNvPr name="TextBox 12" id="12"/>
            <p:cNvSpPr txBox="true"/>
            <p:nvPr/>
          </p:nvSpPr>
          <p:spPr>
            <a:xfrm>
              <a:off x="0" y="-38100"/>
              <a:ext cx="7112000" cy="7150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1715750" y="2095500"/>
            <a:ext cx="5334000" cy="5334000"/>
            <a:chOff x="0" y="0"/>
            <a:chExt cx="7112000" cy="7112000"/>
          </a:xfrm>
        </p:grpSpPr>
        <p:sp>
          <p:nvSpPr>
            <p:cNvPr name="Freeform 14" id="14"/>
            <p:cNvSpPr/>
            <p:nvPr/>
          </p:nvSpPr>
          <p:spPr>
            <a:xfrm flipH="false" flipV="false" rot="0">
              <a:off x="5096933" y="918633"/>
              <a:ext cx="948267" cy="948267"/>
            </a:xfrm>
            <a:custGeom>
              <a:avLst/>
              <a:gdLst/>
              <a:ahLst/>
              <a:cxnLst/>
              <a:rect r="r" b="b" t="t" l="l"/>
              <a:pathLst>
                <a:path h="948267" w="948267">
                  <a:moveTo>
                    <a:pt x="474134" y="0"/>
                  </a:moveTo>
                  <a:lnTo>
                    <a:pt x="592667" y="355600"/>
                  </a:lnTo>
                  <a:lnTo>
                    <a:pt x="948267" y="474134"/>
                  </a:lnTo>
                  <a:lnTo>
                    <a:pt x="592667" y="592667"/>
                  </a:lnTo>
                  <a:lnTo>
                    <a:pt x="474134" y="948267"/>
                  </a:lnTo>
                  <a:lnTo>
                    <a:pt x="355600" y="592667"/>
                  </a:lnTo>
                  <a:lnTo>
                    <a:pt x="0" y="474134"/>
                  </a:lnTo>
                  <a:lnTo>
                    <a:pt x="355600" y="355600"/>
                  </a:lnTo>
                  <a:close/>
                </a:path>
              </a:pathLst>
            </a:custGeom>
            <a:solidFill>
              <a:srgbClr val="FFFFFF"/>
            </a:solidFill>
          </p:spPr>
        </p:sp>
        <p:sp>
          <p:nvSpPr>
            <p:cNvPr name="TextBox 15" id="15"/>
            <p:cNvSpPr txBox="true"/>
            <p:nvPr/>
          </p:nvSpPr>
          <p:spPr>
            <a:xfrm>
              <a:off x="0" y="-38100"/>
              <a:ext cx="7112000" cy="7150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17" id="17"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18" id="18"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F5F7FA"/>
                </a:solidFill>
                <a:latin typeface="Helvetica World"/>
                <a:ea typeface="Helvetica World"/>
                <a:cs typeface="Helvetica World"/>
                <a:sym typeface="Helvetica World"/>
              </a:rPr>
              <a:t>14</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7F8C"/>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2067009"/>
            <a:chOff x="0" y="0"/>
            <a:chExt cx="17259300" cy="2756012"/>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6500"/>
                </a:lnSpc>
                <a:spcBef>
                  <a:spcPct val="0"/>
                </a:spcBef>
              </a:pPr>
              <a:r>
                <a:rPr lang="en-US" sz="5000" spc="-240" strike="noStrike" u="none" i="0">
                  <a:solidFill>
                    <a:srgbClr val="F5B82E"/>
                  </a:solidFill>
                  <a:latin typeface="Georgia Pro Condensed"/>
                  <a:ea typeface="Georgia Pro Condensed"/>
                  <a:cs typeface="Georgia Pro Condensed"/>
                  <a:sym typeface="Georgia Pro Condensed"/>
                </a:rPr>
                <a:t>Aplicaciones del ML</a:t>
              </a:r>
            </a:p>
          </p:txBody>
        </p:sp>
        <p:sp>
          <p:nvSpPr>
            <p:cNvPr name="TextBox 8" id="8"/>
            <p:cNvSpPr txBox="true"/>
            <p:nvPr/>
          </p:nvSpPr>
          <p:spPr>
            <a:xfrm rot="0">
              <a:off x="0" y="2197212"/>
              <a:ext cx="172593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F5F7FA"/>
                  </a:solidFill>
                  <a:latin typeface="Helvetica World Bold"/>
                  <a:ea typeface="Helvetica World Bold"/>
                  <a:cs typeface="Helvetica World Bold"/>
                  <a:sym typeface="Helvetica World Bold"/>
                </a:rPr>
                <a:t>Lo que se ha hecho con ML en datos solares</a:t>
              </a:r>
            </a:p>
          </p:txBody>
        </p:sp>
      </p:grpSp>
      <p:grpSp>
        <p:nvGrpSpPr>
          <p:cNvPr name="Group 9" id="9"/>
          <p:cNvGrpSpPr/>
          <p:nvPr/>
        </p:nvGrpSpPr>
        <p:grpSpPr>
          <a:xfrm rot="0">
            <a:off x="1800225" y="4104000"/>
            <a:ext cx="5753100" cy="1844675"/>
            <a:chOff x="0" y="0"/>
            <a:chExt cx="7670800" cy="2459567"/>
          </a:xfrm>
        </p:grpSpPr>
        <p:sp>
          <p:nvSpPr>
            <p:cNvPr name="TextBox 10" id="10"/>
            <p:cNvSpPr txBox="true"/>
            <p:nvPr/>
          </p:nvSpPr>
          <p:spPr>
            <a:xfrm rot="0">
              <a:off x="0" y="9525"/>
              <a:ext cx="76708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Entender el Sol</a:t>
              </a:r>
            </a:p>
          </p:txBody>
        </p:sp>
        <p:sp>
          <p:nvSpPr>
            <p:cNvPr name="TextBox 11" id="11"/>
            <p:cNvSpPr txBox="true"/>
            <p:nvPr/>
          </p:nvSpPr>
          <p:spPr>
            <a:xfrm rot="0">
              <a:off x="0" y="1079500"/>
              <a:ext cx="76708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Segmentation: agujeros coronales, manchas</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Classification de imágenes</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Inversión de Stokes, y su incertidumbre</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Reconstrucción 3D de la corona</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Deconvolution de imágenes</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Estimación de velocidades</a:t>
              </a:r>
            </a:p>
          </p:txBody>
        </p:sp>
      </p:grpSp>
      <p:grpSp>
        <p:nvGrpSpPr>
          <p:cNvPr name="Group 12" id="12"/>
          <p:cNvGrpSpPr/>
          <p:nvPr/>
        </p:nvGrpSpPr>
        <p:grpSpPr>
          <a:xfrm rot="0">
            <a:off x="9296400" y="4104000"/>
            <a:ext cx="5448300" cy="1844675"/>
            <a:chOff x="0" y="0"/>
            <a:chExt cx="7264400" cy="2459567"/>
          </a:xfrm>
        </p:grpSpPr>
        <p:sp>
          <p:nvSpPr>
            <p:cNvPr name="TextBox 13" id="13"/>
            <p:cNvSpPr txBox="true"/>
            <p:nvPr/>
          </p:nvSpPr>
          <p:spPr>
            <a:xfrm rot="0">
              <a:off x="0" y="9525"/>
              <a:ext cx="72644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Predecir y mejorar datos</a:t>
              </a:r>
            </a:p>
          </p:txBody>
        </p:sp>
        <p:sp>
          <p:nvSpPr>
            <p:cNvPr name="TextBox 14" id="14"/>
            <p:cNvSpPr txBox="true"/>
            <p:nvPr/>
          </p:nvSpPr>
          <p:spPr>
            <a:xfrm rot="0">
              <a:off x="0" y="1079500"/>
              <a:ext cx="72644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Forecasting de flares y de CME</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Heliosfera y space weather</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Predicción del ciclo solar</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Super-resolution</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Denoising y desaturación</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Far-side imaging</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Generación de datos sintéticos</a:t>
              </a:r>
            </a:p>
          </p:txBody>
        </p:sp>
      </p:grpSp>
      <p:grpSp>
        <p:nvGrpSpPr>
          <p:cNvPr name="Group 15" id="15"/>
          <p:cNvGrpSpPr/>
          <p:nvPr/>
        </p:nvGrpSpPr>
        <p:grpSpPr>
          <a:xfrm rot="0">
            <a:off x="8572500" y="4104000"/>
            <a:ext cx="28575" cy="3600000"/>
            <a:chOff x="0" y="0"/>
            <a:chExt cx="38100" cy="3175000"/>
          </a:xfrm>
        </p:grpSpPr>
        <p:sp>
          <p:nvSpPr>
            <p:cNvPr name="Freeform 16" id="16"/>
            <p:cNvSpPr/>
            <p:nvPr/>
          </p:nvSpPr>
          <p:spPr>
            <a:xfrm flipH="false" flipV="false" rot="0">
              <a:off x="0" y="0"/>
              <a:ext cx="38100" cy="3175000"/>
            </a:xfrm>
            <a:custGeom>
              <a:avLst/>
              <a:gdLst/>
              <a:ahLst/>
              <a:cxnLst/>
              <a:rect r="r" b="b" t="t" l="l"/>
              <a:pathLst>
                <a:path h="3175000" w="38100">
                  <a:moveTo>
                    <a:pt x="0" y="0"/>
                  </a:moveTo>
                  <a:lnTo>
                    <a:pt x="38100" y="0"/>
                  </a:lnTo>
                  <a:lnTo>
                    <a:pt x="38100" y="3175000"/>
                  </a:lnTo>
                  <a:lnTo>
                    <a:pt x="0" y="3175000"/>
                  </a:lnTo>
                  <a:close/>
                </a:path>
              </a:pathLst>
            </a:custGeom>
            <a:solidFill>
              <a:srgbClr val="F5B82E"/>
            </a:solidFill>
          </p:spPr>
        </p:sp>
        <p:sp>
          <p:nvSpPr>
            <p:cNvPr name="TextBox 17" id="17"/>
            <p:cNvSpPr txBox="true"/>
            <p:nvPr/>
          </p:nvSpPr>
          <p:spPr>
            <a:xfrm>
              <a:off x="0" y="-38100"/>
              <a:ext cx="38100" cy="3213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15049500" y="1238250"/>
            <a:ext cx="1905000" cy="1905000"/>
            <a:chOff x="0" y="0"/>
            <a:chExt cx="2540000" cy="2540000"/>
          </a:xfrm>
        </p:grpSpPr>
        <p:sp>
          <p:nvSpPr>
            <p:cNvPr name="Freeform 23" id="23"/>
            <p:cNvSpPr/>
            <p:nvPr/>
          </p:nvSpPr>
          <p:spPr>
            <a:xfrm flipH="false" flipV="false" rot="0">
              <a:off x="285750" y="285750"/>
              <a:ext cx="1968500" cy="1968500"/>
            </a:xfrm>
            <a:custGeom>
              <a:avLst/>
              <a:gdLst/>
              <a:ahLst/>
              <a:cxnLst/>
              <a:rect r="r" b="b" t="t" l="l"/>
              <a:pathLst>
                <a:path h="1968500" w="1968500">
                  <a:moveTo>
                    <a:pt x="423333" y="984250"/>
                  </a:moveTo>
                  <a:cubicBezTo>
                    <a:pt x="423333" y="1294036"/>
                    <a:pt x="674464" y="1545167"/>
                    <a:pt x="984250" y="1545167"/>
                  </a:cubicBezTo>
                  <a:cubicBezTo>
                    <a:pt x="1294036" y="1545167"/>
                    <a:pt x="1545167" y="1294036"/>
                    <a:pt x="1545167" y="984250"/>
                  </a:cubicBezTo>
                  <a:cubicBezTo>
                    <a:pt x="1545167" y="674464"/>
                    <a:pt x="1294036" y="423333"/>
                    <a:pt x="984250" y="423333"/>
                  </a:cubicBezTo>
                  <a:cubicBezTo>
                    <a:pt x="674464" y="423333"/>
                    <a:pt x="423333" y="674464"/>
                    <a:pt x="423333" y="984250"/>
                  </a:cubicBezTo>
                  <a:close/>
                  <a:moveTo>
                    <a:pt x="1917700" y="401108"/>
                  </a:moveTo>
                  <a:cubicBezTo>
                    <a:pt x="1852103" y="289672"/>
                    <a:pt x="1611364" y="298681"/>
                    <a:pt x="1287048" y="424711"/>
                  </a:cubicBezTo>
                  <a:cubicBezTo>
                    <a:pt x="962732" y="550740"/>
                    <a:pt x="604683" y="774419"/>
                    <a:pt x="349085" y="1010672"/>
                  </a:cubicBezTo>
                  <a:cubicBezTo>
                    <a:pt x="93487" y="1246925"/>
                    <a:pt x="-20378" y="1459442"/>
                    <a:pt x="50800" y="1567392"/>
                  </a:cubicBezTo>
                  <a:cubicBezTo>
                    <a:pt x="116397" y="1678828"/>
                    <a:pt x="357136" y="1669819"/>
                    <a:pt x="681452" y="1543789"/>
                  </a:cubicBezTo>
                  <a:cubicBezTo>
                    <a:pt x="1005768" y="1417760"/>
                    <a:pt x="1363817" y="1194081"/>
                    <a:pt x="1619415" y="957828"/>
                  </a:cubicBezTo>
                  <a:cubicBezTo>
                    <a:pt x="1875013" y="721575"/>
                    <a:pt x="1988878" y="509058"/>
                    <a:pt x="1917700" y="401108"/>
                  </a:cubicBezTo>
                  <a:close/>
                  <a:moveTo>
                    <a:pt x="984250" y="169333"/>
                  </a:moveTo>
                  <a:lnTo>
                    <a:pt x="984250" y="0"/>
                  </a:lnTo>
                  <a:moveTo>
                    <a:pt x="984250" y="1968500"/>
                  </a:moveTo>
                  <a:lnTo>
                    <a:pt x="984250" y="1799167"/>
                  </a:lnTo>
                  <a:moveTo>
                    <a:pt x="169333" y="984250"/>
                  </a:moveTo>
                  <a:lnTo>
                    <a:pt x="0" y="984250"/>
                  </a:lnTo>
                  <a:moveTo>
                    <a:pt x="1968500" y="984250"/>
                  </a:moveTo>
                  <a:lnTo>
                    <a:pt x="1799167" y="984250"/>
                  </a:lnTo>
                  <a:moveTo>
                    <a:pt x="412750" y="412750"/>
                  </a:moveTo>
                  <a:lnTo>
                    <a:pt x="296333" y="296333"/>
                  </a:lnTo>
                  <a:moveTo>
                    <a:pt x="1555750" y="1555750"/>
                  </a:moveTo>
                  <a:lnTo>
                    <a:pt x="1672167" y="1672167"/>
                  </a:lnTo>
                  <a:moveTo>
                    <a:pt x="465667" y="1058333"/>
                  </a:moveTo>
                  <a:lnTo>
                    <a:pt x="698500" y="1058333"/>
                  </a:lnTo>
                  <a:lnTo>
                    <a:pt x="814917" y="814917"/>
                  </a:lnTo>
                  <a:lnTo>
                    <a:pt x="994833" y="1238250"/>
                  </a:lnTo>
                  <a:lnTo>
                    <a:pt x="1153583" y="920750"/>
                  </a:lnTo>
                  <a:lnTo>
                    <a:pt x="1259417" y="1058333"/>
                  </a:lnTo>
                  <a:lnTo>
                    <a:pt x="1513417" y="1058333"/>
                  </a:lnTo>
                </a:path>
              </a:pathLst>
            </a:custGeom>
            <a:ln w="47625" cap="sq">
              <a:solidFill>
                <a:srgbClr val="F5B82E"/>
              </a:solidFill>
              <a:prstDash val="solid"/>
              <a:miter/>
            </a:ln>
          </p:spPr>
        </p:sp>
        <p:sp>
          <p:nvSpPr>
            <p:cNvPr name="TextBox 24" id="24"/>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5049500" y="1238250"/>
            <a:ext cx="1905000" cy="1905000"/>
            <a:chOff x="0" y="0"/>
            <a:chExt cx="2540000" cy="2540000"/>
          </a:xfrm>
        </p:grpSpPr>
        <p:sp>
          <p:nvSpPr>
            <p:cNvPr name="Freeform 26" id="26"/>
            <p:cNvSpPr/>
            <p:nvPr/>
          </p:nvSpPr>
          <p:spPr>
            <a:xfrm flipH="false" flipV="false" rot="0">
              <a:off x="1820333" y="328083"/>
              <a:ext cx="338667" cy="338667"/>
            </a:xfrm>
            <a:custGeom>
              <a:avLst/>
              <a:gdLst/>
              <a:ahLst/>
              <a:cxnLst/>
              <a:rect r="r" b="b" t="t" l="l"/>
              <a:pathLst>
                <a:path h="338667" w="338667">
                  <a:moveTo>
                    <a:pt x="169334" y="0"/>
                  </a:moveTo>
                  <a:lnTo>
                    <a:pt x="211667" y="127000"/>
                  </a:lnTo>
                  <a:lnTo>
                    <a:pt x="338667" y="169334"/>
                  </a:lnTo>
                  <a:lnTo>
                    <a:pt x="211667" y="211667"/>
                  </a:lnTo>
                  <a:lnTo>
                    <a:pt x="169334" y="338667"/>
                  </a:lnTo>
                  <a:lnTo>
                    <a:pt x="127000" y="211667"/>
                  </a:lnTo>
                  <a:lnTo>
                    <a:pt x="0" y="169334"/>
                  </a:lnTo>
                  <a:lnTo>
                    <a:pt x="127000" y="127000"/>
                  </a:lnTo>
                  <a:close/>
                </a:path>
              </a:pathLst>
            </a:custGeom>
            <a:solidFill>
              <a:srgbClr val="FFFFFF"/>
            </a:solidFill>
          </p:spPr>
        </p:sp>
        <p:sp>
          <p:nvSpPr>
            <p:cNvPr name="TextBox 27" id="27"/>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29" id="29"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30" id="30"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
        <p:nvSpPr>
          <p:cNvPr id="31" name="TextBox 30"/>
          <p:cNvSpPr txBox="1"/>
          <p:nvPr/>
        </p:nvSpPr>
        <p:spPr>
          <a:xfrm>
            <a:off x="1800000" y="9108000"/>
            <a:ext cx="14400000" cy="576000"/>
          </a:xfrm>
          <a:prstGeom prst="rect">
            <a:avLst/>
          </a:prstGeom>
          <a:noFill/>
        </p:spPr>
        <p:txBody>
          <a:bodyPr wrap="square" lIns="0" rIns="0" tIns="0" bIns="0">
            <a:spAutoFit/>
          </a:bodyPr>
          <a:lstStyle/>
          <a:p>
            <a:r>
              <a:rPr sz="1100">
                <a:solidFill>
                  <a:srgbClr val="DCEEF0"/>
                </a:solidFill>
                <a:latin typeface="Arimo"/>
              </a:rPr>
              <a:t>Referencias: Asensio Ramos, Cheung, Chifu y Gafeira (2023), Living Rev. Sol. Phys. 20, 4, sección 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2557"/>
              </a:lnSpc>
              <a:spcBef>
                <a:spcPct val="0"/>
              </a:spcBef>
              <a:buFont typeface="Arial"/>
              <a:buChar char="•"/>
            </a:pPr>
            <a:r>
              <a:rPr lang="en-US" sz="1826" spc="-37" strike="noStrike" u="none" i="0">
                <a:solidFill>
                  <a:srgbClr val="071D30"/>
                </a:solidFill>
                <a:latin typeface="Helvetica World"/>
                <a:ea typeface="Helvetica World"/>
                <a:cs typeface="Helvetica World"/>
                <a:sym typeface="Helvetica World"/>
              </a:rPr>
              <a:t>Zonas oscuras en EUV y fuente principal del </a:t>
            </a:r>
            <a:r>
              <a:rPr lang="en-US" sz="1826" spc="-37" strike="noStrike" u="none" b="1" i="0">
                <a:solidFill>
                  <a:srgbClr val="071D30"/>
                </a:solidFill>
                <a:latin typeface="Helvetica World Bold"/>
                <a:ea typeface="Helvetica World Bold"/>
                <a:cs typeface="Helvetica World Bold"/>
                <a:sym typeface="Helvetica World"/>
              </a:rPr>
              <a:t>viento solar</a:t>
            </a:r>
          </a:p>
          <a:p>
            <a:pPr algn="l" marL="539748" indent="-269874" lvl="1">
              <a:lnSpc>
                <a:spcPts val="2557"/>
              </a:lnSpc>
              <a:spcBef>
                <a:spcPct val="0"/>
              </a:spcBef>
              <a:buFont typeface="Arial"/>
              <a:buChar char="•"/>
            </a:pPr>
            <a:r>
              <a:rPr lang="en-US" sz="1826" spc="-37" strike="noStrike" u="none" b="1" i="0">
                <a:solidFill>
                  <a:srgbClr val="071D30"/>
                </a:solidFill>
                <a:latin typeface="Helvetica World Bold"/>
                <a:ea typeface="Helvetica World Bold"/>
                <a:cs typeface="Helvetica World Bold"/>
                <a:sym typeface="Helvetica World"/>
              </a:rPr>
              <a:t>U-Net</a:t>
            </a:r>
            <a:r>
              <a:rPr lang="en-US" sz="1826" spc="-37" strike="noStrike" u="none" i="0">
                <a:solidFill>
                  <a:srgbClr val="071D30"/>
                </a:solidFill>
                <a:latin typeface="Helvetica World"/>
                <a:ea typeface="Helvetica World"/>
                <a:cs typeface="Helvetica World"/>
                <a:sym typeface="Helvetica World"/>
              </a:rPr>
              <a:t> sobre AIA 193 Å: kernels convolucionales 2D que usan el contexto espacial local y devuelven un mapa de agujeros; </a:t>
            </a:r>
            <a:r>
              <a:rPr lang="en-US" sz="1826" spc="-37" strike="noStrike" u="none" b="1" i="0">
                <a:solidFill>
                  <a:srgbClr val="071D30"/>
                </a:solidFill>
                <a:latin typeface="Helvetica World Bold"/>
                <a:ea typeface="Helvetica World Bold"/>
                <a:cs typeface="Helvetica World Bold"/>
                <a:sym typeface="Helvetica World"/>
              </a:rPr>
              <a:t>2385 mapas</a:t>
            </a:r>
            <a:r>
              <a:rPr lang="en-US" sz="1826" spc="-37" strike="noStrike" u="none" i="0">
                <a:solidFill>
                  <a:srgbClr val="071D30"/>
                </a:solidFill>
                <a:latin typeface="Helvetica World"/>
                <a:ea typeface="Helvetica World"/>
                <a:cs typeface="Helvetica World"/>
                <a:sym typeface="Helvetica World"/>
              </a:rPr>
              <a:t> de entrenamiento (Illarionov y Tlatov, 2018)</a:t>
            </a:r>
          </a:p>
          <a:p>
            <a:pPr algn="l" marL="539748" indent="-269874" lvl="1">
              <a:lnSpc>
                <a:spcPts val="2557"/>
              </a:lnSpc>
              <a:spcBef>
                <a:spcPct val="0"/>
              </a:spcBef>
              <a:buFont typeface="Arial"/>
              <a:buChar char="•"/>
            </a:pPr>
            <a:r>
              <a:rPr lang="en-US" sz="1826" spc="-37" strike="noStrike" u="none" i="0">
                <a:solidFill>
                  <a:srgbClr val="071D30"/>
                </a:solidFill>
                <a:latin typeface="Helvetica World"/>
                <a:ea typeface="Helvetica World"/>
                <a:cs typeface="Helvetica World"/>
                <a:sym typeface="Helvetica World"/>
              </a:rPr>
              <a:t>Se entrena con la </a:t>
            </a:r>
            <a:r>
              <a:rPr lang="en-US" sz="1826" spc="-37" strike="noStrike" u="none" b="1" i="0">
                <a:solidFill>
                  <a:srgbClr val="071D30"/>
                </a:solidFill>
                <a:latin typeface="Helvetica World Bold"/>
                <a:ea typeface="Helvetica World Bold"/>
                <a:cs typeface="Helvetica World Bold"/>
                <a:sym typeface="Helvetica World"/>
              </a:rPr>
              <a:t>binary cross-entropy</a:t>
            </a:r>
            <a:r>
              <a:rPr lang="en-US" sz="1826" spc="-37" strike="noStrike" u="none" i="0">
                <a:solidFill>
                  <a:srgbClr val="071D30"/>
                </a:solidFill>
                <a:latin typeface="Helvetica World"/>
                <a:ea typeface="Helvetica World"/>
                <a:cs typeface="Helvetica World"/>
                <a:sym typeface="Helvetica World"/>
              </a:rPr>
              <a:t>, calculada en cada píxel del mapa de salida</a:t>
            </a:r>
          </a:p>
          <a:p>
            <a:pPr algn="l" marL="539748" indent="-269874" lvl="1">
              <a:lnSpc>
                <a:spcPts val="2557"/>
              </a:lnSpc>
              <a:spcBef>
                <a:spcPct val="0"/>
              </a:spcBef>
              <a:buFont typeface="Arial"/>
              <a:buChar char="•"/>
            </a:pPr>
            <a:r>
              <a:rPr lang="en-US" sz="1826" spc="-37" strike="noStrike" u="none" b="1" i="0">
                <a:solidFill>
                  <a:srgbClr val="071D30"/>
                </a:solidFill>
                <a:latin typeface="Helvetica World Bold"/>
                <a:ea typeface="Helvetica World Bold"/>
                <a:cs typeface="Helvetica World Bold"/>
                <a:sym typeface="Helvetica World"/>
              </a:rPr>
              <a:t>CHRONNOS</a:t>
            </a:r>
            <a:r>
              <a:rPr lang="en-US" sz="1826" spc="-37" strike="noStrike" u="none" i="0">
                <a:solidFill>
                  <a:srgbClr val="071D30"/>
                </a:solidFill>
                <a:latin typeface="Helvetica World"/>
                <a:ea typeface="Helvetica World"/>
                <a:cs typeface="Helvetica World"/>
                <a:sym typeface="Helvetica World"/>
              </a:rPr>
              <a:t>: 7 canales EUV de AIA + magnetograma de HMI (Jarolim et al., 2021)</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204"/>
              </a:lnSpc>
              <a:spcBef>
                <a:spcPct val="0"/>
              </a:spcBef>
            </a:pPr>
            <a:r>
              <a:rPr lang="en-US" sz="5640" spc="-179" strike="noStrike" u="none" i="0">
                <a:solidFill>
                  <a:srgbClr val="071D30"/>
                </a:solidFill>
                <a:latin typeface="Georgia Pro Condensed"/>
                <a:ea typeface="Georgia Pro Condensed"/>
                <a:cs typeface="Georgia Pro Condensed"/>
                <a:sym typeface="Georgia Pro Condensed"/>
              </a:rPr>
              <a:t>Detectar agujeros coronales</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APLICACIÓN</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Nueve métodos dibujan bordes distintos para el mismo agujero: falta estimar la incertidumbre.</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un agujero coronal en AIA 193 Å segmentado por nueve métodos. Asensio Ramos et al. (2023), fig. 8, de Reiss et al. (2021), ApJ 913, 28</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rev_fig8_agujeros.png"/>
          <p:cNvPicPr>
            <a:picLocks noChangeAspect="1"/>
          </p:cNvPicPr>
          <p:nvPr/>
        </p:nvPicPr>
        <p:blipFill>
          <a:blip r:embed="rId5"/>
          <a:stretch>
            <a:fillRect/>
          </a:stretch>
        </p:blipFill>
        <p:spPr>
          <a:xfrm>
            <a:off x="9432000" y="740087"/>
            <a:ext cx="8424000" cy="7951826"/>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Illarionov y Tlatov (2018), MNRAS 481, 5014 · Jarolim et al. (2021), A&amp;A 652, A13 · Reiss et al. (2021), ApJ 913, 28 · Asensio Ramos, Cheung, Chifu y Gafeira (2023), Living Rev. Sol. Phys. 20, 4, sección 7.1.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3080"/>
              </a:lnSpc>
              <a:spcBef>
                <a:spcPct val="0"/>
              </a:spcBef>
              <a:buFont typeface="Arial"/>
              <a:buChar char="•"/>
            </a:pPr>
            <a:r>
              <a:rPr lang="en-US" sz="2200" spc="-37" strike="noStrike" u="none" b="1" i="0">
                <a:solidFill>
                  <a:srgbClr val="071D30"/>
                </a:solidFill>
                <a:latin typeface="Helvetica World Bold"/>
                <a:ea typeface="Helvetica World Bold"/>
                <a:cs typeface="Helvetica World Bold"/>
                <a:sym typeface="Helvetica World"/>
              </a:rPr>
              <a:t>Flares</a:t>
            </a:r>
            <a:r>
              <a:rPr lang="en-US" sz="2200" spc="-37" strike="noStrike" u="none" i="0">
                <a:solidFill>
                  <a:srgbClr val="071D30"/>
                </a:solidFill>
                <a:latin typeface="Helvetica World"/>
                <a:ea typeface="Helvetica World"/>
                <a:cs typeface="Helvetica World"/>
                <a:sym typeface="Helvetica World"/>
              </a:rPr>
              <a:t>: clasificación (¿M o mayor en horas o días?) o regresión del flujo</a:t>
            </a:r>
          </a:p>
          <a:p>
            <a:pPr algn="l" marL="539748" indent="-269874" lvl="1">
              <a:lnSpc>
                <a:spcPts val="3080"/>
              </a:lnSpc>
              <a:spcBef>
                <a:spcPct val="0"/>
              </a:spcBef>
              <a:buFont typeface="Arial"/>
              <a:buChar char="•"/>
            </a:pPr>
            <a:r>
              <a:rPr lang="en-US" sz="2200" spc="-37" strike="noStrike" u="none" b="1" i="0">
                <a:solidFill>
                  <a:srgbClr val="071D30"/>
                </a:solidFill>
                <a:latin typeface="Helvetica World Bold"/>
                <a:ea typeface="Helvetica World Bold"/>
                <a:cs typeface="Helvetica World Bold"/>
                <a:sym typeface="Helvetica World"/>
              </a:rPr>
              <a:t>CNN</a:t>
            </a:r>
            <a:r>
              <a:rPr lang="en-US" sz="2200" spc="-37" strike="noStrike" u="none" i="0">
                <a:solidFill>
                  <a:srgbClr val="071D30"/>
                </a:solidFill>
                <a:latin typeface="Helvetica World"/>
                <a:ea typeface="Helvetica World"/>
                <a:cs typeface="Helvetica World"/>
                <a:sym typeface="Helvetica World"/>
              </a:rPr>
              <a:t> sobre magnetogramas de MDI y HMI (Huang et al., 2018)</a:t>
            </a:r>
          </a:p>
          <a:p>
            <a:pPr algn="l" marL="539748" indent="-269874" lvl="1">
              <a:lnSpc>
                <a:spcPts val="3080"/>
              </a:lnSpc>
              <a:spcBef>
                <a:spcPct val="0"/>
              </a:spcBef>
              <a:buFont typeface="Arial"/>
              <a:buChar char="•"/>
            </a:pPr>
            <a:r>
              <a:rPr lang="en-US" sz="2200" spc="-37" strike="noStrike" u="none" b="1" i="0">
                <a:solidFill>
                  <a:srgbClr val="071D30"/>
                </a:solidFill>
                <a:latin typeface="Helvetica World Bold"/>
                <a:ea typeface="Helvetica World Bold"/>
                <a:cs typeface="Helvetica World Bold"/>
                <a:sym typeface="Helvetica World"/>
              </a:rPr>
              <a:t>LSTM</a:t>
            </a:r>
            <a:r>
              <a:rPr lang="en-US" sz="2200" spc="-37" strike="noStrike" u="none" i="0">
                <a:solidFill>
                  <a:srgbClr val="071D30"/>
                </a:solidFill>
                <a:latin typeface="Helvetica World"/>
                <a:ea typeface="Helvetica World"/>
                <a:cs typeface="Helvetica World"/>
                <a:sym typeface="Helvetica World"/>
              </a:rPr>
              <a:t> con 25 parámetros SHARP y la historia de flares (Liu et al., 2019)</a:t>
            </a:r>
          </a:p>
          <a:p>
            <a:pPr algn="l" marL="539748" indent="-269874" lvl="1">
              <a:lnSpc>
                <a:spcPts val="3080"/>
              </a:lnSpc>
              <a:spcBef>
                <a:spcPct val="0"/>
              </a:spcBef>
              <a:buFont typeface="Arial"/>
              <a:buChar char="•"/>
            </a:pPr>
            <a:r>
              <a:rPr lang="en-US" sz="2200" spc="-37" strike="noStrike" u="none" b="1" i="0">
                <a:solidFill>
                  <a:srgbClr val="071D30"/>
                </a:solidFill>
                <a:latin typeface="Helvetica World Bold"/>
                <a:ea typeface="Helvetica World Bold"/>
                <a:cs typeface="Helvetica World Bold"/>
                <a:sym typeface="Helvetica World"/>
              </a:rPr>
              <a:t>CME</a:t>
            </a:r>
            <a:r>
              <a:rPr lang="en-US" sz="2200" spc="-37" strike="noStrike" u="none" i="0">
                <a:solidFill>
                  <a:srgbClr val="071D30"/>
                </a:solidFill>
                <a:latin typeface="Helvetica World"/>
                <a:ea typeface="Helvetica World"/>
                <a:cs typeface="Helvetica World"/>
                <a:sym typeface="Helvetica World"/>
              </a:rPr>
              <a:t>: SVM de Bobra e Ilonidis (2016), capítulo 1 de HelioML</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Predecir el clima espacial</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APLICACIÓN</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Los flares grandes son raros: hay que comparar contra baselines.</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AR 11944 durante el flare X1.2 del 7 ene 2014 (SDO, formato Surya)</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canales.png"/>
          <p:cNvPicPr>
            <a:picLocks noChangeAspect="1"/>
          </p:cNvPicPr>
          <p:nvPr/>
        </p:nvPicPr>
        <p:blipFill>
          <a:blip r:embed="rId5"/>
          <a:stretch>
            <a:fillRect/>
          </a:stretch>
        </p:blipFill>
        <p:spPr>
          <a:xfrm>
            <a:off x="9432000" y="2320892"/>
            <a:ext cx="8424000" cy="4790215"/>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Huang et al. (2018), ApJ 856, 7 · Liu et al. (2019), ApJ 877, 121 · Bobra e Ilonidis (2016), ApJ 821, 127 · Asensio Ramos, Cheung, Chifu y Gafeira (2023), Living Rev. Sol. Phys. 20, 4, sección 7.3.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F5F7FA"/>
            </a:solidFill>
          </p:spPr>
        </p:sp>
        <p:sp>
          <p:nvSpPr>
            <p:cNvPr name="TextBox 4" id="4"/>
            <p:cNvSpPr txBox="true"/>
            <p:nvPr/>
          </p:nvSpPr>
          <p:spPr>
            <a:xfrm>
              <a:off x="0" y="-38100"/>
              <a:ext cx="2368158" cy="92114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8991600" y="0"/>
            <a:ext cx="9296400" cy="10287000"/>
            <a:chOff x="0" y="0"/>
            <a:chExt cx="1220873" cy="1350966"/>
          </a:xfrm>
        </p:grpSpPr>
        <p:sp>
          <p:nvSpPr>
            <p:cNvPr name="Freeform 6" id="6"/>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7" id="7"/>
          <p:cNvSpPr txBox="true"/>
          <p:nvPr/>
        </p:nvSpPr>
        <p:spPr>
          <a:xfrm rot="0">
            <a:off x="666750" y="1354201"/>
            <a:ext cx="6886575" cy="1181100"/>
          </a:xfrm>
          <a:prstGeom prst="rect">
            <a:avLst/>
          </a:prstGeom>
        </p:spPr>
        <p:txBody>
          <a:bodyPr anchor="t" rtlCol="false" tIns="0" lIns="0" bIns="0" rIns="0">
            <a:spAutoFit/>
          </a:bodyPr>
          <a:lstStyle/>
          <a:p>
            <a:pPr algn="l" marL="0" indent="0" lvl="0">
              <a:lnSpc>
                <a:spcPts val="6600"/>
              </a:lnSpc>
              <a:spcBef>
                <a:spcPct val="0"/>
              </a:spcBef>
            </a:pPr>
            <a:r>
              <a:rPr lang="en-US" sz="6000" spc="-247" strike="noStrike" u="none" i="0">
                <a:solidFill>
                  <a:srgbClr val="071D30"/>
                </a:solidFill>
                <a:latin typeface="Georgia Pro Condensed"/>
                <a:ea typeface="Georgia Pro Condensed"/>
                <a:cs typeface="Georgia Pro Condensed"/>
                <a:sym typeface="Georgia Pro Condensed"/>
              </a:rPr>
              <a:t>9 notebooks</a:t>
            </a:r>
          </a:p>
        </p:txBody>
      </p:sp>
      <p:grpSp>
        <p:nvGrpSpPr>
          <p:cNvPr name="Group 8" id="8"/>
          <p:cNvGrpSpPr/>
          <p:nvPr/>
        </p:nvGrpSpPr>
        <p:grpSpPr>
          <a:xfrm rot="0">
            <a:off x="666750" y="4326001"/>
            <a:ext cx="6886575" cy="1898650"/>
            <a:chOff x="0" y="0"/>
            <a:chExt cx="9182100" cy="2531534"/>
          </a:xfrm>
        </p:grpSpPr>
        <p:sp>
          <p:nvSpPr>
            <p:cNvPr name="TextBox 9" id="9"/>
            <p:cNvSpPr txBox="true"/>
            <p:nvPr/>
          </p:nvSpPr>
          <p:spPr>
            <a:xfrm rot="0">
              <a:off x="0" y="0"/>
              <a:ext cx="91821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071D30"/>
                  </a:solidFill>
                  <a:latin typeface="Helvetica World Bold"/>
                  <a:ea typeface="Helvetica World Bold"/>
                  <a:cs typeface="Helvetica World Bold"/>
                  <a:sym typeface="Helvetica World Bold"/>
                </a:rPr>
                <a:t>HelioML: un libro de notebooks de Jupyter</a:t>
              </a:r>
            </a:p>
          </p:txBody>
        </p:sp>
        <p:sp>
          <p:nvSpPr>
            <p:cNvPr name="TextBox 10" id="10"/>
            <p:cNvSpPr txBox="true"/>
            <p:nvPr/>
          </p:nvSpPr>
          <p:spPr>
            <a:xfrm rot="0">
              <a:off x="0" y="825500"/>
              <a:ext cx="9182100" cy="1706034"/>
            </a:xfrm>
            <a:prstGeom prst="rect">
              <a:avLst/>
            </a:prstGeom>
          </p:spPr>
          <p:txBody>
            <a:bodyPr anchor="t" rtlCol="false" tIns="0" lIns="0" bIns="0" rIns="0">
              <a:spAutoFit/>
            </a:bodyPr>
            <a:lstStyle/>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Reproducen resultados publicados: CME con SVM, Enhance, DeepEM (≈ </a:t>
              </a:r>
              <a:r>
                <a:rPr lang="en-US" sz="2499" spc="-37" strike="noStrike" u="none" i="0">
                  <a:solidFill>
                    <a:srgbClr val="071D30"/>
                  </a:solidFill>
                  <a:latin typeface="Helvetica World"/>
                  <a:ea typeface="Helvetica World"/>
                  <a:cs typeface="Helvetica World"/>
                  <a:sym typeface="Helvetica World"/>
                </a:rPr>
                <a:t>10</a:t>
              </a:r>
              <a:r>
                <a:rPr lang="en-US" sz="2499" spc="-37" strike="noStrike" u="none" i="0" baseline="30000">
                  <a:solidFill>
                    <a:srgbClr val="071D30"/>
                  </a:solidFill>
                  <a:latin typeface="Helvetica World"/>
                  <a:ea typeface="Helvetica World"/>
                  <a:cs typeface="Helvetica World"/>
                  <a:sym typeface="Helvetica World"/>
                </a:rPr>
                <a:t>7</a:t>
              </a:r>
              <a:r>
                <a:rPr lang="en-US" sz="2499" spc="-37" strike="noStrike" u="none" i="0">
                  <a:solidFill>
                    <a:srgbClr val="071D30"/>
                  </a:solidFill>
                  <a:latin typeface="Helvetica World"/>
                  <a:ea typeface="Helvetica World"/>
                  <a:cs typeface="Helvetica World"/>
                  <a:sym typeface="Helvetica World"/>
                </a:rPr>
                <a:t> soluciones DEM por segundo), FarNet, viento solar sin labels (UMAP, HDBSCAN) y más.</a:t>
              </a:r>
            </a:p>
          </p:txBody>
        </p:sp>
      </p:grpSp>
      <p:sp>
        <p:nvSpPr>
          <p:cNvPr name="TextBox 11" id="11"/>
          <p:cNvSpPr txBox="true"/>
          <p:nvPr/>
        </p:nvSpPr>
        <p:spPr>
          <a:xfrm rot="0">
            <a:off x="685800" y="657225"/>
            <a:ext cx="66675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RECURSO</a:t>
            </a:r>
          </a:p>
        </p:txBody>
      </p:sp>
      <p:grpSp>
        <p:nvGrpSpPr>
          <p:cNvPr name="Group 12" id="12"/>
          <p:cNvGrpSpPr/>
          <p:nvPr/>
        </p:nvGrpSpPr>
        <p:grpSpPr>
          <a:xfrm rot="0">
            <a:off x="685800" y="3468751"/>
            <a:ext cx="1428750" cy="57150"/>
            <a:chOff x="0" y="0"/>
            <a:chExt cx="1905000" cy="76200"/>
          </a:xfrm>
        </p:grpSpPr>
        <p:sp>
          <p:nvSpPr>
            <p:cNvPr name="Freeform 13" id="13"/>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F5B82E"/>
            </a:solidFill>
          </p:spPr>
        </p:sp>
        <p:sp>
          <p:nvSpPr>
            <p:cNvPr name="TextBox 14" id="14"/>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685800" y="8515350"/>
            <a:ext cx="7620000" cy="300990"/>
          </a:xfrm>
          <a:prstGeom prst="rect">
            <a:avLst/>
          </a:prstGeom>
        </p:spPr>
        <p:txBody>
          <a:bodyPr anchor="t" rtlCol="false" tIns="0" lIns="0" bIns="0" rIns="0">
            <a:spAutoFit/>
          </a:bodyPr>
          <a:lstStyle/>
          <a:p>
            <a:pPr algn="l">
              <a:lnSpc>
                <a:spcPts val="2310"/>
              </a:lnSpc>
            </a:pPr>
          </a:p>
        </p:txBody>
      </p:sp>
      <p:grpSp>
        <p:nvGrpSpPr>
          <p:cNvPr name="Group 16" id="16"/>
          <p:cNvGrpSpPr/>
          <p:nvPr/>
        </p:nvGrpSpPr>
        <p:grpSpPr>
          <a:xfrm rot="0">
            <a:off x="8991600" y="9429750"/>
            <a:ext cx="9296400" cy="857250"/>
            <a:chOff x="0" y="0"/>
            <a:chExt cx="12395200" cy="1143000"/>
          </a:xfrm>
        </p:grpSpPr>
        <p:sp>
          <p:nvSpPr>
            <p:cNvPr name="Freeform 17" id="17"/>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8" id="18"/>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Fisher score de cada parámetro SHARP para predecir CME. HelioML, cap. 1 (Bobra y Mason), según Bobra e Ilonidis (2016)</a:t>
            </a:r>
          </a:p>
        </p:txBody>
      </p:sp>
      <p:sp>
        <p:nvSpPr>
          <p:cNvPr name="TextBox 20" id="20"/>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1" id="21"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2" id="22"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3" name="Picture 22" descr="helioml_fisher.png"/>
          <p:cNvPicPr>
            <a:picLocks noChangeAspect="1"/>
          </p:cNvPicPr>
          <p:nvPr/>
        </p:nvPicPr>
        <p:blipFill>
          <a:blip r:embed="rId5"/>
          <a:stretch>
            <a:fillRect/>
          </a:stretch>
        </p:blipFill>
        <p:spPr>
          <a:xfrm>
            <a:off x="9432000" y="2575216"/>
            <a:ext cx="8424000" cy="4281567"/>
          </a:xfrm>
          <a:prstGeom prst="roundRect">
            <a:avLst>
              <a:gd name="adj" fmla="val 4500"/>
            </a:avLst>
          </a:prstGeom>
          <a:effectLst>
            <a:outerShdw blurRad="254000" dist="76200" dir="5400000" algn="t" rotWithShape="0">
              <a:srgbClr val="000000">
                <a:alpha val="55000"/>
              </a:srgbClr>
            </a:outerShdw>
          </a:effectLst>
        </p:spPr>
      </p:pic>
      <p:pic>
        <p:nvPicPr>
          <p:cNvPr id="24" name="Picture 23" descr="qr_helioml.png"/>
          <p:cNvPicPr>
            <a:picLocks noChangeAspect="1"/>
          </p:cNvPicPr>
          <p:nvPr/>
        </p:nvPicPr>
        <p:blipFill>
          <a:blip r:embed="rId6"/>
          <a:stretch>
            <a:fillRect/>
          </a:stretch>
        </p:blipFill>
        <p:spPr>
          <a:xfrm>
            <a:off x="684000" y="7452000"/>
            <a:ext cx="1512000" cy="1512000"/>
          </a:xfrm>
          <a:prstGeom prst="rect">
            <a:avLst/>
          </a:prstGeom>
        </p:spPr>
      </p:pic>
      <p:sp>
        <p:nvSpPr>
          <p:cNvPr id="25" name="TextBox 24"/>
          <p:cNvSpPr txBox="1"/>
          <p:nvPr/>
        </p:nvSpPr>
        <p:spPr>
          <a:xfrm>
            <a:off x="2412000" y="7776000"/>
            <a:ext cx="5040000" cy="864000"/>
          </a:xfrm>
          <a:prstGeom prst="rect">
            <a:avLst/>
          </a:prstGeom>
          <a:noFill/>
        </p:spPr>
        <p:txBody>
          <a:bodyPr wrap="square" lIns="0" rIns="0" tIns="0" bIns="0">
            <a:spAutoFit/>
          </a:bodyPr>
          <a:lstStyle/>
          <a:p>
            <a:r>
              <a:rPr sz="2000" b="1">
                <a:solidFill>
                  <a:srgbClr val="071D30"/>
                </a:solidFill>
                <a:latin typeface="Arimo"/>
              </a:rPr>
              <a:t>Explora HelioML</a:t>
            </a:r>
          </a:p>
          <a:p>
            <a:r>
              <a:rPr sz="1600" b="0">
                <a:solidFill>
                  <a:srgbClr val="087F8C"/>
                </a:solidFill>
                <a:latin typeface="Arimo"/>
              </a:rPr>
              <a:t>helioml.org</a:t>
            </a:r>
          </a:p>
        </p:txBody>
      </p:sp>
      <p:sp>
        <p:nvSpPr>
          <p:cNvPr id="26" name="TextBox 25"/>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Bobra y Mason (2018), HelioML, doi:10.5281/zenodo.1412824 · Bobra e Ilonidis (2016), ApJ 821, 127 · Díaz Baso y Asensio Ramos (2018), A&amp;A 614, A5 · Felipe y Asensio Ramos (2019), A&amp;A 632, A82.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2940"/>
              </a:lnSpc>
              <a:spcBef>
                <a:spcPct val="0"/>
              </a:spcBef>
              <a:buFont typeface="Arial"/>
              <a:buChar char="•"/>
            </a:pPr>
            <a:r>
              <a:rPr lang="en-US" sz="2100" spc="-37" strike="noStrike" u="none" i="0">
                <a:solidFill>
                  <a:srgbClr val="071D30"/>
                </a:solidFill>
                <a:latin typeface="Helvetica World"/>
                <a:ea typeface="Helvetica World"/>
                <a:cs typeface="Helvetica World"/>
                <a:sym typeface="Helvetica World"/>
              </a:rPr>
              <a:t>Invierte </a:t>
            </a:r>
            <a:r>
              <a:rPr lang="en-US" sz="2100" spc="-37" strike="noStrike" u="none" b="1" i="0">
                <a:solidFill>
                  <a:srgbClr val="071D30"/>
                </a:solidFill>
                <a:latin typeface="Helvetica World Bold"/>
                <a:ea typeface="Helvetica World Bold"/>
                <a:cs typeface="Helvetica World Bold"/>
                <a:sym typeface="Helvetica World"/>
              </a:rPr>
              <a:t>Stokes </a:t>
            </a:r>
            <a:r>
              <a:rPr lang="en-US" sz="2100" spc="-37" strike="noStrike" u="none" b="1" i="1">
                <a:solidFill>
                  <a:srgbClr val="071D30"/>
                </a:solidFill>
                <a:latin typeface="Helvetica World Bold"/>
                <a:ea typeface="Helvetica World Bold"/>
                <a:cs typeface="Helvetica World Bold"/>
                <a:sym typeface="Helvetica World"/>
              </a:rPr>
              <a:t>I</a:t>
            </a:r>
            <a:r>
              <a:rPr lang="en-US" sz="2100" spc="-37" strike="noStrike" u="none" b="1" i="0">
                <a:solidFill>
                  <a:srgbClr val="071D30"/>
                </a:solidFill>
                <a:latin typeface="Helvetica World Bold"/>
                <a:ea typeface="Helvetica World Bold"/>
                <a:cs typeface="Helvetica World Bold"/>
                <a:sym typeface="Helvetica World"/>
              </a:rPr>
              <a:t> y </a:t>
            </a:r>
            <a:r>
              <a:rPr lang="en-US" sz="2100" spc="-37" strike="noStrike" u="none" b="1" i="1">
                <a:solidFill>
                  <a:srgbClr val="071D30"/>
                </a:solidFill>
                <a:latin typeface="Helvetica World Bold"/>
                <a:ea typeface="Helvetica World Bold"/>
                <a:cs typeface="Helvetica World Bold"/>
                <a:sym typeface="Helvetica World"/>
              </a:rPr>
              <a:t>V</a:t>
            </a:r>
            <a:r>
              <a:rPr lang="en-US" sz="2100" spc="-37" strike="noStrike" u="none" i="0">
                <a:solidFill>
                  <a:srgbClr val="071D30"/>
                </a:solidFill>
                <a:latin typeface="Helvetica World"/>
                <a:ea typeface="Helvetica World"/>
                <a:cs typeface="Helvetica World"/>
                <a:sym typeface="Helvetica World"/>
              </a:rPr>
              <a:t> en </a:t>
            </a:r>
            <a:r>
              <a:rPr lang="en-US" sz="2100" spc="-37" strike="noStrike" u="none" i="1">
                <a:solidFill>
                  <a:srgbClr val="071D30"/>
                </a:solidFill>
                <a:latin typeface="Helvetica World"/>
                <a:ea typeface="Helvetica World"/>
                <a:cs typeface="Helvetica World"/>
                <a:sym typeface="Helvetica World"/>
              </a:rPr>
              <a:t>T</a:t>
            </a:r>
            <a:r>
              <a:rPr lang="en-US" sz="2100" spc="-37" strike="noStrike" u="none" i="0">
                <a:solidFill>
                  <a:srgbClr val="071D30"/>
                </a:solidFill>
                <a:latin typeface="Helvetica World"/>
                <a:ea typeface="Helvetica World"/>
                <a:cs typeface="Helvetica World"/>
                <a:sym typeface="Helvetica World"/>
              </a:rPr>
              <a:t>, </a:t>
            </a:r>
            <a:r>
              <a:rPr lang="en-US" sz="2100" spc="-37" strike="noStrike" u="none" i="1">
                <a:solidFill>
                  <a:srgbClr val="071D30"/>
                </a:solidFill>
                <a:latin typeface="Helvetica World"/>
                <a:ea typeface="Helvetica World"/>
                <a:cs typeface="Helvetica World"/>
                <a:sym typeface="Helvetica World"/>
              </a:rPr>
              <a:t>v</a:t>
            </a:r>
            <a:r>
              <a:rPr lang="en-US" sz="2100" spc="-37" strike="noStrike" u="none" i="0" baseline="-25000">
                <a:solidFill>
                  <a:srgbClr val="071D30"/>
                </a:solidFill>
                <a:latin typeface="Helvetica World"/>
                <a:ea typeface="Helvetica World"/>
                <a:cs typeface="Helvetica World"/>
                <a:sym typeface="Helvetica World"/>
              </a:rPr>
              <a:t>LOS</a:t>
            </a:r>
            <a:r>
              <a:rPr lang="en-US" sz="2100" spc="-37" strike="noStrike" u="none" i="0">
                <a:solidFill>
                  <a:srgbClr val="071D30"/>
                </a:solidFill>
                <a:latin typeface="Helvetica World"/>
                <a:ea typeface="Helvetica World"/>
                <a:cs typeface="Helvetica World"/>
                <a:sym typeface="Helvetica World"/>
              </a:rPr>
              <a:t> y </a:t>
            </a:r>
            <a:r>
              <a:rPr lang="en-US" sz="2100" spc="-37" strike="noStrike" u="none" i="1">
                <a:solidFill>
                  <a:srgbClr val="071D30"/>
                </a:solidFill>
                <a:latin typeface="Helvetica World"/>
                <a:ea typeface="Helvetica World"/>
                <a:cs typeface="Helvetica World"/>
                <a:sym typeface="Helvetica World"/>
              </a:rPr>
              <a:t>B</a:t>
            </a:r>
            <a:r>
              <a:rPr lang="en-US" sz="2100" spc="-37" strike="noStrike" u="none" i="0" baseline="-25000">
                <a:solidFill>
                  <a:srgbClr val="071D30"/>
                </a:solidFill>
                <a:latin typeface="Helvetica World"/>
                <a:ea typeface="Helvetica World"/>
                <a:cs typeface="Helvetica World"/>
                <a:sym typeface="Helvetica World"/>
              </a:rPr>
              <a:t>LOS</a:t>
            </a:r>
            <a:r>
              <a:rPr lang="en-US" sz="2100" spc="-37" strike="noStrike" u="none" i="0">
                <a:solidFill>
                  <a:srgbClr val="071D30"/>
                </a:solidFill>
                <a:latin typeface="Helvetica World"/>
                <a:ea typeface="Helvetica World"/>
                <a:cs typeface="Helvetica World"/>
                <a:sym typeface="Helvetica World"/>
              </a:rPr>
              <a:t> en </a:t>
            </a:r>
            <a:r>
              <a:rPr lang="en-US" sz="2100" spc="-37" strike="noStrike" u="none" b="1" i="0">
                <a:solidFill>
                  <a:srgbClr val="071D30"/>
                </a:solidFill>
                <a:latin typeface="Helvetica World Bold"/>
                <a:ea typeface="Helvetica World Bold"/>
                <a:cs typeface="Helvetica World Bold"/>
                <a:sym typeface="Helvetica World"/>
              </a:rPr>
              <a:t>45 nodos</a:t>
            </a:r>
            <a:r>
              <a:rPr lang="en-US" sz="2100" spc="-37" strike="noStrike" u="none" i="0">
                <a:solidFill>
                  <a:srgbClr val="071D30"/>
                </a:solidFill>
                <a:latin typeface="Helvetica World"/>
                <a:ea typeface="Helvetica World"/>
                <a:cs typeface="Helvetica World"/>
                <a:sym typeface="Helvetica World"/>
              </a:rPr>
              <a:t> de profundidad óptica</a:t>
            </a:r>
          </a:p>
          <a:p>
            <a:pPr algn="l" marL="539748" indent="-269874" lvl="1">
              <a:lnSpc>
                <a:spcPts val="2940"/>
              </a:lnSpc>
              <a:spcBef>
                <a:spcPct val="0"/>
              </a:spcBef>
              <a:buFont typeface="Arial"/>
              <a:buChar char="•"/>
            </a:pPr>
            <a:r>
              <a:rPr lang="en-US" sz="2100" spc="-37" strike="noStrike" u="none" i="0">
                <a:solidFill>
                  <a:srgbClr val="071D30"/>
                </a:solidFill>
                <a:latin typeface="Helvetica World"/>
                <a:ea typeface="Helvetica World"/>
                <a:cs typeface="Helvetica World"/>
                <a:sym typeface="Helvetica World"/>
              </a:rPr>
              <a:t>CNN multiescala entrenada con perfiles de </a:t>
            </a:r>
            <a:r>
              <a:rPr lang="en-US" sz="2100" spc="-37" strike="noStrike" u="none" b="1" i="0">
                <a:solidFill>
                  <a:srgbClr val="071D30"/>
                </a:solidFill>
                <a:latin typeface="Helvetica World Bold"/>
                <a:ea typeface="Helvetica World Bold"/>
                <a:cs typeface="Helvetica World Bold"/>
                <a:sym typeface="Helvetica World"/>
              </a:rPr>
              <a:t>NICOLE</a:t>
            </a:r>
            <a:r>
              <a:rPr lang="en-US" sz="2100" spc="-37" strike="noStrike" u="none" i="0">
                <a:solidFill>
                  <a:srgbClr val="071D30"/>
                </a:solidFill>
                <a:latin typeface="Helvetica World"/>
                <a:ea typeface="Helvetica World"/>
                <a:cs typeface="Helvetica World"/>
                <a:sym typeface="Helvetica World"/>
              </a:rPr>
              <a:t> sobre simulaciones </a:t>
            </a:r>
            <a:r>
              <a:rPr lang="en-US" sz="2100" spc="-37" strike="noStrike" u="none" b="1" i="0">
                <a:solidFill>
                  <a:srgbClr val="071D30"/>
                </a:solidFill>
                <a:latin typeface="Helvetica World Bold"/>
                <a:ea typeface="Helvetica World Bold"/>
                <a:cs typeface="Helvetica World Bold"/>
                <a:sym typeface="Helvetica World"/>
              </a:rPr>
              <a:t>MURaM</a:t>
            </a:r>
          </a:p>
          <a:p>
            <a:pPr algn="l" marL="539748" indent="-269874" lvl="1">
              <a:lnSpc>
                <a:spcPts val="2940"/>
              </a:lnSpc>
              <a:spcBef>
                <a:spcPct val="0"/>
              </a:spcBef>
              <a:buFont typeface="Arial"/>
              <a:buChar char="•"/>
            </a:pPr>
            <a:r>
              <a:rPr lang="en-US" sz="2100" spc="-37" strike="noStrike" u="none" i="0">
                <a:solidFill>
                  <a:srgbClr val="071D30"/>
                </a:solidFill>
                <a:latin typeface="Helvetica World"/>
                <a:ea typeface="Helvetica World"/>
                <a:cs typeface="Helvetica World"/>
                <a:sym typeface="Helvetica World"/>
              </a:rPr>
              <a:t>Loss con términos físicos: </a:t>
            </a:r>
            <a:r>
              <a:rPr lang="en-US" sz="2100" spc="-37" strike="noStrike" u="none" b="1" i="0">
                <a:solidFill>
                  <a:srgbClr val="071D30"/>
                </a:solidFill>
                <a:latin typeface="Helvetica World Bold"/>
                <a:ea typeface="Helvetica World Bold"/>
                <a:cs typeface="Helvetica World Bold"/>
                <a:sym typeface="Helvetica World"/>
              </a:rPr>
              <a:t>WFA</a:t>
            </a:r>
            <a:r>
              <a:rPr lang="en-US" sz="2100" spc="-37" strike="noStrike" u="none" i="0">
                <a:solidFill>
                  <a:srgbClr val="071D30"/>
                </a:solidFill>
                <a:latin typeface="Helvetica World"/>
                <a:ea typeface="Helvetica World"/>
                <a:cs typeface="Helvetica World"/>
                <a:sym typeface="Helvetica World"/>
              </a:rPr>
              <a:t>, Doppler y cuerpo negro</a:t>
            </a:r>
          </a:p>
          <a:p>
            <a:pPr algn="l" marL="539748" indent="-269874" lvl="1">
              <a:lnSpc>
                <a:spcPts val="2940"/>
              </a:lnSpc>
              <a:spcBef>
                <a:spcPct val="0"/>
              </a:spcBef>
              <a:buFont typeface="Arial"/>
              <a:buChar char="•"/>
            </a:pPr>
            <a:r>
              <a:rPr lang="en-US" sz="2100" spc="-37" strike="noStrike" u="none" i="0">
                <a:solidFill>
                  <a:srgbClr val="071D30"/>
                </a:solidFill>
                <a:latin typeface="Helvetica World"/>
                <a:ea typeface="Helvetica World"/>
                <a:cs typeface="Helvetica World"/>
                <a:sym typeface="Helvetica World"/>
              </a:rPr>
              <a:t>480 × 480 px en una GPU, </a:t>
            </a:r>
            <a:r>
              <a:rPr lang="en-US" sz="2100" spc="-37" strike="noStrike" u="none" i="0">
                <a:solidFill>
                  <a:srgbClr val="071D30"/>
                </a:solidFill>
                <a:latin typeface="Helvetica World"/>
                <a:ea typeface="Helvetica World"/>
                <a:cs typeface="Helvetica World"/>
                <a:sym typeface="Helvetica World"/>
              </a:rPr>
              <a:t>10</a:t>
            </a:r>
            <a:r>
              <a:rPr lang="en-US" sz="2100" spc="-37" strike="noStrike" u="none" i="0" baseline="30000">
                <a:solidFill>
                  <a:srgbClr val="071D30"/>
                </a:solidFill>
                <a:latin typeface="Helvetica World"/>
                <a:ea typeface="Helvetica World"/>
                <a:cs typeface="Helvetica World"/>
                <a:sym typeface="Helvetica World"/>
              </a:rPr>
              <a:t>3</a:t>
            </a:r>
            <a:r>
              <a:rPr lang="en-US" sz="2100" spc="-37" strike="noStrike" u="none" i="0">
                <a:solidFill>
                  <a:srgbClr val="071D30"/>
                </a:solidFill>
                <a:latin typeface="Helvetica World"/>
                <a:ea typeface="Helvetica World"/>
                <a:cs typeface="Helvetica World"/>
                <a:sym typeface="Helvetica World"/>
              </a:rPr>
              <a:t>–</a:t>
            </a:r>
            <a:r>
              <a:rPr lang="en-US" sz="2100" spc="-37" strike="noStrike" u="none" i="0">
                <a:solidFill>
                  <a:srgbClr val="071D30"/>
                </a:solidFill>
                <a:latin typeface="Helvetica World"/>
                <a:ea typeface="Helvetica World"/>
                <a:cs typeface="Helvetica World"/>
                <a:sym typeface="Helvetica World"/>
              </a:rPr>
              <a:t>10</a:t>
            </a:r>
            <a:r>
              <a:rPr lang="en-US" sz="2100" spc="-37" strike="noStrike" u="none" i="0" baseline="30000">
                <a:solidFill>
                  <a:srgbClr val="071D30"/>
                </a:solidFill>
                <a:latin typeface="Helvetica World"/>
                <a:ea typeface="Helvetica World"/>
                <a:cs typeface="Helvetica World"/>
                <a:sym typeface="Helvetica World"/>
              </a:rPr>
              <a:t>4</a:t>
            </a:r>
            <a:r>
              <a:rPr lang="en-US" sz="2100" spc="-37" strike="noStrike" u="none" i="0">
                <a:solidFill>
                  <a:srgbClr val="071D30"/>
                </a:solidFill>
                <a:latin typeface="Helvetica World"/>
                <a:ea typeface="Helvetica World"/>
                <a:cs typeface="Helvetica World"/>
                <a:sym typeface="Helvetica World"/>
              </a:rPr>
              <a:t> veces más rápido que sintetizar con NICOLE</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4840"/>
              </a:lnSpc>
              <a:spcBef>
                <a:spcPct val="0"/>
              </a:spcBef>
            </a:pPr>
            <a:r>
              <a:rPr lang="en-US" sz="4400" spc="-179" strike="noStrike" u="none" i="0">
                <a:solidFill>
                  <a:srgbClr val="071D30"/>
                </a:solidFill>
                <a:latin typeface="Georgia Pro Condensed"/>
                <a:ea typeface="Georgia Pro Condensed"/>
                <a:cs typeface="Georgia Pro Condensed"/>
                <a:sym typeface="Georgia Pro Condensed"/>
              </a:rPr>
              <a:t>MUISCA: inversión de Stokes con física</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EN PREPARACIÓN</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En preparación: el término WFA generaliza mejor, pero aún no iguala a los códigos numéricos.</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Arquitectura y </a:t>
            </a:r>
            <a:r>
              <a:rPr lang="en-US" sz="1350" i="1">
                <a:solidFill>
                  <a:srgbClr val="F5F7FA"/>
                </a:solidFill>
                <a:latin typeface="Arimo"/>
                <a:ea typeface="Arimo"/>
                <a:cs typeface="Arimo"/>
                <a:sym typeface="Arimo"/>
              </a:rPr>
              <a:t>B</a:t>
            </a:r>
            <a:r>
              <a:rPr lang="en-US" sz="1350" i="0" baseline="-25000">
                <a:solidFill>
                  <a:srgbClr val="F5F7FA"/>
                </a:solidFill>
                <a:latin typeface="Arimo"/>
                <a:ea typeface="Arimo"/>
                <a:cs typeface="Arimo"/>
                <a:sym typeface="Arimo"/>
              </a:rPr>
              <a:t>LOS</a:t>
            </a:r>
            <a:r>
              <a:rPr lang="en-US" sz="1350" i="0">
                <a:solidFill>
                  <a:srgbClr val="F5F7FA"/>
                </a:solidFill>
                <a:latin typeface="Arimo"/>
                <a:ea typeface="Arimo"/>
                <a:cs typeface="Arimo"/>
                <a:sym typeface="Arimo"/>
              </a:rPr>
              <a:t> en una mancha (Hinode/MODEST, log </a:t>
            </a:r>
            <a:r>
              <a:rPr lang="en-US" sz="1350" i="1">
                <a:solidFill>
                  <a:srgbClr val="F5F7FA"/>
                </a:solidFill>
                <a:latin typeface="Arimo"/>
                <a:ea typeface="Arimo"/>
                <a:cs typeface="Arimo"/>
                <a:sym typeface="Arimo"/>
              </a:rPr>
              <a:t>τ</a:t>
            </a:r>
            <a:r>
              <a:rPr lang="en-US" sz="1350" i="0">
                <a:solidFill>
                  <a:srgbClr val="F5F7FA"/>
                </a:solidFill>
                <a:latin typeface="Arimo"/>
                <a:ea typeface="Arimo"/>
                <a:cs typeface="Arimo"/>
                <a:sym typeface="Arimo"/>
              </a:rPr>
              <a:t> = −0,8). Agudelo Ortiz, Morales, Vargas Domínguez, Castellanos Durán y Shelyag, en prep.</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muisca_compuesta.png"/>
          <p:cNvPicPr>
            <a:picLocks noChangeAspect="1"/>
          </p:cNvPicPr>
          <p:nvPr/>
        </p:nvPicPr>
        <p:blipFill>
          <a:blip r:embed="rId5"/>
          <a:stretch>
            <a:fillRect/>
          </a:stretch>
        </p:blipFill>
        <p:spPr>
          <a:xfrm>
            <a:off x="9432000" y="865530"/>
            <a:ext cx="8424000" cy="770094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Agudelo Ortiz, Morales, Vargas Domínguez, Castellanos Durán y Shelyag, MUISCA (en preparación).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F5F7FA"/>
                </a:solidFill>
                <a:latin typeface="Helvetica World"/>
                <a:ea typeface="Helvetica World"/>
                <a:cs typeface="Helvetica World"/>
                <a:sym typeface="Helvetica World"/>
              </a:rPr>
              <a:t>19</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7F8C"/>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2067009"/>
            <a:chOff x="0" y="0"/>
            <a:chExt cx="17259300" cy="2756012"/>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6500"/>
                </a:lnSpc>
                <a:spcBef>
                  <a:spcPct val="0"/>
                </a:spcBef>
              </a:pPr>
              <a:r>
                <a:rPr lang="en-US" sz="5000" spc="-240" strike="noStrike" u="none" i="0">
                  <a:solidFill>
                    <a:srgbClr val="F5B82E"/>
                  </a:solidFill>
                  <a:latin typeface="Georgia Pro Condensed"/>
                  <a:ea typeface="Georgia Pro Condensed"/>
                  <a:cs typeface="Georgia Pro Condensed"/>
                  <a:sym typeface="Georgia Pro Condensed"/>
                </a:rPr>
                <a:t>Por tarea vs. foundation model</a:t>
              </a:r>
            </a:p>
          </p:txBody>
        </p:sp>
        <p:sp>
          <p:nvSpPr>
            <p:cNvPr name="TextBox 8" id="8"/>
            <p:cNvSpPr txBox="true"/>
            <p:nvPr/>
          </p:nvSpPr>
          <p:spPr>
            <a:xfrm rot="0">
              <a:off x="0" y="2197212"/>
              <a:ext cx="172593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F5F7FA"/>
                  </a:solidFill>
                  <a:latin typeface="Helvetica World Bold"/>
                  <a:ea typeface="Helvetica World Bold"/>
                  <a:cs typeface="Helvetica World Bold"/>
                  <a:sym typeface="Helvetica World Bold"/>
                </a:rPr>
                <a:t>Del modelo especializado al foundation model</a:t>
              </a:r>
            </a:p>
          </p:txBody>
        </p:sp>
      </p:grpSp>
      <p:grpSp>
        <p:nvGrpSpPr>
          <p:cNvPr name="Group 9" id="9"/>
          <p:cNvGrpSpPr/>
          <p:nvPr/>
        </p:nvGrpSpPr>
        <p:grpSpPr>
          <a:xfrm rot="0">
            <a:off x="1800225" y="5143500"/>
            <a:ext cx="5753100" cy="1844675"/>
            <a:chOff x="0" y="0"/>
            <a:chExt cx="7670800" cy="2459567"/>
          </a:xfrm>
        </p:grpSpPr>
        <p:sp>
          <p:nvSpPr>
            <p:cNvPr name="TextBox 10" id="10"/>
            <p:cNvSpPr txBox="true"/>
            <p:nvPr/>
          </p:nvSpPr>
          <p:spPr>
            <a:xfrm rot="0">
              <a:off x="0" y="9525"/>
              <a:ext cx="76708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Un modelo por tarea</a:t>
              </a:r>
            </a:p>
          </p:txBody>
        </p:sp>
        <p:sp>
          <p:nvSpPr>
            <p:cNvPr name="TextBox 11" id="11"/>
            <p:cNvSpPr txBox="true"/>
            <p:nvPr/>
          </p:nvSpPr>
          <p:spPr>
            <a:xfrm rot="0">
              <a:off x="0" y="1079500"/>
              <a:ext cx="76708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Una red para una sola tarea</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Sus propios labels e instrumento</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U-Net, Enhance, FarNet, MUISCA</a:t>
              </a:r>
            </a:p>
          </p:txBody>
        </p:sp>
      </p:grpSp>
      <p:grpSp>
        <p:nvGrpSpPr>
          <p:cNvPr name="Group 12" id="12"/>
          <p:cNvGrpSpPr/>
          <p:nvPr/>
        </p:nvGrpSpPr>
        <p:grpSpPr>
          <a:xfrm rot="0">
            <a:off x="9296400" y="5143500"/>
            <a:ext cx="5448300" cy="1844675"/>
            <a:chOff x="0" y="0"/>
            <a:chExt cx="7264400" cy="2459567"/>
          </a:xfrm>
        </p:grpSpPr>
        <p:sp>
          <p:nvSpPr>
            <p:cNvPr name="TextBox 13" id="13"/>
            <p:cNvSpPr txBox="true"/>
            <p:nvPr/>
          </p:nvSpPr>
          <p:spPr>
            <a:xfrm rot="0">
              <a:off x="0" y="9525"/>
              <a:ext cx="72644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Foundation model (Surya)</a:t>
              </a:r>
            </a:p>
          </p:txBody>
        </p:sp>
        <p:sp>
          <p:nvSpPr>
            <p:cNvPr name="TextBox 14" id="14"/>
            <p:cNvSpPr txBox="true"/>
            <p:nvPr/>
          </p:nvSpPr>
          <p:spPr>
            <a:xfrm rot="0">
              <a:off x="0" y="1079500"/>
              <a:ext cx="72644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Pretrained con 13 canales de SDO</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Se adapta con poco fine-tuning (LoRA)</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Flares, viento solar, EUV…</a:t>
              </a:r>
            </a:p>
          </p:txBody>
        </p:sp>
      </p:grpSp>
      <p:grpSp>
        <p:nvGrpSpPr>
          <p:cNvPr name="Group 15" id="15"/>
          <p:cNvGrpSpPr/>
          <p:nvPr/>
        </p:nvGrpSpPr>
        <p:grpSpPr>
          <a:xfrm rot="0">
            <a:off x="8572500" y="5143500"/>
            <a:ext cx="28575" cy="2381250"/>
            <a:chOff x="0" y="0"/>
            <a:chExt cx="38100" cy="3175000"/>
          </a:xfrm>
        </p:grpSpPr>
        <p:sp>
          <p:nvSpPr>
            <p:cNvPr name="Freeform 16" id="16"/>
            <p:cNvSpPr/>
            <p:nvPr/>
          </p:nvSpPr>
          <p:spPr>
            <a:xfrm flipH="false" flipV="false" rot="0">
              <a:off x="0" y="0"/>
              <a:ext cx="38100" cy="3175000"/>
            </a:xfrm>
            <a:custGeom>
              <a:avLst/>
              <a:gdLst/>
              <a:ahLst/>
              <a:cxnLst/>
              <a:rect r="r" b="b" t="t" l="l"/>
              <a:pathLst>
                <a:path h="3175000" w="38100">
                  <a:moveTo>
                    <a:pt x="0" y="0"/>
                  </a:moveTo>
                  <a:lnTo>
                    <a:pt x="38100" y="0"/>
                  </a:lnTo>
                  <a:lnTo>
                    <a:pt x="38100" y="3175000"/>
                  </a:lnTo>
                  <a:lnTo>
                    <a:pt x="0" y="3175000"/>
                  </a:lnTo>
                  <a:close/>
                </a:path>
              </a:pathLst>
            </a:custGeom>
            <a:solidFill>
              <a:srgbClr val="F5B82E"/>
            </a:solidFill>
          </p:spPr>
        </p:sp>
        <p:sp>
          <p:nvSpPr>
            <p:cNvPr name="TextBox 17" id="17"/>
            <p:cNvSpPr txBox="true"/>
            <p:nvPr/>
          </p:nvSpPr>
          <p:spPr>
            <a:xfrm>
              <a:off x="0" y="-38100"/>
              <a:ext cx="38100" cy="3213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15049500" y="1238250"/>
            <a:ext cx="1905000" cy="1905000"/>
            <a:chOff x="0" y="0"/>
            <a:chExt cx="2540000" cy="2540000"/>
          </a:xfrm>
        </p:grpSpPr>
        <p:sp>
          <p:nvSpPr>
            <p:cNvPr name="Freeform 23" id="23"/>
            <p:cNvSpPr/>
            <p:nvPr/>
          </p:nvSpPr>
          <p:spPr>
            <a:xfrm flipH="false" flipV="false" rot="0">
              <a:off x="285750" y="285750"/>
              <a:ext cx="1968500" cy="1968500"/>
            </a:xfrm>
            <a:custGeom>
              <a:avLst/>
              <a:gdLst/>
              <a:ahLst/>
              <a:cxnLst/>
              <a:rect r="r" b="b" t="t" l="l"/>
              <a:pathLst>
                <a:path h="1968500" w="1968500">
                  <a:moveTo>
                    <a:pt x="423333" y="984250"/>
                  </a:moveTo>
                  <a:cubicBezTo>
                    <a:pt x="423333" y="1294036"/>
                    <a:pt x="674464" y="1545167"/>
                    <a:pt x="984250" y="1545167"/>
                  </a:cubicBezTo>
                  <a:cubicBezTo>
                    <a:pt x="1294036" y="1545167"/>
                    <a:pt x="1545167" y="1294036"/>
                    <a:pt x="1545167" y="984250"/>
                  </a:cubicBezTo>
                  <a:cubicBezTo>
                    <a:pt x="1545167" y="674464"/>
                    <a:pt x="1294036" y="423333"/>
                    <a:pt x="984250" y="423333"/>
                  </a:cubicBezTo>
                  <a:cubicBezTo>
                    <a:pt x="674464" y="423333"/>
                    <a:pt x="423333" y="674464"/>
                    <a:pt x="423333" y="984250"/>
                  </a:cubicBezTo>
                  <a:close/>
                  <a:moveTo>
                    <a:pt x="1917700" y="401108"/>
                  </a:moveTo>
                  <a:cubicBezTo>
                    <a:pt x="1852103" y="289672"/>
                    <a:pt x="1611364" y="298681"/>
                    <a:pt x="1287048" y="424711"/>
                  </a:cubicBezTo>
                  <a:cubicBezTo>
                    <a:pt x="962732" y="550740"/>
                    <a:pt x="604683" y="774419"/>
                    <a:pt x="349085" y="1010672"/>
                  </a:cubicBezTo>
                  <a:cubicBezTo>
                    <a:pt x="93487" y="1246925"/>
                    <a:pt x="-20378" y="1459442"/>
                    <a:pt x="50800" y="1567392"/>
                  </a:cubicBezTo>
                  <a:cubicBezTo>
                    <a:pt x="116397" y="1678828"/>
                    <a:pt x="357136" y="1669819"/>
                    <a:pt x="681452" y="1543789"/>
                  </a:cubicBezTo>
                  <a:cubicBezTo>
                    <a:pt x="1005768" y="1417760"/>
                    <a:pt x="1363817" y="1194081"/>
                    <a:pt x="1619415" y="957828"/>
                  </a:cubicBezTo>
                  <a:cubicBezTo>
                    <a:pt x="1875013" y="721575"/>
                    <a:pt x="1988878" y="509058"/>
                    <a:pt x="1917700" y="401108"/>
                  </a:cubicBezTo>
                  <a:close/>
                  <a:moveTo>
                    <a:pt x="984250" y="169333"/>
                  </a:moveTo>
                  <a:lnTo>
                    <a:pt x="984250" y="0"/>
                  </a:lnTo>
                  <a:moveTo>
                    <a:pt x="984250" y="1968500"/>
                  </a:moveTo>
                  <a:lnTo>
                    <a:pt x="984250" y="1799167"/>
                  </a:lnTo>
                  <a:moveTo>
                    <a:pt x="169333" y="984250"/>
                  </a:moveTo>
                  <a:lnTo>
                    <a:pt x="0" y="984250"/>
                  </a:lnTo>
                  <a:moveTo>
                    <a:pt x="1968500" y="984250"/>
                  </a:moveTo>
                  <a:lnTo>
                    <a:pt x="1799167" y="984250"/>
                  </a:lnTo>
                  <a:moveTo>
                    <a:pt x="412750" y="412750"/>
                  </a:moveTo>
                  <a:lnTo>
                    <a:pt x="296333" y="296333"/>
                  </a:lnTo>
                  <a:moveTo>
                    <a:pt x="1555750" y="1555750"/>
                  </a:moveTo>
                  <a:lnTo>
                    <a:pt x="1672167" y="1672167"/>
                  </a:lnTo>
                  <a:moveTo>
                    <a:pt x="465667" y="1058333"/>
                  </a:moveTo>
                  <a:lnTo>
                    <a:pt x="698500" y="1058333"/>
                  </a:lnTo>
                  <a:lnTo>
                    <a:pt x="814917" y="814917"/>
                  </a:lnTo>
                  <a:lnTo>
                    <a:pt x="994833" y="1238250"/>
                  </a:lnTo>
                  <a:lnTo>
                    <a:pt x="1153583" y="920750"/>
                  </a:lnTo>
                  <a:lnTo>
                    <a:pt x="1259417" y="1058333"/>
                  </a:lnTo>
                  <a:lnTo>
                    <a:pt x="1513417" y="1058333"/>
                  </a:lnTo>
                </a:path>
              </a:pathLst>
            </a:custGeom>
            <a:ln w="47625" cap="sq">
              <a:solidFill>
                <a:srgbClr val="F5B82E"/>
              </a:solidFill>
              <a:prstDash val="solid"/>
              <a:miter/>
            </a:ln>
          </p:spPr>
        </p:sp>
        <p:sp>
          <p:nvSpPr>
            <p:cNvPr name="TextBox 24" id="24"/>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5049500" y="1238250"/>
            <a:ext cx="1905000" cy="1905000"/>
            <a:chOff x="0" y="0"/>
            <a:chExt cx="2540000" cy="2540000"/>
          </a:xfrm>
        </p:grpSpPr>
        <p:sp>
          <p:nvSpPr>
            <p:cNvPr name="Freeform 26" id="26"/>
            <p:cNvSpPr/>
            <p:nvPr/>
          </p:nvSpPr>
          <p:spPr>
            <a:xfrm flipH="false" flipV="false" rot="0">
              <a:off x="1820333" y="328083"/>
              <a:ext cx="338667" cy="338667"/>
            </a:xfrm>
            <a:custGeom>
              <a:avLst/>
              <a:gdLst/>
              <a:ahLst/>
              <a:cxnLst/>
              <a:rect r="r" b="b" t="t" l="l"/>
              <a:pathLst>
                <a:path h="338667" w="338667">
                  <a:moveTo>
                    <a:pt x="169334" y="0"/>
                  </a:moveTo>
                  <a:lnTo>
                    <a:pt x="211667" y="127000"/>
                  </a:lnTo>
                  <a:lnTo>
                    <a:pt x="338667" y="169334"/>
                  </a:lnTo>
                  <a:lnTo>
                    <a:pt x="211667" y="211667"/>
                  </a:lnTo>
                  <a:lnTo>
                    <a:pt x="169334" y="338667"/>
                  </a:lnTo>
                  <a:lnTo>
                    <a:pt x="127000" y="211667"/>
                  </a:lnTo>
                  <a:lnTo>
                    <a:pt x="0" y="169334"/>
                  </a:lnTo>
                  <a:lnTo>
                    <a:pt x="127000" y="127000"/>
                  </a:lnTo>
                  <a:close/>
                </a:path>
              </a:pathLst>
            </a:custGeom>
            <a:solidFill>
              <a:srgbClr val="FFFFFF"/>
            </a:solidFill>
          </p:spPr>
        </p:sp>
        <p:sp>
          <p:nvSpPr>
            <p:cNvPr name="TextBox 27" id="27"/>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29" id="29"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30" id="30"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
        <p:nvSpPr>
          <p:cNvPr id="31" name="TextBox 30"/>
          <p:cNvSpPr txBox="1"/>
          <p:nvPr/>
        </p:nvSpPr>
        <p:spPr>
          <a:xfrm>
            <a:off x="1800000" y="9108000"/>
            <a:ext cx="14400000" cy="576000"/>
          </a:xfrm>
          <a:prstGeom prst="rect">
            <a:avLst/>
          </a:prstGeom>
          <a:noFill/>
        </p:spPr>
        <p:txBody>
          <a:bodyPr wrap="square" lIns="0" rIns="0" tIns="0" bIns="0">
            <a:spAutoFit/>
          </a:bodyPr>
          <a:lstStyle/>
          <a:p>
            <a:r>
              <a:rPr sz="1100">
                <a:solidFill>
                  <a:srgbClr val="DCEEF0"/>
                </a:solidFill>
                <a:latin typeface="Arimo"/>
              </a:rPr>
              <a:t>Referencias: Roy et al. (2025), arXiv:2508.14112 (Surya).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F5F7FA"/>
                </a:solidFill>
                <a:latin typeface="Helvetica World"/>
                <a:ea typeface="Helvetica World"/>
                <a:cs typeface="Helvetica World"/>
                <a:sym typeface="Helvetica World"/>
              </a:rPr>
              <a:t>20</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5B82E"/>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1619250" y="5248275"/>
            <a:ext cx="12944475" cy="1298575"/>
          </a:xfrm>
          <a:prstGeom prst="rect">
            <a:avLst/>
          </a:prstGeom>
        </p:spPr>
        <p:txBody>
          <a:bodyPr anchor="t" rtlCol="false" tIns="0" lIns="0" bIns="0" rIns="0">
            <a:spAutoFit/>
          </a:bodyPr>
          <a:lstStyle/>
          <a:p>
            <a:pPr algn="l" marL="0" indent="0" lvl="0">
              <a:lnSpc>
                <a:spcPts val="8320"/>
              </a:lnSpc>
              <a:spcBef>
                <a:spcPct val="0"/>
              </a:spcBef>
            </a:pPr>
            <a:r>
              <a:rPr lang="en-US" sz="6400" spc="-240" strike="noStrike" u="none" i="0">
                <a:solidFill>
                  <a:srgbClr val="071D30"/>
                </a:solidFill>
                <a:latin typeface="Georgia Pro Condensed"/>
                <a:ea typeface="Georgia Pro Condensed"/>
                <a:cs typeface="Georgia Pro Condensed"/>
                <a:sym typeface="Georgia Pro Condensed"/>
              </a:rPr>
              <a:t>Mi investigación: un copiloto</a:t>
            </a:r>
          </a:p>
        </p:txBody>
      </p:sp>
      <p:sp>
        <p:nvSpPr>
          <p:cNvPr name="TextBox 7" id="7"/>
          <p:cNvSpPr txBox="true"/>
          <p:nvPr/>
        </p:nvSpPr>
        <p:spPr>
          <a:xfrm rot="0">
            <a:off x="1524000" y="2628900"/>
            <a:ext cx="6667500" cy="2266950"/>
          </a:xfrm>
          <a:prstGeom prst="rect">
            <a:avLst/>
          </a:prstGeom>
        </p:spPr>
        <p:txBody>
          <a:bodyPr anchor="t" rtlCol="false" tIns="0" lIns="0" bIns="0" rIns="0">
            <a:spAutoFit/>
          </a:bodyPr>
          <a:lstStyle/>
          <a:p>
            <a:pPr algn="l">
              <a:lnSpc>
                <a:spcPts val="16500"/>
              </a:lnSpc>
            </a:pPr>
            <a:r>
              <a:rPr lang="en-US" sz="16500" b="true" i="0">
                <a:solidFill>
                  <a:srgbClr val="071D30"/>
                </a:solidFill>
                <a:latin typeface="Arimo Bold"/>
                <a:ea typeface="Arimo Bold"/>
                <a:cs typeface="Arimo Bold"/>
                <a:sym typeface="Arimo Bold"/>
              </a:rPr>
              <a:t>03</a:t>
            </a:r>
          </a:p>
        </p:txBody>
      </p:sp>
      <p:sp>
        <p:nvSpPr>
          <p:cNvPr name="TextBox 8" id="8"/>
          <p:cNvSpPr txBox="true"/>
          <p:nvPr/>
        </p:nvSpPr>
        <p:spPr>
          <a:xfrm rot="0">
            <a:off x="1638300" y="1752600"/>
            <a:ext cx="4762500" cy="350520"/>
          </a:xfrm>
          <a:prstGeom prst="rect">
            <a:avLst/>
          </a:prstGeom>
        </p:spPr>
        <p:txBody>
          <a:bodyPr anchor="t" rtlCol="false" tIns="0" lIns="0" bIns="0" rIns="0">
            <a:spAutoFit/>
          </a:bodyPr>
          <a:lstStyle/>
          <a:p>
            <a:pPr algn="l">
              <a:lnSpc>
                <a:spcPts val="2729"/>
              </a:lnSpc>
            </a:pPr>
            <a:r>
              <a:rPr lang="en-US" sz="1950" b="true">
                <a:solidFill>
                  <a:srgbClr val="071D30"/>
                </a:solidFill>
                <a:latin typeface="Arimo Bold"/>
                <a:ea typeface="Arimo Bold"/>
                <a:cs typeface="Arimo Bold"/>
                <a:sym typeface="Arimo Bold"/>
              </a:rPr>
              <a:t>SECCIÓN</a:t>
            </a:r>
          </a:p>
        </p:txBody>
      </p:sp>
      <p:sp>
        <p:nvSpPr>
          <p:cNvPr name="TextBox 9" id="9"/>
          <p:cNvSpPr txBox="true"/>
          <p:nvPr/>
        </p:nvSpPr>
        <p:spPr>
          <a:xfrm rot="0">
            <a:off x="1638300" y="6791325"/>
            <a:ext cx="10477500" cy="499110"/>
          </a:xfrm>
          <a:prstGeom prst="rect">
            <a:avLst/>
          </a:prstGeom>
        </p:spPr>
        <p:txBody>
          <a:bodyPr anchor="t" rtlCol="false" tIns="0" lIns="0" bIns="0" rIns="0">
            <a:spAutoFit/>
          </a:bodyPr>
          <a:lstStyle/>
          <a:p>
            <a:pPr algn="l">
              <a:lnSpc>
                <a:spcPts val="3990"/>
              </a:lnSpc>
            </a:pPr>
            <a:r>
              <a:rPr lang="en-US" sz="2850" i="0">
                <a:solidFill>
                  <a:srgbClr val="071D30"/>
                </a:solidFill>
                <a:latin typeface="Arimo"/>
                <a:ea typeface="Arimo"/>
                <a:cs typeface="Arimo"/>
                <a:sym typeface="Arimo"/>
              </a:rPr>
              <a:t>¿Puede un modelo describir con palabras lo que ve Surya?</a:t>
            </a:r>
          </a:p>
        </p:txBody>
      </p:sp>
      <p:grpSp>
        <p:nvGrpSpPr>
          <p:cNvPr name="Group 10" id="10"/>
          <p:cNvGrpSpPr/>
          <p:nvPr/>
        </p:nvGrpSpPr>
        <p:grpSpPr>
          <a:xfrm rot="0">
            <a:off x="11715750" y="2095500"/>
            <a:ext cx="5334000" cy="5334000"/>
            <a:chOff x="0" y="0"/>
            <a:chExt cx="7112000" cy="7112000"/>
          </a:xfrm>
        </p:grpSpPr>
        <p:sp>
          <p:nvSpPr>
            <p:cNvPr name="Freeform 11" id="11"/>
            <p:cNvSpPr/>
            <p:nvPr/>
          </p:nvSpPr>
          <p:spPr>
            <a:xfrm flipH="false" flipV="false" rot="0">
              <a:off x="800100" y="800100"/>
              <a:ext cx="5511800" cy="5511800"/>
            </a:xfrm>
            <a:custGeom>
              <a:avLst/>
              <a:gdLst/>
              <a:ahLst/>
              <a:cxnLst/>
              <a:rect r="r" b="b" t="t" l="l"/>
              <a:pathLst>
                <a:path h="5511800" w="5511800">
                  <a:moveTo>
                    <a:pt x="1185333" y="2755900"/>
                  </a:moveTo>
                  <a:cubicBezTo>
                    <a:pt x="1185333" y="3623300"/>
                    <a:pt x="1888500" y="4326467"/>
                    <a:pt x="2755900" y="4326467"/>
                  </a:cubicBezTo>
                  <a:cubicBezTo>
                    <a:pt x="3623300" y="4326467"/>
                    <a:pt x="4326467" y="3623300"/>
                    <a:pt x="4326467" y="2755900"/>
                  </a:cubicBezTo>
                  <a:cubicBezTo>
                    <a:pt x="4326467" y="1888500"/>
                    <a:pt x="3623300" y="1185333"/>
                    <a:pt x="2755900" y="1185333"/>
                  </a:cubicBezTo>
                  <a:cubicBezTo>
                    <a:pt x="1888500" y="1185333"/>
                    <a:pt x="1185333" y="1888500"/>
                    <a:pt x="1185333" y="2755900"/>
                  </a:cubicBezTo>
                  <a:close/>
                  <a:moveTo>
                    <a:pt x="5369560" y="1123103"/>
                  </a:moveTo>
                  <a:cubicBezTo>
                    <a:pt x="5185888" y="811081"/>
                    <a:pt x="4511819" y="836308"/>
                    <a:pt x="3603734" y="1189190"/>
                  </a:cubicBezTo>
                  <a:cubicBezTo>
                    <a:pt x="2695649" y="1542071"/>
                    <a:pt x="1693112" y="2168373"/>
                    <a:pt x="977437" y="2829881"/>
                  </a:cubicBezTo>
                  <a:cubicBezTo>
                    <a:pt x="261763" y="3491389"/>
                    <a:pt x="-57058" y="4086437"/>
                    <a:pt x="142240" y="4388697"/>
                  </a:cubicBezTo>
                  <a:cubicBezTo>
                    <a:pt x="325911" y="4700719"/>
                    <a:pt x="999981" y="4675492"/>
                    <a:pt x="1908066" y="4322611"/>
                  </a:cubicBezTo>
                  <a:cubicBezTo>
                    <a:pt x="2816151" y="3969729"/>
                    <a:pt x="3818688" y="3343427"/>
                    <a:pt x="4534363" y="2681919"/>
                  </a:cubicBezTo>
                  <a:cubicBezTo>
                    <a:pt x="5250037" y="2020411"/>
                    <a:pt x="5568857" y="1425364"/>
                    <a:pt x="5369560" y="1123103"/>
                  </a:cubicBezTo>
                  <a:close/>
                  <a:moveTo>
                    <a:pt x="2755900" y="474133"/>
                  </a:moveTo>
                  <a:lnTo>
                    <a:pt x="2755900" y="0"/>
                  </a:lnTo>
                  <a:moveTo>
                    <a:pt x="2755900" y="5511800"/>
                  </a:moveTo>
                  <a:lnTo>
                    <a:pt x="2755900" y="5037667"/>
                  </a:lnTo>
                  <a:moveTo>
                    <a:pt x="474133" y="2755900"/>
                  </a:moveTo>
                  <a:lnTo>
                    <a:pt x="0" y="2755900"/>
                  </a:lnTo>
                  <a:moveTo>
                    <a:pt x="5511800" y="2755900"/>
                  </a:moveTo>
                  <a:lnTo>
                    <a:pt x="5037667" y="2755900"/>
                  </a:lnTo>
                  <a:moveTo>
                    <a:pt x="1155700" y="1155700"/>
                  </a:moveTo>
                  <a:lnTo>
                    <a:pt x="829733" y="829733"/>
                  </a:lnTo>
                  <a:moveTo>
                    <a:pt x="4356100" y="4356100"/>
                  </a:moveTo>
                  <a:lnTo>
                    <a:pt x="4682067" y="4682067"/>
                  </a:lnTo>
                  <a:moveTo>
                    <a:pt x="1303867" y="2963333"/>
                  </a:moveTo>
                  <a:lnTo>
                    <a:pt x="1955800" y="2963333"/>
                  </a:lnTo>
                  <a:lnTo>
                    <a:pt x="2281767" y="2281767"/>
                  </a:lnTo>
                  <a:lnTo>
                    <a:pt x="2785533" y="3467100"/>
                  </a:lnTo>
                  <a:lnTo>
                    <a:pt x="3230033" y="2578100"/>
                  </a:lnTo>
                  <a:lnTo>
                    <a:pt x="3526367" y="2963333"/>
                  </a:lnTo>
                  <a:lnTo>
                    <a:pt x="4237567" y="2963333"/>
                  </a:lnTo>
                </a:path>
              </a:pathLst>
            </a:custGeom>
            <a:ln w="85725" cap="sq">
              <a:solidFill>
                <a:srgbClr val="071D30"/>
              </a:solidFill>
              <a:prstDash val="solid"/>
              <a:miter/>
            </a:ln>
          </p:spPr>
        </p:sp>
        <p:sp>
          <p:nvSpPr>
            <p:cNvPr name="TextBox 12" id="12"/>
            <p:cNvSpPr txBox="true"/>
            <p:nvPr/>
          </p:nvSpPr>
          <p:spPr>
            <a:xfrm>
              <a:off x="0" y="-38100"/>
              <a:ext cx="7112000" cy="7150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1715750" y="2095500"/>
            <a:ext cx="5334000" cy="5334000"/>
            <a:chOff x="0" y="0"/>
            <a:chExt cx="7112000" cy="7112000"/>
          </a:xfrm>
        </p:grpSpPr>
        <p:sp>
          <p:nvSpPr>
            <p:cNvPr name="Freeform 14" id="14"/>
            <p:cNvSpPr/>
            <p:nvPr/>
          </p:nvSpPr>
          <p:spPr>
            <a:xfrm flipH="false" flipV="false" rot="0">
              <a:off x="5096933" y="918633"/>
              <a:ext cx="948267" cy="948267"/>
            </a:xfrm>
            <a:custGeom>
              <a:avLst/>
              <a:gdLst/>
              <a:ahLst/>
              <a:cxnLst/>
              <a:rect r="r" b="b" t="t" l="l"/>
              <a:pathLst>
                <a:path h="948267" w="948267">
                  <a:moveTo>
                    <a:pt x="474134" y="0"/>
                  </a:moveTo>
                  <a:lnTo>
                    <a:pt x="592667" y="355600"/>
                  </a:lnTo>
                  <a:lnTo>
                    <a:pt x="948267" y="474134"/>
                  </a:lnTo>
                  <a:lnTo>
                    <a:pt x="592667" y="592667"/>
                  </a:lnTo>
                  <a:lnTo>
                    <a:pt x="474134" y="948267"/>
                  </a:lnTo>
                  <a:lnTo>
                    <a:pt x="355600" y="592667"/>
                  </a:lnTo>
                  <a:lnTo>
                    <a:pt x="0" y="474134"/>
                  </a:lnTo>
                  <a:lnTo>
                    <a:pt x="355600" y="355600"/>
                  </a:lnTo>
                  <a:close/>
                </a:path>
              </a:pathLst>
            </a:custGeom>
            <a:solidFill>
              <a:srgbClr val="FFFFFF"/>
            </a:solidFill>
          </p:spPr>
        </p:sp>
        <p:sp>
          <p:nvSpPr>
            <p:cNvPr name="TextBox 15" id="15"/>
            <p:cNvSpPr txBox="true"/>
            <p:nvPr/>
          </p:nvSpPr>
          <p:spPr>
            <a:xfrm>
              <a:off x="0" y="-38100"/>
              <a:ext cx="7112000" cy="7150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17" id="17"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18" id="18"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2632"/>
              </a:lnSpc>
              <a:spcBef>
                <a:spcPct val="0"/>
              </a:spcBef>
              <a:buFont typeface="Arial"/>
              <a:buChar char="•"/>
            </a:pPr>
            <a:r>
              <a:rPr lang="en-US" sz="1880" spc="-37" strike="noStrike" u="none" i="0">
                <a:solidFill>
                  <a:srgbClr val="071D30"/>
                </a:solidFill>
                <a:latin typeface="Helvetica World"/>
                <a:ea typeface="Helvetica World"/>
                <a:cs typeface="Helvetica World"/>
                <a:sym typeface="Helvetica World"/>
              </a:rPr>
              <a:t>Un modelo entrenado </a:t>
            </a:r>
            <a:r>
              <a:rPr lang="en-US" sz="1880" spc="-37" strike="noStrike" u="none" b="1" i="0">
                <a:solidFill>
                  <a:srgbClr val="071D30"/>
                </a:solidFill>
                <a:latin typeface="Helvetica World Bold"/>
                <a:ea typeface="Helvetica World Bold"/>
                <a:cs typeface="Helvetica World Bold"/>
                <a:sym typeface="Helvetica World"/>
              </a:rPr>
              <a:t>una vez</a:t>
            </a:r>
            <a:r>
              <a:rPr lang="en-US" sz="1880" spc="-37" strike="noStrike" u="none" i="0">
                <a:solidFill>
                  <a:srgbClr val="071D30"/>
                </a:solidFill>
                <a:latin typeface="Helvetica World"/>
                <a:ea typeface="Helvetica World"/>
                <a:cs typeface="Helvetica World"/>
                <a:sym typeface="Helvetica World"/>
              </a:rPr>
              <a:t> con datos muy amplios, que luego se adapta a </a:t>
            </a:r>
            <a:r>
              <a:rPr lang="en-US" sz="1880" spc="-37" strike="noStrike" u="none" b="1" i="0">
                <a:solidFill>
                  <a:srgbClr val="071D30"/>
                </a:solidFill>
                <a:latin typeface="Helvetica World Bold"/>
                <a:ea typeface="Helvetica World Bold"/>
                <a:cs typeface="Helvetica World Bold"/>
                <a:sym typeface="Helvetica World"/>
              </a:rPr>
              <a:t>muchas tareas</a:t>
            </a:r>
          </a:p>
          <a:p>
            <a:pPr algn="l" marL="539748" indent="-269874" lvl="1">
              <a:lnSpc>
                <a:spcPts val="2632"/>
              </a:lnSpc>
              <a:spcBef>
                <a:spcPct val="0"/>
              </a:spcBef>
              <a:buFont typeface="Arial"/>
              <a:buChar char="•"/>
            </a:pPr>
            <a:r>
              <a:rPr lang="en-US" sz="1880" spc="-37" strike="noStrike" u="none" b="1" i="0">
                <a:solidFill>
                  <a:srgbClr val="071D30"/>
                </a:solidFill>
                <a:latin typeface="Helvetica World Bold"/>
                <a:ea typeface="Helvetica World Bold"/>
                <a:cs typeface="Helvetica World Bold"/>
                <a:sym typeface="Helvetica World"/>
              </a:rPr>
              <a:t>Texto</a:t>
            </a:r>
            <a:r>
              <a:rPr lang="en-US" sz="1880" spc="-37" strike="noStrike" u="none" i="0">
                <a:solidFill>
                  <a:srgbClr val="071D30"/>
                </a:solidFill>
                <a:latin typeface="Helvetica World"/>
                <a:ea typeface="Helvetica World"/>
                <a:cs typeface="Helvetica World"/>
                <a:sym typeface="Helvetica World"/>
              </a:rPr>
              <a:t>: los asistentes de chat como ChatGPT, Claude o Gemini</a:t>
            </a:r>
          </a:p>
          <a:p>
            <a:pPr algn="l" marL="539748" indent="-269874" lvl="1">
              <a:lnSpc>
                <a:spcPts val="2632"/>
              </a:lnSpc>
              <a:spcBef>
                <a:spcPct val="0"/>
              </a:spcBef>
              <a:buFont typeface="Arial"/>
              <a:buChar char="•"/>
            </a:pPr>
            <a:r>
              <a:rPr lang="en-US" sz="1880" spc="-37" strike="noStrike" u="none" b="1" i="0">
                <a:solidFill>
                  <a:srgbClr val="071D30"/>
                </a:solidFill>
                <a:latin typeface="Helvetica World Bold"/>
                <a:ea typeface="Helvetica World Bold"/>
                <a:cs typeface="Helvetica World Bold"/>
                <a:sym typeface="Helvetica World"/>
              </a:rPr>
              <a:t>Imagen y voz</a:t>
            </a:r>
            <a:r>
              <a:rPr lang="en-US" sz="1880" spc="-37" strike="noStrike" u="none" i="0">
                <a:solidFill>
                  <a:srgbClr val="071D30"/>
                </a:solidFill>
                <a:latin typeface="Helvetica World"/>
                <a:ea typeface="Helvetica World"/>
                <a:cs typeface="Helvetica World"/>
                <a:sym typeface="Helvetica World"/>
              </a:rPr>
              <a:t>: generadores como Stable Diffusion y transcripción automática como Whisper</a:t>
            </a:r>
          </a:p>
          <a:p>
            <a:pPr algn="l" marL="539748" indent="-269874" lvl="1">
              <a:lnSpc>
                <a:spcPts val="2632"/>
              </a:lnSpc>
              <a:spcBef>
                <a:spcPct val="0"/>
              </a:spcBef>
              <a:buFont typeface="Arial"/>
              <a:buChar char="•"/>
            </a:pPr>
            <a:r>
              <a:rPr lang="en-US" sz="1880" spc="-37" strike="noStrike" u="none" b="1" i="0">
                <a:solidFill>
                  <a:srgbClr val="071D30"/>
                </a:solidFill>
                <a:latin typeface="Helvetica World Bold"/>
                <a:ea typeface="Helvetica World Bold"/>
                <a:cs typeface="Helvetica World Bold"/>
                <a:sym typeface="Helvetica World"/>
              </a:rPr>
              <a:t>Código</a:t>
            </a:r>
            <a:r>
              <a:rPr lang="en-US" sz="1880" spc="-37" strike="noStrike" u="none" i="0">
                <a:solidFill>
                  <a:srgbClr val="071D30"/>
                </a:solidFill>
                <a:latin typeface="Helvetica World"/>
                <a:ea typeface="Helvetica World"/>
                <a:cs typeface="Helvetica World"/>
                <a:sym typeface="Helvetica World"/>
              </a:rPr>
              <a:t>: asistentes de programación como GitHub Copilot</a:t>
            </a:r>
          </a:p>
          <a:p>
            <a:pPr algn="l" marL="539748" indent="-269874" lvl="1">
              <a:lnSpc>
                <a:spcPts val="2632"/>
              </a:lnSpc>
              <a:spcBef>
                <a:spcPct val="0"/>
              </a:spcBef>
              <a:buFont typeface="Arial"/>
              <a:buChar char="•"/>
            </a:pPr>
            <a:r>
              <a:rPr lang="en-US" sz="1880" spc="-37" strike="noStrike" u="none" i="0">
                <a:solidFill>
                  <a:srgbClr val="071D30"/>
                </a:solidFill>
                <a:latin typeface="Helvetica World"/>
                <a:ea typeface="Helvetica World"/>
                <a:cs typeface="Helvetica World"/>
                <a:sym typeface="Helvetica World"/>
              </a:rPr>
              <a:t>Cada tarea final es una </a:t>
            </a:r>
            <a:r>
              <a:rPr lang="en-US" sz="1880" spc="-37" strike="noStrike" u="none" b="1" i="0">
                <a:solidFill>
                  <a:srgbClr val="071D30"/>
                </a:solidFill>
                <a:latin typeface="Helvetica World Bold"/>
                <a:ea typeface="Helvetica World Bold"/>
                <a:cs typeface="Helvetica World Bold"/>
                <a:sym typeface="Helvetica World"/>
              </a:rPr>
              <a:t>downstream task</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204"/>
              </a:lnSpc>
              <a:spcBef>
                <a:spcPct val="0"/>
              </a:spcBef>
            </a:pPr>
            <a:r>
              <a:rPr lang="en-US" sz="5640" spc="-179" strike="noStrike" u="none" i="0">
                <a:solidFill>
                  <a:srgbClr val="071D30"/>
                </a:solidFill>
                <a:latin typeface="Georgia Pro Condensed"/>
                <a:ea typeface="Georgia Pro Condensed"/>
                <a:cs typeface="Georgia Pro Condensed"/>
                <a:sym typeface="Georgia Pro Condensed"/>
              </a:rPr>
              <a:t>¿Qué es un foundation model?</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Un mismo modelo base sirve para muchas tareas distintas, no uno por tarea.</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(esquema)</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foundation.png"/>
          <p:cNvPicPr>
            <a:picLocks noChangeAspect="1"/>
          </p:cNvPicPr>
          <p:nvPr/>
        </p:nvPicPr>
        <p:blipFill>
          <a:blip r:embed="rId5"/>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Bommasani et al. (2021), On the Opportunities and Risks of Foundation Models, arXiv:2108.07258 · Rombach et al. (2021), Stable Diffusion, arXiv:2112.10752 · Radford et al. (2022), Whisper, arXiv:2212.04356.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4" id="4"/>
          <p:cNvGrpSpPr/>
          <p:nvPr/>
        </p:nvGrpSpPr>
        <p:grpSpPr>
          <a:xfrm rot="0">
            <a:off x="0" y="0"/>
            <a:ext cx="182880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3" id="3"/>
          <p:cNvSpPr txBox="true"/>
          <p:nvPr/>
        </p:nvSpPr>
        <p:spPr>
          <a:xfrm rot="0">
            <a:off x="666750" y="380000"/>
            <a:ext cx="11500000"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F5F7FA"/>
                </a:solidFill>
                <a:latin typeface="Georgia Pro Condensed"/>
                <a:ea typeface="Georgia Pro Condensed"/>
                <a:cs typeface="Georgia Pro Condensed"/>
                <a:sym typeface="Georgia Pro Condensed"/>
              </a:rPr>
              <a:t>Foundation models que ya conocen</a:t>
            </a:r>
          </a:p>
        </p:txBody>
      </p:sp>
      <p:sp>
        <p:nvSpPr>
          <p:cNvPr name="TextBox 18" id="18"/>
          <p:cNvSpPr txBox="true"/>
          <p:nvPr/>
        </p:nvSpPr>
        <p:spPr>
          <a:xfrm rot="0">
            <a:off x="9048750" y="1300000"/>
            <a:ext cx="8572500" cy="241935"/>
          </a:xfrm>
          <a:prstGeom prst="rect">
            <a:avLst/>
          </a:prstGeom>
        </p:spPr>
        <p:txBody>
          <a:bodyPr anchor="t" rtlCol="false" tIns="0" lIns="0" bIns="0" rIns="0">
            <a:spAutoFit/>
          </a:bodyPr>
          <a:lstStyle/>
          <a:p>
            <a:pPr algn="r">
              <a:lnSpc>
                <a:spcPts val="1889"/>
              </a:lnSpc>
            </a:pPr>
            <a:r>
              <a:rPr lang="en-US" sz="1350" i="0">
                <a:solidFill>
                  <a:srgbClr val="F5F7FA"/>
                </a:solidFill>
                <a:latin typeface="Arimo"/>
                <a:ea typeface="Arimo"/>
                <a:cs typeface="Arimo"/>
                <a:sym typeface="Arimo"/>
              </a:rPr>
              <a:t>Logos de Wikimedia Commons; marcas de sus dueños, ver notas</a:t>
            </a:r>
          </a:p>
        </p:txBody>
      </p:sp>
      <p:pic>
        <p:nvPicPr>
          <p:cNvPr id="19" name="Collage logos" descr="collage_deep_learning.png"/>
          <p:cNvPicPr>
            <a:picLocks noChangeAspect="1"/>
          </p:cNvPicPr>
          <p:nvPr/>
        </p:nvPicPr>
        <p:blipFill>
          <a:blip r:embed="rId7"/>
          <a:stretch>
            <a:fillRect/>
          </a:stretch>
        </p:blipFill>
        <p:spPr>
          <a:xfrm>
            <a:off x="0" y="1885950"/>
            <a:ext cx="18288000" cy="8401050"/>
          </a:xfrm>
          <a:prstGeom prst="rect">
            <a:avLst/>
          </a:prstGeom>
        </p:spPr>
      </p:pic>
      <p:sp>
        <p:nvSpPr>
          <p:cNvPr id="23" name="Etiqueta ChatGPT"/>
          <p:cNvSpPr/>
          <p:nvPr/>
        </p:nvSpPr>
        <p:spPr>
          <a:xfrm>
            <a:off x="1372480" y="5343125"/>
            <a:ext cx="1126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ChatGPT</a:t>
            </a:r>
          </a:p>
        </p:txBody>
      </p:sp>
      <p:sp>
        <p:nvSpPr>
          <p:cNvPr id="23" name="Etiqueta Claude"/>
          <p:cNvSpPr/>
          <p:nvPr/>
        </p:nvSpPr>
        <p:spPr>
          <a:xfrm>
            <a:off x="5035740" y="5343125"/>
            <a:ext cx="1008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Claude</a:t>
            </a:r>
          </a:p>
        </p:txBody>
      </p:sp>
      <p:sp>
        <p:nvSpPr>
          <p:cNvPr id="23" name="Etiqueta Gemini"/>
          <p:cNvSpPr/>
          <p:nvPr/>
        </p:nvSpPr>
        <p:spPr>
          <a:xfrm>
            <a:off x="8640000" y="5343125"/>
            <a:ext cx="1008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Gemini</a:t>
            </a:r>
          </a:p>
        </p:txBody>
      </p:sp>
      <p:sp>
        <p:nvSpPr>
          <p:cNvPr id="23" name="Etiqueta Nano Banana"/>
          <p:cNvSpPr/>
          <p:nvPr/>
        </p:nvSpPr>
        <p:spPr>
          <a:xfrm>
            <a:off x="11949259" y="5343125"/>
            <a:ext cx="1598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Nano Banana</a:t>
            </a:r>
          </a:p>
        </p:txBody>
      </p:sp>
      <p:sp>
        <p:nvSpPr>
          <p:cNvPr id="23" name="Etiqueta Midjourney"/>
          <p:cNvSpPr/>
          <p:nvPr/>
        </p:nvSpPr>
        <p:spPr>
          <a:xfrm>
            <a:off x="15612520" y="5343125"/>
            <a:ext cx="1480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Midjourney</a:t>
            </a:r>
          </a:p>
        </p:txBody>
      </p:sp>
      <p:sp>
        <p:nvSpPr>
          <p:cNvPr id="23" name="Etiqueta GitHub Copilot"/>
          <p:cNvSpPr/>
          <p:nvPr/>
        </p:nvSpPr>
        <p:spPr>
          <a:xfrm>
            <a:off x="959480" y="9410300"/>
            <a:ext cx="1952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GitHub Copilot</a:t>
            </a:r>
          </a:p>
        </p:txBody>
      </p:sp>
      <p:sp>
        <p:nvSpPr>
          <p:cNvPr id="23" name="Etiqueta Meta AI (Llama)"/>
          <p:cNvSpPr/>
          <p:nvPr/>
        </p:nvSpPr>
        <p:spPr>
          <a:xfrm>
            <a:off x="4504740" y="9410300"/>
            <a:ext cx="2070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Meta AI (Llama)</a:t>
            </a:r>
          </a:p>
        </p:txBody>
      </p:sp>
      <p:sp>
        <p:nvSpPr>
          <p:cNvPr id="23" name="Etiqueta DeepSeek"/>
          <p:cNvSpPr/>
          <p:nvPr/>
        </p:nvSpPr>
        <p:spPr>
          <a:xfrm>
            <a:off x="8522000" y="9410300"/>
            <a:ext cx="1244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DeepSeek</a:t>
            </a:r>
          </a:p>
        </p:txBody>
      </p:sp>
      <p:sp>
        <p:nvSpPr>
          <p:cNvPr id="23" name="Etiqueta Mistral"/>
          <p:cNvSpPr/>
          <p:nvPr/>
        </p:nvSpPr>
        <p:spPr>
          <a:xfrm>
            <a:off x="12185259" y="9410300"/>
            <a:ext cx="1126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Mistral</a:t>
            </a:r>
          </a:p>
        </p:txBody>
      </p:sp>
      <p:sp>
        <p:nvSpPr>
          <p:cNvPr id="23" name="Etiqueta Grok"/>
          <p:cNvSpPr/>
          <p:nvPr/>
        </p:nvSpPr>
        <p:spPr>
          <a:xfrm>
            <a:off x="15966520" y="9410300"/>
            <a:ext cx="772000" cy="380000"/>
          </a:xfrm>
          <a:prstGeom prst="roundRect">
            <a:avLst>
              <a:gd name="adj" fmla="val 30000"/>
            </a:avLst>
          </a:prstGeom>
          <a:solidFill>
            <a:srgbClr val="07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400" b="0">
                <a:solidFill>
                  <a:srgbClr val="FFFFFF"/>
                </a:solidFill>
                <a:latin typeface="Helvetica World"/>
              </a:rPr>
              <a:t>Grok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2474"/>
              </a:lnSpc>
              <a:spcBef>
                <a:spcPct val="0"/>
              </a:spcBef>
              <a:buFont typeface="Arial"/>
              <a:buChar char="•"/>
            </a:pPr>
            <a:r>
              <a:rPr lang="en-US" sz="1767" spc="-37" strike="noStrike" u="none" b="1" i="0">
                <a:solidFill>
                  <a:srgbClr val="071D30"/>
                </a:solidFill>
                <a:latin typeface="Helvetica World Bold"/>
                <a:ea typeface="Helvetica World Bold"/>
                <a:cs typeface="Helvetica World Bold"/>
                <a:sym typeface="Helvetica World"/>
              </a:rPr>
              <a:t>Surya</a:t>
            </a:r>
            <a:r>
              <a:rPr lang="en-US" sz="1767" spc="-37" strike="noStrike" u="none" i="0">
                <a:solidFill>
                  <a:srgbClr val="071D30"/>
                </a:solidFill>
                <a:latin typeface="Helvetica World"/>
                <a:ea typeface="Helvetica World"/>
                <a:cs typeface="Helvetica World"/>
                <a:sym typeface="Helvetica World"/>
              </a:rPr>
              <a:t> es un foundation model de heliofísica: un transformer espaciotemporal con </a:t>
            </a:r>
            <a:r>
              <a:rPr lang="en-US" sz="1767" spc="-37" strike="noStrike" u="none" b="1" i="0">
                <a:solidFill>
                  <a:srgbClr val="071D30"/>
                </a:solidFill>
                <a:latin typeface="Helvetica World Bold"/>
                <a:ea typeface="Helvetica World Bold"/>
                <a:cs typeface="Helvetica World Bold"/>
                <a:sym typeface="Helvetica World"/>
              </a:rPr>
              <a:t>366 M</a:t>
            </a:r>
            <a:r>
              <a:rPr lang="en-US" sz="1767" spc="-37" strike="noStrike" u="none" i="0">
                <a:solidFill>
                  <a:srgbClr val="071D30"/>
                </a:solidFill>
                <a:latin typeface="Helvetica World"/>
                <a:ea typeface="Helvetica World"/>
                <a:cs typeface="Helvetica World"/>
                <a:sym typeface="Helvetica World"/>
              </a:rPr>
              <a:t> de parámetros</a:t>
            </a:r>
          </a:p>
          <a:p>
            <a:pPr algn="l" marL="539748" indent="-269874" lvl="1">
              <a:lnSpc>
                <a:spcPts val="2474"/>
              </a:lnSpc>
              <a:spcBef>
                <a:spcPct val="0"/>
              </a:spcBef>
              <a:buFont typeface="Arial"/>
              <a:buChar char="•"/>
            </a:pPr>
            <a:r>
              <a:rPr lang="en-US" sz="1767" spc="-37" strike="noStrike" u="none" i="0">
                <a:solidFill>
                  <a:srgbClr val="071D30"/>
                </a:solidFill>
                <a:latin typeface="Helvetica World"/>
                <a:ea typeface="Helvetica World"/>
                <a:cs typeface="Helvetica World"/>
                <a:sym typeface="Helvetica World"/>
              </a:rPr>
              <a:t>Lee </a:t>
            </a:r>
            <a:r>
              <a:rPr lang="en-US" sz="1767" spc="-37" strike="noStrike" u="none" b="1" i="0">
                <a:solidFill>
                  <a:srgbClr val="071D30"/>
                </a:solidFill>
                <a:latin typeface="Helvetica World Bold"/>
                <a:ea typeface="Helvetica World Bold"/>
                <a:cs typeface="Helvetica World Bold"/>
                <a:sym typeface="Helvetica World"/>
              </a:rPr>
              <a:t>13 canales</a:t>
            </a:r>
            <a:r>
              <a:rPr lang="en-US" sz="1767" spc="-37" strike="noStrike" u="none" i="0">
                <a:solidFill>
                  <a:srgbClr val="071D30"/>
                </a:solidFill>
                <a:latin typeface="Helvetica World"/>
                <a:ea typeface="Helvetica World"/>
                <a:cs typeface="Helvetica World"/>
                <a:sym typeface="Helvetica World"/>
              </a:rPr>
              <a:t> de SDO en dos instantes y se entrenó (pretraining) para hacer forecasting del Sol </a:t>
            </a:r>
            <a:r>
              <a:rPr lang="en-US" sz="1767" spc="-37" strike="noStrike" u="none" b="1" i="0">
                <a:solidFill>
                  <a:srgbClr val="071D30"/>
                </a:solidFill>
                <a:latin typeface="Helvetica World Bold"/>
                <a:ea typeface="Helvetica World Bold"/>
                <a:cs typeface="Helvetica World Bold"/>
                <a:sym typeface="Helvetica World"/>
              </a:rPr>
              <a:t>60 min</a:t>
            </a:r>
            <a:r>
              <a:rPr lang="en-US" sz="1767" spc="-37" strike="noStrike" u="none" i="0">
                <a:solidFill>
                  <a:srgbClr val="071D30"/>
                </a:solidFill>
                <a:latin typeface="Helvetica World"/>
                <a:ea typeface="Helvetica World"/>
                <a:cs typeface="Helvetica World"/>
                <a:sym typeface="Helvetica World"/>
              </a:rPr>
              <a:t> adelante</a:t>
            </a:r>
          </a:p>
          <a:p>
            <a:pPr algn="l" marL="539748" indent="-269874" lvl="1">
              <a:lnSpc>
                <a:spcPts val="2474"/>
              </a:lnSpc>
              <a:spcBef>
                <a:spcPct val="0"/>
              </a:spcBef>
              <a:buFont typeface="Arial"/>
              <a:buChar char="•"/>
            </a:pPr>
            <a:r>
              <a:rPr lang="en-US" sz="1767" spc="-37" strike="noStrike" u="none" i="0">
                <a:solidFill>
                  <a:srgbClr val="071D30"/>
                </a:solidFill>
                <a:latin typeface="Helvetica World"/>
                <a:ea typeface="Helvetica World"/>
                <a:cs typeface="Helvetica World"/>
                <a:sym typeface="Helvetica World"/>
              </a:rPr>
              <a:t>Después se adapta a </a:t>
            </a:r>
            <a:r>
              <a:rPr lang="en-US" sz="1767" spc="-37" strike="noStrike" u="none" b="1" i="0">
                <a:solidFill>
                  <a:srgbClr val="071D30"/>
                </a:solidFill>
                <a:latin typeface="Helvetica World Bold"/>
                <a:ea typeface="Helvetica World Bold"/>
                <a:cs typeface="Helvetica World Bold"/>
                <a:sym typeface="Helvetica World"/>
              </a:rPr>
              <a:t>downstream tasks</a:t>
            </a:r>
            <a:r>
              <a:rPr lang="en-US" sz="1767" spc="-37" strike="noStrike" u="none" i="0">
                <a:solidFill>
                  <a:srgbClr val="071D30"/>
                </a:solidFill>
                <a:latin typeface="Helvetica World"/>
                <a:ea typeface="Helvetica World"/>
                <a:cs typeface="Helvetica World"/>
                <a:sym typeface="Helvetica World"/>
              </a:rPr>
              <a:t>: tareas concretas para las que se ajusta el modelo ya preentrenado</a:t>
            </a:r>
          </a:p>
          <a:p>
            <a:pPr algn="l" marL="539748" indent="-269874" lvl="1">
              <a:lnSpc>
                <a:spcPts val="2474"/>
              </a:lnSpc>
              <a:spcBef>
                <a:spcPct val="0"/>
              </a:spcBef>
              <a:buFont typeface="Arial"/>
              <a:buChar char="•"/>
            </a:pPr>
            <a:r>
              <a:rPr lang="en-US" sz="1767" spc="-37" strike="noStrike" u="none" i="0">
                <a:solidFill>
                  <a:srgbClr val="071D30"/>
                </a:solidFill>
                <a:latin typeface="Helvetica World"/>
                <a:ea typeface="Helvetica World"/>
                <a:cs typeface="Helvetica World"/>
                <a:sym typeface="Helvetica World"/>
              </a:rPr>
              <a:t>Evaluadas: dinámica solar y flares sin ajuste (zero-shot); viento solar, regiones activas, flares y espectros EUV con fine-tuning (LoRA)</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204"/>
              </a:lnSpc>
              <a:spcBef>
                <a:spcPct val="0"/>
              </a:spcBef>
            </a:pPr>
            <a:r>
              <a:rPr lang="en-US" sz="5640" spc="-179" strike="noStrike" u="none" i="0">
                <a:solidFill>
                  <a:srgbClr val="071D30"/>
                </a:solidFill>
                <a:latin typeface="Georgia Pro Condensed"/>
                <a:ea typeface="Georgia Pro Condensed"/>
                <a:cs typeface="Georgia Pro Condensed"/>
                <a:sym typeface="Georgia Pro Condensed"/>
              </a:rPr>
              <a:t>Surya: un modelo para el Sol</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EJEMPLO DE LA SESIÓN</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Un solo modelo preentrenado sirve de base para muchas tareas finales (downstream tasks).</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arquitectura de Surya, Roy et al. (2025)</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clase_surya_0.png"/>
          <p:cNvPicPr>
            <a:picLocks noChangeAspect="1"/>
          </p:cNvPicPr>
          <p:nvPr/>
        </p:nvPicPr>
        <p:blipFill>
          <a:blip r:embed="rId5"/>
          <a:stretch>
            <a:fillRect/>
          </a:stretch>
        </p:blipFill>
        <p:spPr>
          <a:xfrm>
            <a:off x="10414884" y="432000"/>
            <a:ext cx="6458232" cy="856800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Roy et al. (2025), Surya: Foundation Model for Heliophysics, arXiv:2508.14112.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grpSp>
        <p:nvGrpSpPr>
          <p:cNvPr name="Group 2" id="2"/>
          <p:cNvGrpSpPr/>
          <p:nvPr/>
        </p:nvGrpSpPr>
        <p:grpSpPr>
          <a:xfrm rot="0">
            <a:off x="9048750" y="6561411"/>
            <a:ext cx="8858250" cy="2227536"/>
            <a:chOff x="0" y="0"/>
            <a:chExt cx="11811000" cy="3175000"/>
          </a:xfrm>
        </p:grpSpPr>
        <p:sp>
          <p:nvSpPr>
            <p:cNvPr name="Freeform 3" id="3"/>
            <p:cNvSpPr/>
            <p:nvPr/>
          </p:nvSpPr>
          <p:spPr>
            <a:xfrm flipH="false" flipV="false" rot="0">
              <a:off x="0" y="0"/>
              <a:ext cx="11811000" cy="3175000"/>
            </a:xfrm>
            <a:custGeom>
              <a:avLst/>
              <a:gdLst/>
              <a:ahLst/>
              <a:cxnLst/>
              <a:rect r="r" b="b" t="t" l="l"/>
              <a:pathLst>
                <a:path h="3175000" w="11811000">
                  <a:moveTo>
                    <a:pt x="254000" y="0"/>
                  </a:moveTo>
                  <a:lnTo>
                    <a:pt x="11557000" y="0"/>
                  </a:lnTo>
                  <a:cubicBezTo>
                    <a:pt x="11697281" y="0"/>
                    <a:pt x="11811000" y="113720"/>
                    <a:pt x="11811000" y="254000"/>
                  </a:cubicBezTo>
                  <a:lnTo>
                    <a:pt x="11811000" y="2921000"/>
                  </a:lnTo>
                  <a:cubicBezTo>
                    <a:pt x="11811000" y="3061280"/>
                    <a:pt x="11697281" y="3175000"/>
                    <a:pt x="11557000" y="3175000"/>
                  </a:cubicBezTo>
                  <a:lnTo>
                    <a:pt x="254000" y="3175000"/>
                  </a:lnTo>
                  <a:cubicBezTo>
                    <a:pt x="113720" y="3175000"/>
                    <a:pt x="0" y="3061280"/>
                    <a:pt x="0" y="2921000"/>
                  </a:cubicBezTo>
                  <a:lnTo>
                    <a:pt x="0" y="254000"/>
                  </a:lnTo>
                  <a:cubicBezTo>
                    <a:pt x="0" y="113720"/>
                    <a:pt x="113720" y="0"/>
                    <a:pt x="254000" y="0"/>
                  </a:cubicBezTo>
                  <a:close/>
                </a:path>
              </a:pathLst>
            </a:custGeom>
            <a:solidFill>
              <a:srgbClr val="102C43"/>
            </a:solidFill>
          </p:spPr>
        </p:sp>
        <p:sp>
          <p:nvSpPr>
            <p:cNvPr name="TextBox 4" id="4"/>
            <p:cNvSpPr txBox="true"/>
            <p:nvPr/>
          </p:nvSpPr>
          <p:spPr>
            <a:xfrm>
              <a:off x="0" y="-38100"/>
              <a:ext cx="11811000" cy="3213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381000" y="6561411"/>
            <a:ext cx="8477250" cy="2227536"/>
            <a:chOff x="0" y="0"/>
            <a:chExt cx="11303000" cy="3175000"/>
          </a:xfrm>
        </p:grpSpPr>
        <p:sp>
          <p:nvSpPr>
            <p:cNvPr name="Freeform 6" id="6"/>
            <p:cNvSpPr/>
            <p:nvPr/>
          </p:nvSpPr>
          <p:spPr>
            <a:xfrm flipH="false" flipV="false" rot="0">
              <a:off x="0" y="0"/>
              <a:ext cx="11303000" cy="3175000"/>
            </a:xfrm>
            <a:custGeom>
              <a:avLst/>
              <a:gdLst/>
              <a:ahLst/>
              <a:cxnLst/>
              <a:rect r="r" b="b" t="t" l="l"/>
              <a:pathLst>
                <a:path h="3175000" w="11303000">
                  <a:moveTo>
                    <a:pt x="254000" y="0"/>
                  </a:moveTo>
                  <a:lnTo>
                    <a:pt x="11049000" y="0"/>
                  </a:lnTo>
                  <a:cubicBezTo>
                    <a:pt x="11189281" y="0"/>
                    <a:pt x="11303000" y="113720"/>
                    <a:pt x="11303000" y="254000"/>
                  </a:cubicBezTo>
                  <a:lnTo>
                    <a:pt x="11303000" y="2921000"/>
                  </a:lnTo>
                  <a:cubicBezTo>
                    <a:pt x="11303000" y="3061280"/>
                    <a:pt x="11189281" y="3175000"/>
                    <a:pt x="11049000" y="3175000"/>
                  </a:cubicBezTo>
                  <a:lnTo>
                    <a:pt x="254000" y="3175000"/>
                  </a:lnTo>
                  <a:cubicBezTo>
                    <a:pt x="113720" y="3175000"/>
                    <a:pt x="0" y="3061280"/>
                    <a:pt x="0" y="2921000"/>
                  </a:cubicBezTo>
                  <a:lnTo>
                    <a:pt x="0" y="254000"/>
                  </a:lnTo>
                  <a:cubicBezTo>
                    <a:pt x="0" y="113720"/>
                    <a:pt x="113720" y="0"/>
                    <a:pt x="254000" y="0"/>
                  </a:cubicBezTo>
                  <a:close/>
                </a:path>
              </a:pathLst>
            </a:custGeom>
            <a:solidFill>
              <a:srgbClr val="102C43"/>
            </a:solidFill>
          </p:spPr>
        </p:sp>
        <p:sp>
          <p:nvSpPr>
            <p:cNvPr name="TextBox 7" id="7"/>
            <p:cNvSpPr txBox="true"/>
            <p:nvPr/>
          </p:nvSpPr>
          <p:spPr>
            <a:xfrm>
              <a:off x="0" y="-38100"/>
              <a:ext cx="11303000" cy="3213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9048750" y="3857625"/>
            <a:ext cx="8858250" cy="2227536"/>
            <a:chOff x="0" y="0"/>
            <a:chExt cx="11811000" cy="2921000"/>
          </a:xfrm>
        </p:grpSpPr>
        <p:sp>
          <p:nvSpPr>
            <p:cNvPr name="Freeform 9" id="9"/>
            <p:cNvSpPr/>
            <p:nvPr/>
          </p:nvSpPr>
          <p:spPr>
            <a:xfrm flipH="false" flipV="false" rot="0">
              <a:off x="0" y="0"/>
              <a:ext cx="11811000" cy="2921000"/>
            </a:xfrm>
            <a:custGeom>
              <a:avLst/>
              <a:gdLst/>
              <a:ahLst/>
              <a:cxnLst/>
              <a:rect r="r" b="b" t="t" l="l"/>
              <a:pathLst>
                <a:path h="2921000" w="11811000">
                  <a:moveTo>
                    <a:pt x="254000" y="0"/>
                  </a:moveTo>
                  <a:lnTo>
                    <a:pt x="11557000" y="0"/>
                  </a:lnTo>
                  <a:cubicBezTo>
                    <a:pt x="11697281" y="0"/>
                    <a:pt x="11811000" y="113720"/>
                    <a:pt x="11811000" y="254000"/>
                  </a:cubicBezTo>
                  <a:lnTo>
                    <a:pt x="11811000" y="2667000"/>
                  </a:lnTo>
                  <a:cubicBezTo>
                    <a:pt x="11811000" y="2807280"/>
                    <a:pt x="11697281" y="2921000"/>
                    <a:pt x="11557000" y="2921000"/>
                  </a:cubicBezTo>
                  <a:lnTo>
                    <a:pt x="254000" y="2921000"/>
                  </a:lnTo>
                  <a:cubicBezTo>
                    <a:pt x="113720" y="2921000"/>
                    <a:pt x="0" y="2807280"/>
                    <a:pt x="0" y="2667000"/>
                  </a:cubicBezTo>
                  <a:lnTo>
                    <a:pt x="0" y="254000"/>
                  </a:lnTo>
                  <a:cubicBezTo>
                    <a:pt x="0" y="113720"/>
                    <a:pt x="113720" y="0"/>
                    <a:pt x="254000" y="0"/>
                  </a:cubicBezTo>
                  <a:close/>
                </a:path>
              </a:pathLst>
            </a:custGeom>
            <a:solidFill>
              <a:srgbClr val="102C43"/>
            </a:solidFill>
          </p:spPr>
        </p:sp>
        <p:sp>
          <p:nvSpPr>
            <p:cNvPr name="TextBox 10" id="10"/>
            <p:cNvSpPr txBox="true"/>
            <p:nvPr/>
          </p:nvSpPr>
          <p:spPr>
            <a:xfrm>
              <a:off x="0" y="-38100"/>
              <a:ext cx="11811000" cy="2959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381000" y="3857625"/>
            <a:ext cx="8477250" cy="2227536"/>
            <a:chOff x="0" y="0"/>
            <a:chExt cx="11303000" cy="2921000"/>
          </a:xfrm>
        </p:grpSpPr>
        <p:sp>
          <p:nvSpPr>
            <p:cNvPr name="Freeform 12" id="12"/>
            <p:cNvSpPr/>
            <p:nvPr/>
          </p:nvSpPr>
          <p:spPr>
            <a:xfrm flipH="false" flipV="false" rot="0">
              <a:off x="0" y="0"/>
              <a:ext cx="11303000" cy="2921000"/>
            </a:xfrm>
            <a:custGeom>
              <a:avLst/>
              <a:gdLst/>
              <a:ahLst/>
              <a:cxnLst/>
              <a:rect r="r" b="b" t="t" l="l"/>
              <a:pathLst>
                <a:path h="2921000" w="11303000">
                  <a:moveTo>
                    <a:pt x="254000" y="0"/>
                  </a:moveTo>
                  <a:lnTo>
                    <a:pt x="11049000" y="0"/>
                  </a:lnTo>
                  <a:cubicBezTo>
                    <a:pt x="11189281" y="0"/>
                    <a:pt x="11303000" y="113720"/>
                    <a:pt x="11303000" y="254000"/>
                  </a:cubicBezTo>
                  <a:lnTo>
                    <a:pt x="11303000" y="2667000"/>
                  </a:lnTo>
                  <a:cubicBezTo>
                    <a:pt x="11303000" y="2807280"/>
                    <a:pt x="11189281" y="2921000"/>
                    <a:pt x="11049000" y="2921000"/>
                  </a:cubicBezTo>
                  <a:lnTo>
                    <a:pt x="254000" y="2921000"/>
                  </a:lnTo>
                  <a:cubicBezTo>
                    <a:pt x="113720" y="2921000"/>
                    <a:pt x="0" y="2807280"/>
                    <a:pt x="0" y="2667000"/>
                  </a:cubicBezTo>
                  <a:lnTo>
                    <a:pt x="0" y="254000"/>
                  </a:lnTo>
                  <a:cubicBezTo>
                    <a:pt x="0" y="113720"/>
                    <a:pt x="113720" y="0"/>
                    <a:pt x="254000" y="0"/>
                  </a:cubicBezTo>
                  <a:close/>
                </a:path>
              </a:pathLst>
            </a:custGeom>
            <a:solidFill>
              <a:srgbClr val="102C43"/>
            </a:solidFill>
          </p:spPr>
        </p:sp>
        <p:sp>
          <p:nvSpPr>
            <p:cNvPr name="TextBox 13" id="13"/>
            <p:cNvSpPr txBox="true"/>
            <p:nvPr/>
          </p:nvSpPr>
          <p:spPr>
            <a:xfrm>
              <a:off x="0" y="-38100"/>
              <a:ext cx="11303000" cy="2959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666750" y="809625"/>
            <a:ext cx="16954500" cy="1069976"/>
          </a:xfrm>
          <a:prstGeom prst="rect">
            <a:avLst/>
          </a:prstGeom>
        </p:spPr>
        <p:txBody>
          <a:bodyPr anchor="t" rtlCol="false" tIns="0" lIns="0" bIns="0" rIns="0">
            <a:spAutoFit/>
          </a:bodyPr>
          <a:lstStyle/>
          <a:p>
            <a:pPr algn="l" marL="0" indent="0" lvl="0">
              <a:lnSpc>
                <a:spcPts val="8000"/>
              </a:lnSpc>
              <a:spcBef>
                <a:spcPct val="0"/>
              </a:spcBef>
            </a:pPr>
            <a:r>
              <a:rPr lang="en-US" sz="8000" strike="noStrike" u="none" i="0">
                <a:solidFill>
                  <a:srgbClr val="F5B82E"/>
                </a:solidFill>
                <a:latin typeface="Georgia Pro Condensed"/>
                <a:ea typeface="Georgia Pro Condensed"/>
                <a:cs typeface="Georgia Pro Condensed"/>
                <a:sym typeface="Georgia Pro Condensed"/>
              </a:rPr>
              <a:t>Surya en cifras</a:t>
            </a:r>
          </a:p>
        </p:txBody>
      </p:sp>
      <p:grpSp>
        <p:nvGrpSpPr>
          <p:cNvPr name="Group 15" id="15"/>
          <p:cNvGrpSpPr/>
          <p:nvPr/>
        </p:nvGrpSpPr>
        <p:grpSpPr>
          <a:xfrm rot="0">
            <a:off x="2105025" y="4259580"/>
            <a:ext cx="6886575" cy="1570673"/>
            <a:chOff x="0" y="0"/>
            <a:chExt cx="9182100" cy="2094230"/>
          </a:xfrm>
        </p:grpSpPr>
        <p:sp>
          <p:nvSpPr>
            <p:cNvPr name="TextBox 16" id="16"/>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366 M</a:t>
              </a:r>
            </a:p>
          </p:txBody>
        </p:sp>
        <p:sp>
          <p:nvSpPr>
            <p:cNvPr name="TextBox 17" id="17"/>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parámetros: transformer espaciotemporal</a:t>
              </a:r>
            </a:p>
          </p:txBody>
        </p:sp>
      </p:grpSp>
      <p:grpSp>
        <p:nvGrpSpPr>
          <p:cNvPr name="Group 18" id="18"/>
          <p:cNvGrpSpPr/>
          <p:nvPr/>
        </p:nvGrpSpPr>
        <p:grpSpPr>
          <a:xfrm rot="0">
            <a:off x="10734675" y="6981622"/>
            <a:ext cx="6886575" cy="1570673"/>
            <a:chOff x="0" y="0"/>
            <a:chExt cx="9182100" cy="2094230"/>
          </a:xfrm>
        </p:grpSpPr>
        <p:sp>
          <p:nvSpPr>
            <p:cNvPr name="TextBox 19" id="19"/>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+60 min</a:t>
              </a:r>
            </a:p>
          </p:txBody>
        </p:sp>
        <p:sp>
          <p:nvSpPr>
            <p:cNvPr name="TextBox 20" id="20"/>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pretrained para hacer forecasting del Sol una hora adelante</a:t>
              </a:r>
            </a:p>
          </p:txBody>
        </p:sp>
      </p:grpSp>
      <p:grpSp>
        <p:nvGrpSpPr>
          <p:cNvPr name="Group 21" id="21"/>
          <p:cNvGrpSpPr/>
          <p:nvPr/>
        </p:nvGrpSpPr>
        <p:grpSpPr>
          <a:xfrm rot="0">
            <a:off x="2105025" y="6974320"/>
            <a:ext cx="6886575" cy="1616869"/>
            <a:chOff x="0" y="0"/>
            <a:chExt cx="9182100" cy="2155825"/>
          </a:xfrm>
        </p:grpSpPr>
        <p:sp>
          <p:nvSpPr>
            <p:cNvPr name="TextBox 22" id="22"/>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13 canales</a:t>
              </a:r>
            </a:p>
          </p:txBody>
        </p:sp>
        <p:sp>
          <p:nvSpPr>
            <p:cNvPr name="TextBox 23" id="23"/>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8 de AIA y 5 de HMI</a:t>
              </a:r>
            </a:p>
          </p:txBody>
        </p:sp>
      </p:grpSp>
      <p:sp>
        <p:nvSpPr>
          <p:cNvPr name="TextBox 24" id="24"/>
          <p:cNvSpPr txBox="true"/>
          <p:nvPr/>
        </p:nvSpPr>
        <p:spPr>
          <a:xfrm rot="0">
            <a:off x="666750" y="4244340"/>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01</a:t>
            </a:r>
          </a:p>
        </p:txBody>
      </p:sp>
      <p:sp>
        <p:nvSpPr>
          <p:cNvPr name="TextBox 25" id="25"/>
          <p:cNvSpPr txBox="true"/>
          <p:nvPr/>
        </p:nvSpPr>
        <p:spPr>
          <a:xfrm rot="0">
            <a:off x="9296400" y="425005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03</a:t>
            </a:r>
          </a:p>
        </p:txBody>
      </p:sp>
      <p:sp>
        <p:nvSpPr>
          <p:cNvPr name="TextBox 26" id="26"/>
          <p:cNvSpPr txBox="true"/>
          <p:nvPr/>
        </p:nvSpPr>
        <p:spPr>
          <a:xfrm rot="0">
            <a:off x="9296400" y="6972891"/>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04</a:t>
            </a:r>
          </a:p>
        </p:txBody>
      </p:sp>
      <p:sp>
        <p:nvSpPr>
          <p:cNvPr name="TextBox 27" id="27"/>
          <p:cNvSpPr txBox="true"/>
          <p:nvPr/>
        </p:nvSpPr>
        <p:spPr>
          <a:xfrm rot="0">
            <a:off x="666750" y="6967176"/>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02</a:t>
            </a:r>
          </a:p>
        </p:txBody>
      </p:sp>
      <p:grpSp>
        <p:nvGrpSpPr>
          <p:cNvPr name="Group 28" id="28"/>
          <p:cNvGrpSpPr/>
          <p:nvPr/>
        </p:nvGrpSpPr>
        <p:grpSpPr>
          <a:xfrm rot="0">
            <a:off x="10734675" y="4258786"/>
            <a:ext cx="6886575" cy="1570673"/>
            <a:chOff x="0" y="0"/>
            <a:chExt cx="9182100" cy="2094230"/>
          </a:xfrm>
        </p:grpSpPr>
        <p:sp>
          <p:nvSpPr>
            <p:cNvPr name="TextBox 29" id="29"/>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4096²</a:t>
              </a:r>
            </a:p>
          </p:txBody>
        </p:sp>
        <p:sp>
          <p:nvSpPr>
            <p:cNvPr name="TextBox 30" id="30"/>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píxeles: la resolución nativa de SDO</a:t>
              </a:r>
            </a:p>
          </p:txBody>
        </p:sp>
      </p:grpSp>
      <p:sp>
        <p:nvSpPr>
          <p:cNvPr name="TextBox 31" id="31"/>
          <p:cNvSpPr txBox="true"/>
          <p:nvPr/>
        </p:nvSpPr>
        <p:spPr>
          <a:xfrm rot="0">
            <a:off x="685800" y="2085975"/>
            <a:ext cx="66675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UN FOUNDATION MODEL PARA HELIOFÍSICA</a:t>
            </a:r>
          </a:p>
        </p:txBody>
      </p:sp>
      <p:grpSp>
        <p:nvGrpSpPr>
          <p:cNvPr name="Group 32" id="32"/>
          <p:cNvGrpSpPr/>
          <p:nvPr/>
        </p:nvGrpSpPr>
        <p:grpSpPr>
          <a:xfrm rot="0">
            <a:off x="16383000" y="571500"/>
            <a:ext cx="1238250" cy="1238250"/>
            <a:chOff x="0" y="0"/>
            <a:chExt cx="1651000" cy="1651000"/>
          </a:xfrm>
        </p:grpSpPr>
        <p:sp>
          <p:nvSpPr>
            <p:cNvPr name="Freeform 33" id="33"/>
            <p:cNvSpPr/>
            <p:nvPr/>
          </p:nvSpPr>
          <p:spPr>
            <a:xfrm flipH="false" flipV="false" rot="0">
              <a:off x="185738" y="185738"/>
              <a:ext cx="1279525" cy="1279525"/>
            </a:xfrm>
            <a:custGeom>
              <a:avLst/>
              <a:gdLst/>
              <a:ahLst/>
              <a:cxnLst/>
              <a:rect r="r" b="b" t="t" l="l"/>
              <a:pathLst>
                <a:path h="1279525" w="1279525">
                  <a:moveTo>
                    <a:pt x="275166" y="639762"/>
                  </a:moveTo>
                  <a:cubicBezTo>
                    <a:pt x="275166" y="841123"/>
                    <a:pt x="438401" y="1004358"/>
                    <a:pt x="639762" y="1004358"/>
                  </a:cubicBezTo>
                  <a:cubicBezTo>
                    <a:pt x="841123" y="1004358"/>
                    <a:pt x="1004358" y="841123"/>
                    <a:pt x="1004358" y="639762"/>
                  </a:cubicBezTo>
                  <a:cubicBezTo>
                    <a:pt x="1004358" y="438401"/>
                    <a:pt x="841123" y="275166"/>
                    <a:pt x="639762" y="275166"/>
                  </a:cubicBezTo>
                  <a:cubicBezTo>
                    <a:pt x="438401" y="275166"/>
                    <a:pt x="275166" y="438401"/>
                    <a:pt x="275166" y="639762"/>
                  </a:cubicBezTo>
                  <a:close/>
                  <a:moveTo>
                    <a:pt x="1246505" y="260720"/>
                  </a:moveTo>
                  <a:cubicBezTo>
                    <a:pt x="1203867" y="188286"/>
                    <a:pt x="1047386" y="194142"/>
                    <a:pt x="836581" y="276061"/>
                  </a:cubicBezTo>
                  <a:cubicBezTo>
                    <a:pt x="625775" y="357980"/>
                    <a:pt x="393043" y="503372"/>
                    <a:pt x="226905" y="656936"/>
                  </a:cubicBezTo>
                  <a:cubicBezTo>
                    <a:pt x="60766" y="810500"/>
                    <a:pt x="-13246" y="948637"/>
                    <a:pt x="33020" y="1018804"/>
                  </a:cubicBezTo>
                  <a:cubicBezTo>
                    <a:pt x="75657" y="1091238"/>
                    <a:pt x="232138" y="1085382"/>
                    <a:pt x="442943" y="1003463"/>
                  </a:cubicBezTo>
                  <a:cubicBezTo>
                    <a:pt x="653749" y="921544"/>
                    <a:pt x="886481" y="776152"/>
                    <a:pt x="1052619" y="622588"/>
                  </a:cubicBezTo>
                  <a:cubicBezTo>
                    <a:pt x="1218758" y="469024"/>
                    <a:pt x="1292770" y="330887"/>
                    <a:pt x="1246505" y="260720"/>
                  </a:cubicBezTo>
                  <a:close/>
                  <a:moveTo>
                    <a:pt x="639762" y="110066"/>
                  </a:moveTo>
                  <a:lnTo>
                    <a:pt x="639762" y="0"/>
                  </a:lnTo>
                  <a:moveTo>
                    <a:pt x="639762" y="1279524"/>
                  </a:moveTo>
                  <a:lnTo>
                    <a:pt x="639762" y="1169458"/>
                  </a:lnTo>
                  <a:moveTo>
                    <a:pt x="110066" y="639762"/>
                  </a:moveTo>
                  <a:lnTo>
                    <a:pt x="0" y="639762"/>
                  </a:lnTo>
                  <a:moveTo>
                    <a:pt x="1279524" y="639762"/>
                  </a:moveTo>
                  <a:lnTo>
                    <a:pt x="1169458" y="639762"/>
                  </a:lnTo>
                  <a:moveTo>
                    <a:pt x="268287" y="268287"/>
                  </a:moveTo>
                  <a:lnTo>
                    <a:pt x="192616" y="192616"/>
                  </a:lnTo>
                  <a:moveTo>
                    <a:pt x="1011237" y="1011237"/>
                  </a:moveTo>
                  <a:lnTo>
                    <a:pt x="1086908" y="1086908"/>
                  </a:lnTo>
                  <a:moveTo>
                    <a:pt x="302683" y="687916"/>
                  </a:moveTo>
                  <a:lnTo>
                    <a:pt x="454024" y="687916"/>
                  </a:lnTo>
                  <a:lnTo>
                    <a:pt x="529695" y="529695"/>
                  </a:lnTo>
                  <a:lnTo>
                    <a:pt x="646641" y="804862"/>
                  </a:lnTo>
                  <a:lnTo>
                    <a:pt x="749829" y="598487"/>
                  </a:lnTo>
                  <a:lnTo>
                    <a:pt x="818620" y="687916"/>
                  </a:lnTo>
                  <a:lnTo>
                    <a:pt x="983720" y="687916"/>
                  </a:lnTo>
                </a:path>
              </a:pathLst>
            </a:custGeom>
            <a:ln w="38100" cap="sq">
              <a:solidFill>
                <a:srgbClr val="F5B82E"/>
              </a:solidFill>
              <a:prstDash val="solid"/>
              <a:miter/>
            </a:ln>
          </p:spPr>
        </p:sp>
        <p:sp>
          <p:nvSpPr>
            <p:cNvPr name="TextBox 34" id="34"/>
            <p:cNvSpPr txBox="true"/>
            <p:nvPr/>
          </p:nvSpPr>
          <p:spPr>
            <a:xfrm>
              <a:off x="0" y="-38100"/>
              <a:ext cx="1651000" cy="16891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6383000" y="571500"/>
            <a:ext cx="1238250" cy="1238250"/>
            <a:chOff x="0" y="0"/>
            <a:chExt cx="1651000" cy="1651000"/>
          </a:xfrm>
        </p:grpSpPr>
        <p:sp>
          <p:nvSpPr>
            <p:cNvPr name="Freeform 36" id="36"/>
            <p:cNvSpPr/>
            <p:nvPr/>
          </p:nvSpPr>
          <p:spPr>
            <a:xfrm flipH="false" flipV="false" rot="0">
              <a:off x="1183217" y="213254"/>
              <a:ext cx="220133" cy="220133"/>
            </a:xfrm>
            <a:custGeom>
              <a:avLst/>
              <a:gdLst/>
              <a:ahLst/>
              <a:cxnLst/>
              <a:rect r="r" b="b" t="t" l="l"/>
              <a:pathLst>
                <a:path h="220133" w="220133">
                  <a:moveTo>
                    <a:pt x="110066" y="0"/>
                  </a:moveTo>
                  <a:lnTo>
                    <a:pt x="137583" y="82550"/>
                  </a:lnTo>
                  <a:lnTo>
                    <a:pt x="220133" y="110067"/>
                  </a:lnTo>
                  <a:lnTo>
                    <a:pt x="137583" y="137584"/>
                  </a:lnTo>
                  <a:lnTo>
                    <a:pt x="110066" y="220134"/>
                  </a:lnTo>
                  <a:lnTo>
                    <a:pt x="82550" y="137584"/>
                  </a:lnTo>
                  <a:lnTo>
                    <a:pt x="0" y="110067"/>
                  </a:lnTo>
                  <a:lnTo>
                    <a:pt x="82550" y="82550"/>
                  </a:lnTo>
                  <a:close/>
                </a:path>
              </a:pathLst>
            </a:custGeom>
            <a:solidFill>
              <a:srgbClr val="FFFFFF"/>
            </a:solidFill>
          </p:spPr>
        </p:sp>
        <p:sp>
          <p:nvSpPr>
            <p:cNvPr name="TextBox 37" id="37"/>
            <p:cNvSpPr txBox="true"/>
            <p:nvPr/>
          </p:nvSpPr>
          <p:spPr>
            <a:xfrm>
              <a:off x="0" y="-38100"/>
              <a:ext cx="1651000" cy="16891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39" id="39"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40" id="40"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
        <p:nvSpPr>
          <p:cNvPr id="41" name="TextBox 40"/>
          <p:cNvSpPr txBox="1"/>
          <p:nvPr/>
        </p:nvSpPr>
        <p:spPr>
          <a:xfrm>
            <a:off x="684000" y="9108000"/>
            <a:ext cx="14400000" cy="576000"/>
          </a:xfrm>
          <a:prstGeom prst="rect">
            <a:avLst/>
          </a:prstGeom>
          <a:noFill/>
        </p:spPr>
        <p:txBody>
          <a:bodyPr wrap="square" lIns="0" rIns="0" tIns="0" bIns="0">
            <a:spAutoFit/>
          </a:bodyPr>
          <a:lstStyle/>
          <a:p>
            <a:r>
              <a:rPr sz="1100">
                <a:solidFill>
                  <a:srgbClr val="AFC0CE"/>
                </a:solidFill>
                <a:latin typeface="Arimo"/>
              </a:rPr>
              <a:t>Referencias: Roy et al. (2025), Surya: Foundation Model for Heliophysics, arXiv:2508.14112.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F5F7FA"/>
            </a:solidFill>
          </p:spPr>
        </p:sp>
        <p:sp>
          <p:nvSpPr>
            <p:cNvPr name="TextBox 4" id="4"/>
            <p:cNvSpPr txBox="true"/>
            <p:nvPr/>
          </p:nvSpPr>
          <p:spPr>
            <a:xfrm>
              <a:off x="0" y="-38100"/>
              <a:ext cx="2368158" cy="92114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8991600" y="0"/>
            <a:ext cx="9296400" cy="10287000"/>
            <a:chOff x="0" y="0"/>
            <a:chExt cx="1220873" cy="1350966"/>
          </a:xfrm>
        </p:grpSpPr>
        <p:sp>
          <p:nvSpPr>
            <p:cNvPr name="Freeform 6" id="6"/>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grpSp>
        <p:nvGrpSpPr>
          <p:cNvPr name="Group 8" id="8"/>
          <p:cNvGrpSpPr/>
          <p:nvPr/>
        </p:nvGrpSpPr>
        <p:grpSpPr>
          <a:xfrm rot="0">
            <a:off x="666750" y="5334000"/>
            <a:ext cx="6886575" cy="1898650"/>
            <a:chOff x="0" y="0"/>
            <a:chExt cx="9182100" cy="2531534"/>
          </a:xfrm>
        </p:grpSpPr>
        <p:sp>
          <p:nvSpPr>
            <p:cNvPr name="TextBox 9" id="9"/>
            <p:cNvSpPr txBox="true"/>
            <p:nvPr/>
          </p:nvSpPr>
          <p:spPr>
            <a:xfrm rot="0">
              <a:off x="0" y="0"/>
              <a:ext cx="91821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071D30"/>
                  </a:solidFill>
                  <a:latin typeface="Helvetica World Bold"/>
                  <a:ea typeface="Helvetica World Bold"/>
                  <a:cs typeface="Helvetica World Bold"/>
                  <a:sym typeface="Helvetica World Bold"/>
                </a:rPr>
                <a:t>Normalización de Surya</a:t>
              </a:r>
            </a:p>
          </p:txBody>
        </p:sp>
        <p:sp>
          <p:nvSpPr>
            <p:cNvPr name="TextBox 10" id="10"/>
            <p:cNvSpPr txBox="true"/>
            <p:nvPr/>
          </p:nvSpPr>
          <p:spPr>
            <a:xfrm rot="0">
              <a:off x="0" y="825500"/>
              <a:ext cx="9182100" cy="1706034"/>
            </a:xfrm>
            <a:prstGeom prst="rect">
              <a:avLst/>
            </a:prstGeom>
          </p:spPr>
          <p:txBody>
            <a:bodyPr anchor="t" rtlCol="false" tIns="0" lIns="0" bIns="0" rIns="0">
              <a:spAutoFit/>
            </a:bodyPr>
            <a:lstStyle/>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Scaling, signed log y standardization con </a:t>
              </a:r>
              <a:r>
                <a:rPr lang="en-US" sz="2499" spc="-37" strike="noStrike" u="none" i="1">
                  <a:solidFill>
                    <a:srgbClr val="071D30"/>
                  </a:solidFill>
                  <a:latin typeface="Helvetica World"/>
                  <a:ea typeface="Helvetica World"/>
                  <a:cs typeface="Helvetica World"/>
                  <a:sym typeface="Helvetica World"/>
                </a:rPr>
                <a:t>μ</a:t>
              </a:r>
              <a:r>
                <a:rPr lang="en-US" sz="2499" spc="-37" strike="noStrike" u="none" i="0">
                  <a:solidFill>
                    <a:srgbClr val="071D30"/>
                  </a:solidFill>
                  <a:latin typeface="Helvetica World"/>
                  <a:ea typeface="Helvetica World"/>
                  <a:cs typeface="Helvetica World"/>
                  <a:sym typeface="Helvetica World"/>
                </a:rPr>
                <a:t> y </a:t>
              </a:r>
              <a:r>
                <a:rPr lang="en-US" sz="2499" spc="-37" strike="noStrike" u="none" i="1">
                  <a:solidFill>
                    <a:srgbClr val="071D30"/>
                  </a:solidFill>
                  <a:latin typeface="Helvetica World"/>
                  <a:ea typeface="Helvetica World"/>
                  <a:cs typeface="Helvetica World"/>
                  <a:sym typeface="Helvetica World"/>
                </a:rPr>
                <a:t>σ</a:t>
              </a:r>
              <a:r>
                <a:rPr lang="en-US" sz="2499" spc="-37" strike="noStrike" u="none" i="0">
                  <a:solidFill>
                    <a:srgbClr val="071D30"/>
                  </a:solidFill>
                  <a:latin typeface="Helvetica World"/>
                  <a:ea typeface="Helvetica World"/>
                  <a:cs typeface="Helvetica World"/>
                  <a:sym typeface="Helvetica World"/>
                </a:rPr>
                <a:t> globales de cada canal. Por eso una imagen no queda con media 0: aia94 va de −0,53 a 219,6.</a:t>
              </a:r>
            </a:p>
          </p:txBody>
        </p:sp>
      </p:grpSp>
      <p:sp>
        <p:nvSpPr>
          <p:cNvPr name="TextBox 11" id="11"/>
          <p:cNvSpPr txBox="true"/>
          <p:nvPr/>
        </p:nvSpPr>
        <p:spPr>
          <a:xfrm rot="0">
            <a:off x="685800" y="657225"/>
            <a:ext cx="66675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ECUACIÓN  /  DATO DESTACADO</a:t>
            </a:r>
          </a:p>
        </p:txBody>
      </p:sp>
      <p:grpSp>
        <p:nvGrpSpPr>
          <p:cNvPr name="Group 12" id="12"/>
          <p:cNvGrpSpPr/>
          <p:nvPr/>
        </p:nvGrpSpPr>
        <p:grpSpPr>
          <a:xfrm rot="0">
            <a:off x="685800" y="4476750"/>
            <a:ext cx="1428750" cy="57150"/>
            <a:chOff x="0" y="0"/>
            <a:chExt cx="1905000" cy="76200"/>
          </a:xfrm>
        </p:grpSpPr>
        <p:sp>
          <p:nvSpPr>
            <p:cNvPr name="Freeform 13" id="13"/>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F5B82E"/>
            </a:solidFill>
          </p:spPr>
        </p:sp>
        <p:sp>
          <p:nvSpPr>
            <p:cNvPr name="TextBox 14" id="14"/>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685800" y="8515350"/>
            <a:ext cx="7620000" cy="300990"/>
          </a:xfrm>
          <a:prstGeom prst="rect">
            <a:avLst/>
          </a:prstGeom>
        </p:spPr>
        <p:txBody>
          <a:bodyPr anchor="t" rtlCol="false" tIns="0" lIns="0" bIns="0" rIns="0">
            <a:spAutoFit/>
          </a:bodyPr>
          <a:lstStyle/>
          <a:p>
            <a:pPr algn="l">
              <a:lnSpc>
                <a:spcPts val="2310"/>
              </a:lnSpc>
            </a:pPr>
            <a:r>
              <a:rPr lang="en-US" sz="1650" i="0">
                <a:solidFill>
                  <a:srgbClr val="53697A"/>
                </a:solidFill>
                <a:latin typeface="Arimo Italics"/>
                <a:ea typeface="Arimo Italics"/>
                <a:cs typeface="Arimo Italics"/>
                <a:sym typeface="Arimo Italics"/>
              </a:rPr>
              <a:t>Referencia: surya.datasets.helio.transform; notebook, sección 2</a:t>
            </a:r>
          </a:p>
        </p:txBody>
      </p:sp>
      <p:grpSp>
        <p:nvGrpSpPr>
          <p:cNvPr name="Group 16" id="16"/>
          <p:cNvGrpSpPr/>
          <p:nvPr/>
        </p:nvGrpSpPr>
        <p:grpSpPr>
          <a:xfrm rot="0">
            <a:off x="8991600" y="9429750"/>
            <a:ext cx="9296400" cy="857250"/>
            <a:chOff x="0" y="0"/>
            <a:chExt cx="12395200" cy="1143000"/>
          </a:xfrm>
        </p:grpSpPr>
        <p:sp>
          <p:nvSpPr>
            <p:cNvPr name="Freeform 17" id="17"/>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8" id="18"/>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histogramas de aia94 en cada paso, AR 11944 (notebook, sección 2)</a:t>
            </a:r>
          </a:p>
        </p:txBody>
      </p:sp>
      <p:sp>
        <p:nvSpPr>
          <p:cNvPr name="TextBox 20" id="20"/>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1" id="21"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2" id="22"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3" name="Picture 22" descr="eq_norm_full.png"/>
          <p:cNvPicPr>
            <a:picLocks noChangeAspect="1"/>
          </p:cNvPicPr>
          <p:nvPr/>
        </p:nvPicPr>
        <p:blipFill>
          <a:blip r:embed="rId5"/>
          <a:stretch>
            <a:fillRect/>
          </a:stretch>
        </p:blipFill>
        <p:spPr>
          <a:xfrm>
            <a:off x="684000" y="1224000"/>
            <a:ext cx="5893882" cy="2664000"/>
          </a:xfrm>
          <a:prstGeom prst="rect">
            <a:avLst/>
          </a:prstGeom>
        </p:spPr>
      </p:pic>
      <p:pic>
        <p:nvPicPr>
          <p:cNvPr id="24" name="Picture 23" descr="hist_norm.png"/>
          <p:cNvPicPr>
            <a:picLocks noChangeAspect="1"/>
          </p:cNvPicPr>
          <p:nvPr/>
        </p:nvPicPr>
        <p:blipFill>
          <a:blip r:embed="rId6"/>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Meta: “muéstrame esta región activa y estima la probabilidad de un flare M en 24 h”</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Un LLM orquesta los datos, ejecuta Surya y explica</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Ruta: </a:t>
            </a:r>
            <a:r>
              <a:rPr lang="en-US" sz="2200" spc="-37" strike="noStrike" u="none" b="1" i="0">
                <a:solidFill>
                  <a:srgbClr val="071D30"/>
                </a:solidFill>
                <a:latin typeface="Helvetica World Bold"/>
                <a:ea typeface="Helvetica World Bold"/>
                <a:cs typeface="Helvetica World Bold"/>
                <a:sym typeface="Helvetica World"/>
              </a:rPr>
              <a:t>VLM</a:t>
            </a:r>
            <a:r>
              <a:rPr lang="en-US" sz="2200" spc="-37" strike="noStrike" u="none" i="0">
                <a:solidFill>
                  <a:srgbClr val="071D30"/>
                </a:solidFill>
                <a:latin typeface="Helvetica World"/>
                <a:ea typeface="Helvetica World"/>
                <a:cs typeface="Helvetica World"/>
                <a:sym typeface="Helvetica World"/>
              </a:rPr>
              <a:t> → preguntas → herramientas → agente</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Hoy, el primer paso: </a:t>
            </a:r>
            <a:r>
              <a:rPr lang="en-US" sz="2200" spc="-37" strike="noStrike" u="none" b="1" i="0">
                <a:solidFill>
                  <a:srgbClr val="071D30"/>
                </a:solidFill>
                <a:latin typeface="Helvetica World Bold"/>
                <a:ea typeface="Helvetica World Bold"/>
                <a:cs typeface="Helvetica World Bold"/>
                <a:sym typeface="Helvetica World"/>
              </a:rPr>
              <a:t>describir</a:t>
            </a:r>
            <a:r>
              <a:rPr lang="en-US" sz="2200" spc="-37" strike="noStrike" u="none" i="0">
                <a:solidFill>
                  <a:srgbClr val="071D30"/>
                </a:solidFill>
                <a:latin typeface="Helvetica World"/>
                <a:ea typeface="Helvetica World"/>
                <a:cs typeface="Helvetica World"/>
                <a:sym typeface="Helvetica World"/>
              </a:rPr>
              <a:t> una observación de SDO</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El copiloto de física solar</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MOTIVACIÓN</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Antes de razonar sobre lo que ve Surya, sus embeddings deben traducirse al espacio del LLM.</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magnetograma de HMI del 7 ene 2014 y la caja de una región activa</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clase_dummy_0.png"/>
          <p:cNvPicPr>
            <a:picLocks noChangeAspect="1"/>
          </p:cNvPicPr>
          <p:nvPr/>
        </p:nvPicPr>
        <p:blipFill>
          <a:blip r:embed="rId5"/>
          <a:stretch>
            <a:fillRect/>
          </a:stretch>
        </p:blipFill>
        <p:spPr>
          <a:xfrm>
            <a:off x="9432000" y="504000"/>
            <a:ext cx="8424000" cy="8424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F5F7FA"/>
                </a:solidFill>
                <a:latin typeface="Helvetica World"/>
                <a:ea typeface="Helvetica World"/>
                <a:cs typeface="Helvetica World"/>
                <a:sym typeface="Helvetica World"/>
              </a:rPr>
              <a:t>27</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7F8C"/>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2067009"/>
            <a:chOff x="0" y="0"/>
            <a:chExt cx="17259300" cy="2756012"/>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spcBef>
                  <a:spcPct val="0"/>
                </a:spcBef>
              </a:pPr>
              <a:r>
                <a:rPr lang="en-US" sz="8000" spc="-240" strike="noStrike" u="none" i="0">
                  <a:solidFill>
                    <a:srgbClr val="F5B82E"/>
                  </a:solidFill>
                  <a:latin typeface="Georgia Pro Condensed"/>
                  <a:ea typeface="Georgia Pro Condensed"/>
                  <a:cs typeface="Georgia Pro Condensed"/>
                  <a:sym typeface="Georgia Pro Condensed"/>
                </a:rPr>
                <a:t>Dos fuentes de texto</a:t>
              </a:r>
            </a:p>
          </p:txBody>
        </p:sp>
        <p:sp>
          <p:nvSpPr>
            <p:cNvPr name="TextBox 8" id="8"/>
            <p:cNvSpPr txBox="true"/>
            <p:nvPr/>
          </p:nvSpPr>
          <p:spPr>
            <a:xfrm rot="0">
              <a:off x="0" y="2197212"/>
              <a:ext cx="172593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F5F7FA"/>
                  </a:solidFill>
                  <a:latin typeface="Helvetica World Bold"/>
                  <a:ea typeface="Helvetica World Bold"/>
                  <a:cs typeface="Helvetica World Bold"/>
                  <a:sym typeface="Helvetica World Bold"/>
                </a:rPr>
                <a:t>Para entrenar hacen falta pares observación–caption</a:t>
              </a:r>
            </a:p>
          </p:txBody>
        </p:sp>
      </p:grpSp>
      <p:grpSp>
        <p:nvGrpSpPr>
          <p:cNvPr name="Group 9" id="9"/>
          <p:cNvGrpSpPr/>
          <p:nvPr/>
        </p:nvGrpSpPr>
        <p:grpSpPr>
          <a:xfrm rot="0">
            <a:off x="1800225" y="5143500"/>
            <a:ext cx="5753100" cy="1844675"/>
            <a:chOff x="0" y="0"/>
            <a:chExt cx="7670800" cy="2459567"/>
          </a:xfrm>
        </p:grpSpPr>
        <p:sp>
          <p:nvSpPr>
            <p:cNvPr name="TextBox 10" id="10"/>
            <p:cNvSpPr txBox="true"/>
            <p:nvPr/>
          </p:nvSpPr>
          <p:spPr>
            <a:xfrm rot="0">
              <a:off x="0" y="9525"/>
              <a:ext cx="76708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Artículos</a:t>
              </a:r>
            </a:p>
          </p:txBody>
        </p:sp>
        <p:sp>
          <p:nvSpPr>
            <p:cNvPr name="TextBox 11" id="11"/>
            <p:cNvSpPr txBox="true"/>
            <p:nvPr/>
          </p:nvSpPr>
          <p:spPr>
            <a:xfrm rot="0">
              <a:off x="0" y="1079500"/>
              <a:ext cx="76708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Figuras y textos de la literatura</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Hay que re-consultar la observación</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Pocos pares y metadatos ruidosos</a:t>
              </a:r>
            </a:p>
          </p:txBody>
        </p:sp>
      </p:grpSp>
      <p:grpSp>
        <p:nvGrpSpPr>
          <p:cNvPr name="Group 12" id="12"/>
          <p:cNvGrpSpPr/>
          <p:nvPr/>
        </p:nvGrpSpPr>
        <p:grpSpPr>
          <a:xfrm rot="0">
            <a:off x="9296400" y="5143500"/>
            <a:ext cx="5448300" cy="1844675"/>
            <a:chOff x="0" y="0"/>
            <a:chExt cx="7264400" cy="2459567"/>
          </a:xfrm>
        </p:grpSpPr>
        <p:sp>
          <p:nvSpPr>
            <p:cNvPr name="TextBox 13" id="13"/>
            <p:cNvSpPr txBox="true"/>
            <p:nvPr/>
          </p:nvSpPr>
          <p:spPr>
            <a:xfrm rot="0">
              <a:off x="0" y="9525"/>
              <a:ext cx="7264400" cy="523875"/>
            </a:xfrm>
            <a:prstGeom prst="rect">
              <a:avLst/>
            </a:prstGeom>
          </p:spPr>
          <p:txBody>
            <a:bodyPr anchor="t" rtlCol="false" tIns="0" lIns="0" bIns="0" rIns="0">
              <a:spAutoFit/>
            </a:bodyPr>
            <a:lstStyle/>
            <a:p>
              <a:pPr algn="l" marL="0" indent="0" lvl="0">
                <a:lnSpc>
                  <a:spcPts val="2999"/>
                </a:lnSpc>
                <a:spcBef>
                  <a:spcPct val="0"/>
                </a:spcBef>
              </a:pPr>
              <a:r>
                <a:rPr lang="en-US" b="true" sz="2499" spc="-37" strike="noStrike" u="none" i="0">
                  <a:solidFill>
                    <a:srgbClr val="F5F7FA"/>
                  </a:solidFill>
                  <a:latin typeface="Helvetica World Bold"/>
                  <a:ea typeface="Helvetica World Bold"/>
                  <a:cs typeface="Helvetica World Bold"/>
                  <a:sym typeface="Helvetica World Bold"/>
                </a:rPr>
                <a:t>Catálogo (HEK, NOAA)</a:t>
              </a:r>
            </a:p>
          </p:txBody>
        </p:sp>
        <p:sp>
          <p:nvSpPr>
            <p:cNvPr name="TextBox 14" id="14"/>
            <p:cNvSpPr txBox="true"/>
            <p:nvPr/>
          </p:nvSpPr>
          <p:spPr>
            <a:xfrm rot="0">
              <a:off x="0" y="1079500"/>
              <a:ext cx="7264400" cy="1380067"/>
            </a:xfrm>
            <a:prstGeom prst="rect">
              <a:avLst/>
            </a:prstGeom>
          </p:spPr>
          <p:txBody>
            <a:bodyPr anchor="t" rtlCol="false" tIns="0" lIns="0" bIns="0" rIns="0">
              <a:spAutoFit/>
            </a:bodyPr>
            <a:lstStyle/>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Posición, manchas y clases</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Captions con plantilla fija, sin LLM</a:t>
              </a:r>
            </a:p>
            <a:p>
              <a:pPr algn="l" marL="0" indent="0" lvl="0">
                <a:lnSpc>
                  <a:spcPts val="2800"/>
                </a:lnSpc>
                <a:spcBef>
                  <a:spcPct val="0"/>
                </a:spcBef>
              </a:pPr>
              <a:r>
                <a:rPr lang="en-US" sz="2000" spc="-30" strike="noStrike" u="none" i="0">
                  <a:solidFill>
                    <a:srgbClr val="F5F7FA"/>
                  </a:solidFill>
                  <a:latin typeface="Helvetica World"/>
                  <a:ea typeface="Helvetica World"/>
                  <a:cs typeface="Helvetica World"/>
                  <a:sym typeface="Helvetica World"/>
                </a:rPr>
                <a:t>• Muchos pares, texto repetitivo</a:t>
              </a:r>
            </a:p>
          </p:txBody>
        </p:sp>
      </p:grpSp>
      <p:grpSp>
        <p:nvGrpSpPr>
          <p:cNvPr name="Group 15" id="15"/>
          <p:cNvGrpSpPr/>
          <p:nvPr/>
        </p:nvGrpSpPr>
        <p:grpSpPr>
          <a:xfrm rot="0">
            <a:off x="8572500" y="5143500"/>
            <a:ext cx="28575" cy="2381250"/>
            <a:chOff x="0" y="0"/>
            <a:chExt cx="38100" cy="3175000"/>
          </a:xfrm>
        </p:grpSpPr>
        <p:sp>
          <p:nvSpPr>
            <p:cNvPr name="Freeform 16" id="16"/>
            <p:cNvSpPr/>
            <p:nvPr/>
          </p:nvSpPr>
          <p:spPr>
            <a:xfrm flipH="false" flipV="false" rot="0">
              <a:off x="0" y="0"/>
              <a:ext cx="38100" cy="3175000"/>
            </a:xfrm>
            <a:custGeom>
              <a:avLst/>
              <a:gdLst/>
              <a:ahLst/>
              <a:cxnLst/>
              <a:rect r="r" b="b" t="t" l="l"/>
              <a:pathLst>
                <a:path h="3175000" w="38100">
                  <a:moveTo>
                    <a:pt x="0" y="0"/>
                  </a:moveTo>
                  <a:lnTo>
                    <a:pt x="38100" y="0"/>
                  </a:lnTo>
                  <a:lnTo>
                    <a:pt x="38100" y="3175000"/>
                  </a:lnTo>
                  <a:lnTo>
                    <a:pt x="0" y="3175000"/>
                  </a:lnTo>
                  <a:close/>
                </a:path>
              </a:pathLst>
            </a:custGeom>
            <a:solidFill>
              <a:srgbClr val="F5B82E"/>
            </a:solidFill>
          </p:spPr>
        </p:sp>
        <p:sp>
          <p:nvSpPr>
            <p:cNvPr name="TextBox 17" id="17"/>
            <p:cNvSpPr txBox="true"/>
            <p:nvPr/>
          </p:nvSpPr>
          <p:spPr>
            <a:xfrm>
              <a:off x="0" y="-38100"/>
              <a:ext cx="38100" cy="3213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15049500" y="1238250"/>
            <a:ext cx="1905000" cy="1905000"/>
            <a:chOff x="0" y="0"/>
            <a:chExt cx="2540000" cy="2540000"/>
          </a:xfrm>
        </p:grpSpPr>
        <p:sp>
          <p:nvSpPr>
            <p:cNvPr name="Freeform 23" id="23"/>
            <p:cNvSpPr/>
            <p:nvPr/>
          </p:nvSpPr>
          <p:spPr>
            <a:xfrm flipH="false" flipV="false" rot="0">
              <a:off x="285750" y="285750"/>
              <a:ext cx="1968500" cy="1968500"/>
            </a:xfrm>
            <a:custGeom>
              <a:avLst/>
              <a:gdLst/>
              <a:ahLst/>
              <a:cxnLst/>
              <a:rect r="r" b="b" t="t" l="l"/>
              <a:pathLst>
                <a:path h="1968500" w="1968500">
                  <a:moveTo>
                    <a:pt x="423333" y="984250"/>
                  </a:moveTo>
                  <a:cubicBezTo>
                    <a:pt x="423333" y="1294036"/>
                    <a:pt x="674464" y="1545167"/>
                    <a:pt x="984250" y="1545167"/>
                  </a:cubicBezTo>
                  <a:cubicBezTo>
                    <a:pt x="1294036" y="1545167"/>
                    <a:pt x="1545167" y="1294036"/>
                    <a:pt x="1545167" y="984250"/>
                  </a:cubicBezTo>
                  <a:cubicBezTo>
                    <a:pt x="1545167" y="674464"/>
                    <a:pt x="1294036" y="423333"/>
                    <a:pt x="984250" y="423333"/>
                  </a:cubicBezTo>
                  <a:cubicBezTo>
                    <a:pt x="674464" y="423333"/>
                    <a:pt x="423333" y="674464"/>
                    <a:pt x="423333" y="984250"/>
                  </a:cubicBezTo>
                  <a:close/>
                  <a:moveTo>
                    <a:pt x="1917700" y="401108"/>
                  </a:moveTo>
                  <a:cubicBezTo>
                    <a:pt x="1852103" y="289672"/>
                    <a:pt x="1611364" y="298681"/>
                    <a:pt x="1287048" y="424711"/>
                  </a:cubicBezTo>
                  <a:cubicBezTo>
                    <a:pt x="962732" y="550740"/>
                    <a:pt x="604683" y="774419"/>
                    <a:pt x="349085" y="1010672"/>
                  </a:cubicBezTo>
                  <a:cubicBezTo>
                    <a:pt x="93487" y="1246925"/>
                    <a:pt x="-20378" y="1459442"/>
                    <a:pt x="50800" y="1567392"/>
                  </a:cubicBezTo>
                  <a:cubicBezTo>
                    <a:pt x="116397" y="1678828"/>
                    <a:pt x="357136" y="1669819"/>
                    <a:pt x="681452" y="1543789"/>
                  </a:cubicBezTo>
                  <a:cubicBezTo>
                    <a:pt x="1005768" y="1417760"/>
                    <a:pt x="1363817" y="1194081"/>
                    <a:pt x="1619415" y="957828"/>
                  </a:cubicBezTo>
                  <a:cubicBezTo>
                    <a:pt x="1875013" y="721575"/>
                    <a:pt x="1988878" y="509058"/>
                    <a:pt x="1917700" y="401108"/>
                  </a:cubicBezTo>
                  <a:close/>
                  <a:moveTo>
                    <a:pt x="984250" y="169333"/>
                  </a:moveTo>
                  <a:lnTo>
                    <a:pt x="984250" y="0"/>
                  </a:lnTo>
                  <a:moveTo>
                    <a:pt x="984250" y="1968500"/>
                  </a:moveTo>
                  <a:lnTo>
                    <a:pt x="984250" y="1799167"/>
                  </a:lnTo>
                  <a:moveTo>
                    <a:pt x="169333" y="984250"/>
                  </a:moveTo>
                  <a:lnTo>
                    <a:pt x="0" y="984250"/>
                  </a:lnTo>
                  <a:moveTo>
                    <a:pt x="1968500" y="984250"/>
                  </a:moveTo>
                  <a:lnTo>
                    <a:pt x="1799167" y="984250"/>
                  </a:lnTo>
                  <a:moveTo>
                    <a:pt x="412750" y="412750"/>
                  </a:moveTo>
                  <a:lnTo>
                    <a:pt x="296333" y="296333"/>
                  </a:lnTo>
                  <a:moveTo>
                    <a:pt x="1555750" y="1555750"/>
                  </a:moveTo>
                  <a:lnTo>
                    <a:pt x="1672167" y="1672167"/>
                  </a:lnTo>
                  <a:moveTo>
                    <a:pt x="465667" y="1058333"/>
                  </a:moveTo>
                  <a:lnTo>
                    <a:pt x="698500" y="1058333"/>
                  </a:lnTo>
                  <a:lnTo>
                    <a:pt x="814917" y="814917"/>
                  </a:lnTo>
                  <a:lnTo>
                    <a:pt x="994833" y="1238250"/>
                  </a:lnTo>
                  <a:lnTo>
                    <a:pt x="1153583" y="920750"/>
                  </a:lnTo>
                  <a:lnTo>
                    <a:pt x="1259417" y="1058333"/>
                  </a:lnTo>
                  <a:lnTo>
                    <a:pt x="1513417" y="1058333"/>
                  </a:lnTo>
                </a:path>
              </a:pathLst>
            </a:custGeom>
            <a:ln w="47625" cap="sq">
              <a:solidFill>
                <a:srgbClr val="F5B82E"/>
              </a:solidFill>
              <a:prstDash val="solid"/>
              <a:miter/>
            </a:ln>
          </p:spPr>
        </p:sp>
        <p:sp>
          <p:nvSpPr>
            <p:cNvPr name="TextBox 24" id="24"/>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5049500" y="1238250"/>
            <a:ext cx="1905000" cy="1905000"/>
            <a:chOff x="0" y="0"/>
            <a:chExt cx="2540000" cy="2540000"/>
          </a:xfrm>
        </p:grpSpPr>
        <p:sp>
          <p:nvSpPr>
            <p:cNvPr name="Freeform 26" id="26"/>
            <p:cNvSpPr/>
            <p:nvPr/>
          </p:nvSpPr>
          <p:spPr>
            <a:xfrm flipH="false" flipV="false" rot="0">
              <a:off x="1820333" y="328083"/>
              <a:ext cx="338667" cy="338667"/>
            </a:xfrm>
            <a:custGeom>
              <a:avLst/>
              <a:gdLst/>
              <a:ahLst/>
              <a:cxnLst/>
              <a:rect r="r" b="b" t="t" l="l"/>
              <a:pathLst>
                <a:path h="338667" w="338667">
                  <a:moveTo>
                    <a:pt x="169334" y="0"/>
                  </a:moveTo>
                  <a:lnTo>
                    <a:pt x="211667" y="127000"/>
                  </a:lnTo>
                  <a:lnTo>
                    <a:pt x="338667" y="169334"/>
                  </a:lnTo>
                  <a:lnTo>
                    <a:pt x="211667" y="211667"/>
                  </a:lnTo>
                  <a:lnTo>
                    <a:pt x="169334" y="338667"/>
                  </a:lnTo>
                  <a:lnTo>
                    <a:pt x="127000" y="211667"/>
                  </a:lnTo>
                  <a:lnTo>
                    <a:pt x="0" y="169334"/>
                  </a:lnTo>
                  <a:lnTo>
                    <a:pt x="127000" y="127000"/>
                  </a:lnTo>
                  <a:close/>
                </a:path>
              </a:pathLst>
            </a:custGeom>
            <a:solidFill>
              <a:srgbClr val="FFFFFF"/>
            </a:solidFill>
          </p:spPr>
        </p:sp>
        <p:sp>
          <p:nvSpPr>
            <p:cNvPr name="TextBox 27" id="27"/>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29" id="29"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30" id="30"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3499"/>
              </a:lnSpc>
              <a:spcBef>
                <a:spcPct val="0"/>
              </a:spcBef>
              <a:buFont typeface="Arial"/>
              <a:buChar char="•"/>
            </a:pPr>
            <a:r>
              <a:rPr lang="en-US" sz="2499" spc="-37" strike="noStrike" u="none" i="0">
                <a:solidFill>
                  <a:srgbClr val="071D30"/>
                </a:solidFill>
                <a:latin typeface="Helvetica World"/>
                <a:ea typeface="Helvetica World"/>
                <a:cs typeface="Helvetica World"/>
                <a:sym typeface="Helvetica World"/>
              </a:rPr>
              <a:t>Recorte de </a:t>
            </a:r>
            <a:r>
              <a:rPr lang="en-US" sz="2499" spc="-37" strike="noStrike" u="none" b="1" i="0">
                <a:solidFill>
                  <a:srgbClr val="071D30"/>
                </a:solidFill>
                <a:latin typeface="Helvetica World Bold"/>
                <a:ea typeface="Helvetica World Bold"/>
                <a:cs typeface="Helvetica World Bold"/>
                <a:sym typeface="Helvetica World"/>
              </a:rPr>
              <a:t>704 × 704 px</a:t>
            </a:r>
            <a:r>
              <a:rPr lang="en-US" sz="2499" spc="-37" strike="noStrike" u="none" i="0">
                <a:solidFill>
                  <a:srgbClr val="071D30"/>
                </a:solidFill>
                <a:latin typeface="Helvetica World"/>
                <a:ea typeface="Helvetica World"/>
                <a:cs typeface="Helvetica World"/>
                <a:sym typeface="Helvetica World"/>
              </a:rPr>
              <a:t> alrededor de la AR 11944</a:t>
            </a:r>
          </a:p>
          <a:p>
            <a:pPr algn="l" marL="539748" indent="-269874" lvl="1">
              <a:lnSpc>
                <a:spcPts val="3499"/>
              </a:lnSpc>
              <a:spcBef>
                <a:spcPct val="0"/>
              </a:spcBef>
              <a:buFont typeface="Arial"/>
              <a:buChar char="•"/>
            </a:pPr>
            <a:r>
              <a:rPr lang="en-US" sz="2499" spc="-37" strike="noStrike" u="none" i="0">
                <a:solidFill>
                  <a:srgbClr val="071D30"/>
                </a:solidFill>
                <a:latin typeface="Helvetica World"/>
                <a:ea typeface="Helvetica World"/>
                <a:cs typeface="Helvetica World"/>
                <a:sym typeface="Helvetica World"/>
              </a:rPr>
              <a:t>Un token por patch de </a:t>
            </a:r>
            <a:r>
              <a:rPr lang="en-US" sz="2499" spc="-37" strike="noStrike" u="none" b="1" i="0">
                <a:solidFill>
                  <a:srgbClr val="071D30"/>
                </a:solidFill>
                <a:latin typeface="Helvetica World Bold"/>
                <a:ea typeface="Helvetica World Bold"/>
                <a:cs typeface="Helvetica World Bold"/>
                <a:sym typeface="Helvetica World"/>
              </a:rPr>
              <a:t>16 × 16 px</a:t>
            </a:r>
            <a:r>
              <a:rPr lang="en-US" sz="2499" spc="-37" strike="noStrike" u="none" i="0">
                <a:solidFill>
                  <a:srgbClr val="071D30"/>
                </a:solidFill>
                <a:latin typeface="Helvetica World"/>
                <a:ea typeface="Helvetica World"/>
                <a:cs typeface="Helvetica World"/>
                <a:sym typeface="Helvetica World"/>
              </a:rPr>
              <a:t>: </a:t>
            </a:r>
            <a:r>
              <a:rPr lang="en-US" sz="2499" spc="-37" strike="noStrike" u="none" b="1" i="0">
                <a:solidFill>
                  <a:srgbClr val="071D30"/>
                </a:solidFill>
                <a:latin typeface="Helvetica World Bold"/>
                <a:ea typeface="Helvetica World Bold"/>
                <a:cs typeface="Helvetica World Bold"/>
                <a:sym typeface="Helvetica World"/>
              </a:rPr>
              <a:t>45 × 45</a:t>
            </a:r>
            <a:r>
              <a:rPr lang="en-US" sz="2499" spc="-37" strike="noStrike" u="none" i="0">
                <a:solidFill>
                  <a:srgbClr val="071D30"/>
                </a:solidFill>
                <a:latin typeface="Helvetica World"/>
                <a:ea typeface="Helvetica World"/>
                <a:cs typeface="Helvetica World"/>
                <a:sym typeface="Helvetica World"/>
              </a:rPr>
              <a:t> tokens de 1280 dimensiones</a:t>
            </a:r>
          </a:p>
          <a:p>
            <a:pPr algn="l" marL="539748" indent="-269874" lvl="1">
              <a:lnSpc>
                <a:spcPts val="3499"/>
              </a:lnSpc>
              <a:spcBef>
                <a:spcPct val="0"/>
              </a:spcBef>
              <a:buFont typeface="Arial"/>
              <a:buChar char="•"/>
            </a:pPr>
            <a:r>
              <a:rPr lang="en-US" sz="2499" spc="-37" strike="noStrike" u="none" b="1" i="0">
                <a:solidFill>
                  <a:srgbClr val="071D30"/>
                </a:solidFill>
                <a:latin typeface="Helvetica World Bold"/>
                <a:ea typeface="Helvetica World Bold"/>
                <a:cs typeface="Helvetica World Bold"/>
                <a:sym typeface="Helvetica World"/>
              </a:rPr>
              <a:t>Adaptive pooling</a:t>
            </a:r>
            <a:r>
              <a:rPr lang="en-US" sz="2499" spc="-37" strike="noStrike" u="none" i="0">
                <a:solidFill>
                  <a:srgbClr val="071D30"/>
                </a:solidFill>
                <a:latin typeface="Helvetica World"/>
                <a:ea typeface="Helvetica World"/>
                <a:cs typeface="Helvetica World"/>
                <a:sym typeface="Helvetica World"/>
              </a:rPr>
              <a:t> a 16 × 16 = </a:t>
            </a:r>
            <a:r>
              <a:rPr lang="en-US" sz="2499" spc="-37" strike="noStrike" u="none" b="1" i="0">
                <a:solidFill>
                  <a:srgbClr val="071D30"/>
                </a:solidFill>
                <a:latin typeface="Helvetica World Bold"/>
                <a:ea typeface="Helvetica World Bold"/>
                <a:cs typeface="Helvetica World Bold"/>
                <a:sym typeface="Helvetica World"/>
              </a:rPr>
              <a:t>256 tokens</a:t>
            </a:r>
          </a:p>
          <a:p>
            <a:pPr algn="l" marL="539748" indent="-269874" lvl="1">
              <a:lnSpc>
                <a:spcPts val="3499"/>
              </a:lnSpc>
              <a:spcBef>
                <a:spcPct val="0"/>
              </a:spcBef>
              <a:buFont typeface="Arial"/>
              <a:buChar char="•"/>
            </a:pPr>
            <a:r>
              <a:rPr lang="en-US" sz="2499" spc="-37" strike="noStrike" u="none" i="0">
                <a:solidFill>
                  <a:srgbClr val="071D30"/>
                </a:solidFill>
                <a:latin typeface="Helvetica World"/>
                <a:ea typeface="Helvetica World"/>
                <a:cs typeface="Helvetica World"/>
                <a:sym typeface="Helvetica World"/>
              </a:rPr>
              <a:t>Surya corre sobre el </a:t>
            </a:r>
            <a:r>
              <a:rPr lang="en-US" sz="2499" spc="-37" strike="noStrike" u="none" b="1" i="0">
                <a:solidFill>
                  <a:srgbClr val="071D30"/>
                </a:solidFill>
                <a:latin typeface="Helvetica World Bold"/>
                <a:ea typeface="Helvetica World Bold"/>
                <a:cs typeface="Helvetica World Bold"/>
                <a:sym typeface="Helvetica World"/>
              </a:rPr>
              <a:t>disco completo</a:t>
            </a:r>
            <a:r>
              <a:rPr lang="en-US" sz="2499" spc="-37" strike="noStrike" u="none" i="0">
                <a:solidFill>
                  <a:srgbClr val="071D30"/>
                </a:solidFill>
                <a:latin typeface="Helvetica World"/>
                <a:ea typeface="Helvetica World"/>
                <a:cs typeface="Helvetica World"/>
                <a:sym typeface="Helvetica World"/>
              </a:rPr>
              <a:t>: se recortan tokens, no la imagen</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De la región a 256 tokens</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CONCEPTO</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Recortar la imagen quitaría el contexto de posición y escala que Surya aprendió.</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AIA 131 Å de la AR 11944 (7 ene 2014, 18:24 UT) y la norma L2 de sus tokens de Surya</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region_tokens.png"/>
          <p:cNvPicPr>
            <a:picLocks noChangeAspect="1"/>
          </p:cNvPicPr>
          <p:nvPr/>
        </p:nvPicPr>
        <p:blipFill>
          <a:blip r:embed="rId5"/>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1190625"/>
            <a:ext cx="6886575" cy="866775"/>
          </a:xfrm>
          <a:prstGeom prst="rect">
            <a:avLst/>
          </a:prstGeom>
        </p:spPr>
        <p:txBody>
          <a:bodyPr anchor="t" rtlCol="false" tIns="0" lIns="0" bIns="0" rIns="0">
            <a:spAutoFit/>
          </a:bodyPr>
          <a:lstStyle/>
          <a:p>
            <a:pPr algn="l" marL="0" indent="0" lvl="0">
              <a:lnSpc>
                <a:spcPts val="4840"/>
              </a:lnSpc>
              <a:spcBef>
                <a:spcPct val="0"/>
              </a:spcBef>
            </a:pPr>
            <a:r>
              <a:rPr lang="en-US" sz="4400" strike="noStrike" u="none" i="0">
                <a:solidFill>
                  <a:srgbClr val="071D30"/>
                </a:solidFill>
                <a:latin typeface="Georgia Pro Condensed"/>
                <a:ea typeface="Georgia Pro Condensed"/>
                <a:cs typeface="Georgia Pro Condensed"/>
                <a:sym typeface="Georgia Pro Condensed"/>
              </a:rPr>
              <a:t>Práctica 1: del dato a los tokens</a:t>
            </a:r>
          </a:p>
        </p:txBody>
      </p:sp>
      <p:sp>
        <p:nvSpPr>
          <p:cNvPr name="TextBox 3" id="3"/>
          <p:cNvSpPr txBox="true"/>
          <p:nvPr/>
        </p:nvSpPr>
        <p:spPr>
          <a:xfrm rot="0">
            <a:off x="666750" y="3771900"/>
            <a:ext cx="6886575" cy="1289050"/>
          </a:xfrm>
          <a:prstGeom prst="rect">
            <a:avLst/>
          </a:prstGeom>
        </p:spPr>
        <p:txBody>
          <a:bodyPr anchor="t" rtlCol="false" tIns="0" lIns="0" bIns="0" rIns="0">
            <a:spAutoFit/>
          </a:bodyPr>
          <a:lstStyle/>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1.  Corre las secciones 1 a 5 del notebook</a:t>
            </a:r>
          </a:p>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2.  Cambia nombre a otro canal y compara los pasos</a:t>
            </a:r>
          </a:p>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3.  Mira por qué la media no queda en 0</a:t>
            </a:r>
          </a:p>
        </p:txBody>
      </p:sp>
      <p:sp>
        <p:nvSpPr>
          <p:cNvPr name="TextBox 4" id="4"/>
          <p:cNvSpPr txBox="true"/>
          <p:nvPr/>
        </p:nvSpPr>
        <p:spPr>
          <a:xfrm rot="0">
            <a:off x="685800" y="657225"/>
            <a:ext cx="6667500" cy="300990"/>
          </a:xfrm>
          <a:prstGeom prst="rect">
            <a:avLst/>
          </a:prstGeom>
        </p:spPr>
        <p:txBody>
          <a:bodyPr anchor="t" rtlCol="false" tIns="0" lIns="0" bIns="0" rIns="0">
            <a:spAutoFit/>
          </a:bodyPr>
          <a:lstStyle/>
          <a:p>
            <a:pPr algn="l">
              <a:lnSpc>
                <a:spcPts val="2310"/>
              </a:lnSpc>
            </a:pPr>
            <a:r>
              <a:rPr lang="en-US" sz="1650" b="true">
                <a:solidFill>
                  <a:srgbClr val="087F8C"/>
                </a:solidFill>
                <a:latin typeface="Arimo Bold"/>
                <a:ea typeface="Arimo Bold"/>
                <a:cs typeface="Arimo Bold"/>
                <a:sym typeface="Arimo Bold"/>
              </a:rPr>
              <a:t>CÓDIGO  ·  PRÁCTICA</a:t>
            </a:r>
          </a:p>
        </p:txBody>
      </p:sp>
      <p:grpSp>
        <p:nvGrpSpPr>
          <p:cNvPr name="Group 5" id="5"/>
          <p:cNvGrpSpPr/>
          <p:nvPr/>
        </p:nvGrpSpPr>
        <p:grpSpPr>
          <a:xfrm rot="0">
            <a:off x="8382000" y="762000"/>
            <a:ext cx="9239250" cy="8382000"/>
            <a:chOff x="0" y="0"/>
            <a:chExt cx="12319000" cy="11176000"/>
          </a:xfrm>
        </p:grpSpPr>
        <p:sp>
          <p:nvSpPr>
            <p:cNvPr name="Freeform 6" id="6"/>
            <p:cNvSpPr/>
            <p:nvPr/>
          </p:nvSpPr>
          <p:spPr>
            <a:xfrm flipH="false" flipV="false" rot="0">
              <a:off x="0" y="0"/>
              <a:ext cx="12319000" cy="11176000"/>
            </a:xfrm>
            <a:custGeom>
              <a:avLst/>
              <a:gdLst/>
              <a:ahLst/>
              <a:cxnLst/>
              <a:rect r="r" b="b" t="t" l="l"/>
              <a:pathLst>
                <a:path h="11176000" w="12319000">
                  <a:moveTo>
                    <a:pt x="279400" y="0"/>
                  </a:moveTo>
                  <a:lnTo>
                    <a:pt x="12039600" y="0"/>
                  </a:lnTo>
                  <a:cubicBezTo>
                    <a:pt x="12193908" y="0"/>
                    <a:pt x="12319000" y="125092"/>
                    <a:pt x="12319000" y="279400"/>
                  </a:cubicBezTo>
                  <a:lnTo>
                    <a:pt x="12319000" y="10896600"/>
                  </a:lnTo>
                  <a:cubicBezTo>
                    <a:pt x="12319000" y="11050908"/>
                    <a:pt x="12193908" y="11176000"/>
                    <a:pt x="12039600" y="11176000"/>
                  </a:cubicBezTo>
                  <a:lnTo>
                    <a:pt x="279400" y="11176000"/>
                  </a:lnTo>
                  <a:cubicBezTo>
                    <a:pt x="125092" y="11176000"/>
                    <a:pt x="0" y="11050908"/>
                    <a:pt x="0" y="10896600"/>
                  </a:cubicBezTo>
                  <a:lnTo>
                    <a:pt x="0" y="279400"/>
                  </a:lnTo>
                  <a:cubicBezTo>
                    <a:pt x="0" y="125092"/>
                    <a:pt x="125092" y="0"/>
                    <a:pt x="279400" y="0"/>
                  </a:cubicBezTo>
                  <a:close/>
                </a:path>
              </a:pathLst>
            </a:custGeom>
            <a:solidFill>
              <a:srgbClr val="0B1622"/>
            </a:solidFill>
          </p:spPr>
        </p:sp>
        <p:sp>
          <p:nvSpPr>
            <p:cNvPr name="TextBox 7" id="7"/>
            <p:cNvSpPr txBox="true"/>
            <p:nvPr/>
          </p:nvSpPr>
          <p:spPr>
            <a:xfrm>
              <a:off x="0" y="-38100"/>
              <a:ext cx="12319000" cy="11214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8382000" y="762000"/>
            <a:ext cx="9239250" cy="666750"/>
            <a:chOff x="0" y="0"/>
            <a:chExt cx="12319000" cy="889000"/>
          </a:xfrm>
        </p:grpSpPr>
        <p:sp>
          <p:nvSpPr>
            <p:cNvPr name="Freeform 9" id="9"/>
            <p:cNvSpPr/>
            <p:nvPr/>
          </p:nvSpPr>
          <p:spPr>
            <a:xfrm flipH="false" flipV="false" rot="0">
              <a:off x="0" y="0"/>
              <a:ext cx="12319000" cy="889000"/>
            </a:xfrm>
            <a:custGeom>
              <a:avLst/>
              <a:gdLst/>
              <a:ahLst/>
              <a:cxnLst/>
              <a:rect r="r" b="b" t="t" l="l"/>
              <a:pathLst>
                <a:path h="889000" w="12319000">
                  <a:moveTo>
                    <a:pt x="279400" y="0"/>
                  </a:moveTo>
                  <a:lnTo>
                    <a:pt x="12039600" y="0"/>
                  </a:lnTo>
                  <a:cubicBezTo>
                    <a:pt x="12193908" y="0"/>
                    <a:pt x="12319000" y="125092"/>
                    <a:pt x="12319000" y="279400"/>
                  </a:cubicBezTo>
                  <a:lnTo>
                    <a:pt x="12319000" y="609600"/>
                  </a:lnTo>
                  <a:cubicBezTo>
                    <a:pt x="12319000" y="763908"/>
                    <a:pt x="12193908" y="889000"/>
                    <a:pt x="12039600" y="889000"/>
                  </a:cubicBezTo>
                  <a:lnTo>
                    <a:pt x="279400" y="889000"/>
                  </a:lnTo>
                  <a:cubicBezTo>
                    <a:pt x="125092" y="889000"/>
                    <a:pt x="0" y="763908"/>
                    <a:pt x="0" y="609600"/>
                  </a:cubicBezTo>
                  <a:lnTo>
                    <a:pt x="0" y="279400"/>
                  </a:lnTo>
                  <a:cubicBezTo>
                    <a:pt x="0" y="125092"/>
                    <a:pt x="125092" y="0"/>
                    <a:pt x="279400" y="0"/>
                  </a:cubicBezTo>
                  <a:close/>
                </a:path>
              </a:pathLst>
            </a:custGeom>
            <a:solidFill>
              <a:srgbClr val="102C43"/>
            </a:solidFill>
          </p:spPr>
        </p:sp>
        <p:sp>
          <p:nvSpPr>
            <p:cNvPr name="TextBox 10" id="10"/>
            <p:cNvSpPr txBox="true"/>
            <p:nvPr/>
          </p:nvSpPr>
          <p:spPr>
            <a:xfrm>
              <a:off x="0" y="-38100"/>
              <a:ext cx="12319000" cy="927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8667750" y="1009650"/>
            <a:ext cx="171450" cy="171450"/>
            <a:chOff x="0" y="0"/>
            <a:chExt cx="228600" cy="228600"/>
          </a:xfrm>
        </p:grpSpPr>
        <p:sp>
          <p:nvSpPr>
            <p:cNvPr name="Freeform 12" id="12"/>
            <p:cNvSpPr/>
            <p:nvPr/>
          </p:nvSpPr>
          <p:spPr>
            <a:xfrm flipH="false" flipV="false" rot="0">
              <a:off x="0" y="0"/>
              <a:ext cx="228600" cy="228600"/>
            </a:xfrm>
            <a:custGeom>
              <a:avLst/>
              <a:gdLst/>
              <a:ahLst/>
              <a:cxnLst/>
              <a:rect r="r" b="b" t="t" l="l"/>
              <a:pathLst>
                <a:path h="228600" w="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path>
              </a:pathLst>
            </a:custGeom>
            <a:solidFill>
              <a:srgbClr val="FF5F57"/>
            </a:solidFill>
          </p:spPr>
        </p:sp>
        <p:sp>
          <p:nvSpPr>
            <p:cNvPr name="TextBox 13" id="13"/>
            <p:cNvSpPr txBox="true"/>
            <p:nvPr/>
          </p:nvSpPr>
          <p:spPr>
            <a:xfrm>
              <a:off x="0" y="-38100"/>
              <a:ext cx="228600" cy="266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8953500" y="1009650"/>
            <a:ext cx="171450" cy="171450"/>
            <a:chOff x="0" y="0"/>
            <a:chExt cx="228600" cy="228600"/>
          </a:xfrm>
        </p:grpSpPr>
        <p:sp>
          <p:nvSpPr>
            <p:cNvPr name="Freeform 15" id="15"/>
            <p:cNvSpPr/>
            <p:nvPr/>
          </p:nvSpPr>
          <p:spPr>
            <a:xfrm flipH="false" flipV="false" rot="0">
              <a:off x="0" y="0"/>
              <a:ext cx="228600" cy="228600"/>
            </a:xfrm>
            <a:custGeom>
              <a:avLst/>
              <a:gdLst/>
              <a:ahLst/>
              <a:cxnLst/>
              <a:rect r="r" b="b" t="t" l="l"/>
              <a:pathLst>
                <a:path h="228600" w="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path>
              </a:pathLst>
            </a:custGeom>
            <a:solidFill>
              <a:srgbClr val="F5B82E"/>
            </a:solidFill>
          </p:spPr>
        </p:sp>
        <p:sp>
          <p:nvSpPr>
            <p:cNvPr name="TextBox 16" id="16"/>
            <p:cNvSpPr txBox="true"/>
            <p:nvPr/>
          </p:nvSpPr>
          <p:spPr>
            <a:xfrm>
              <a:off x="0" y="-38100"/>
              <a:ext cx="228600" cy="2667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9239250" y="1009650"/>
            <a:ext cx="171450" cy="171450"/>
            <a:chOff x="0" y="0"/>
            <a:chExt cx="228600" cy="228600"/>
          </a:xfrm>
        </p:grpSpPr>
        <p:sp>
          <p:nvSpPr>
            <p:cNvPr name="Freeform 18" id="18"/>
            <p:cNvSpPr/>
            <p:nvPr/>
          </p:nvSpPr>
          <p:spPr>
            <a:xfrm flipH="false" flipV="false" rot="0">
              <a:off x="0" y="0"/>
              <a:ext cx="228600" cy="228600"/>
            </a:xfrm>
            <a:custGeom>
              <a:avLst/>
              <a:gdLst/>
              <a:ahLst/>
              <a:cxnLst/>
              <a:rect r="r" b="b" t="t" l="l"/>
              <a:pathLst>
                <a:path h="228600" w="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path>
              </a:pathLst>
            </a:custGeom>
            <a:solidFill>
              <a:srgbClr val="28C840"/>
            </a:solidFill>
          </p:spPr>
        </p:sp>
        <p:sp>
          <p:nvSpPr>
            <p:cNvPr name="TextBox 19" id="19"/>
            <p:cNvSpPr txBox="true"/>
            <p:nvPr/>
          </p:nvSpPr>
          <p:spPr>
            <a:xfrm>
              <a:off x="0" y="-38100"/>
              <a:ext cx="228600" cy="2667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9715500" y="904875"/>
            <a:ext cx="5715000" cy="300990"/>
          </a:xfrm>
          <a:prstGeom prst="rect">
            <a:avLst/>
          </a:prstGeom>
        </p:spPr>
        <p:txBody>
          <a:bodyPr anchor="t" rtlCol="false" tIns="0" lIns="0" bIns="0" rIns="0">
            <a:spAutoFit/>
          </a:bodyPr>
          <a:lstStyle/>
          <a:p>
            <a:pPr algn="l">
              <a:lnSpc>
                <a:spcPts val="2310"/>
              </a:lnSpc>
            </a:pPr>
            <a:r>
              <a:rPr lang="en-US" sz="1650" i="0">
                <a:solidFill>
                  <a:srgbClr val="9FB3C8"/>
                </a:solidFill>
                <a:latin typeface="Arimo"/>
                <a:ea typeface="Arimo"/>
                <a:cs typeface="Arimo"/>
                <a:sym typeface="Arimo"/>
              </a:rPr>
              <a:t>01_Del_dato_solar_al_caption.ipynb</a:t>
            </a:r>
          </a:p>
        </p:txBody>
      </p:sp>
      <p:sp>
        <p:nvSpPr>
          <p:cNvPr name="TextBox 21" id="21"/>
          <p:cNvSpPr txBox="true"/>
          <p:nvPr/>
        </p:nvSpPr>
        <p:spPr>
          <a:xfrm rot="0">
            <a:off x="8620125" y="1657350"/>
            <a:ext cx="476250" cy="5120640"/>
          </a:xfrm>
          <a:prstGeom prst="rect">
            <a:avLst/>
          </a:prstGeom>
        </p:spPr>
        <p:txBody>
          <a:bodyPr anchor="t" rtlCol="false" tIns="0" lIns="0" bIns="0" rIns="0">
            <a:spAutoFit/>
          </a:bodyPr>
          <a:lstStyle/>
          <a:p>
            <a:pPr algn="r">
              <a:lnSpc>
                <a:spcPts val="3720"/>
              </a:lnSpc>
            </a:pPr>
            <a:r>
              <a:rPr lang="en-US" sz="2325">
                <a:solidFill>
                  <a:srgbClr val="53697A"/>
                </a:solidFill>
                <a:latin typeface="Arimo"/>
                <a:ea typeface="Arimo"/>
                <a:cs typeface="Arimo"/>
                <a:sym typeface="Arimo"/>
              </a:rPr>
              <a:t>1</a:t>
            </a:r>
          </a:p>
          <a:p>
            <a:pPr algn="r">
              <a:lnSpc>
                <a:spcPts val="3720"/>
              </a:lnSpc>
            </a:pPr>
            <a:r>
              <a:rPr lang="en-US" sz="2325">
                <a:solidFill>
                  <a:srgbClr val="53697A"/>
                </a:solidFill>
                <a:latin typeface="Arimo"/>
                <a:ea typeface="Arimo"/>
                <a:cs typeface="Arimo"/>
                <a:sym typeface="Arimo"/>
              </a:rPr>
              <a:t>2</a:t>
            </a:r>
          </a:p>
          <a:p>
            <a:pPr algn="r">
              <a:lnSpc>
                <a:spcPts val="3720"/>
              </a:lnSpc>
            </a:pPr>
            <a:r>
              <a:rPr lang="en-US" sz="2325">
                <a:solidFill>
                  <a:srgbClr val="53697A"/>
                </a:solidFill>
                <a:latin typeface="Arimo"/>
                <a:ea typeface="Arimo"/>
                <a:cs typeface="Arimo"/>
                <a:sym typeface="Arimo"/>
              </a:rPr>
              <a:t>3</a:t>
            </a:r>
          </a:p>
          <a:p>
            <a:pPr algn="r">
              <a:lnSpc>
                <a:spcPts val="3720"/>
              </a:lnSpc>
            </a:pPr>
            <a:r>
              <a:rPr lang="en-US" sz="2325">
                <a:solidFill>
                  <a:srgbClr val="53697A"/>
                </a:solidFill>
                <a:latin typeface="Arimo"/>
                <a:ea typeface="Arimo"/>
                <a:cs typeface="Arimo"/>
                <a:sym typeface="Arimo"/>
              </a:rPr>
              <a:t>4</a:t>
            </a:r>
          </a:p>
          <a:p>
            <a:pPr algn="r">
              <a:lnSpc>
                <a:spcPts val="3720"/>
              </a:lnSpc>
            </a:pPr>
            <a:r>
              <a:rPr lang="en-US" sz="2325">
                <a:solidFill>
                  <a:srgbClr val="53697A"/>
                </a:solidFill>
                <a:latin typeface="Arimo"/>
                <a:ea typeface="Arimo"/>
                <a:cs typeface="Arimo"/>
                <a:sym typeface="Arimo"/>
              </a:rPr>
              <a:t>5</a:t>
            </a:r>
          </a:p>
          <a:p>
            <a:pPr algn="r">
              <a:lnSpc>
                <a:spcPts val="3720"/>
              </a:lnSpc>
            </a:pPr>
            <a:r>
              <a:rPr lang="en-US" sz="2325">
                <a:solidFill>
                  <a:srgbClr val="53697A"/>
                </a:solidFill>
                <a:latin typeface="Arimo"/>
                <a:ea typeface="Arimo"/>
                <a:cs typeface="Arimo"/>
                <a:sym typeface="Arimo"/>
              </a:rPr>
              <a:t>6</a:t>
            </a:r>
          </a:p>
          <a:p>
            <a:pPr algn="r">
              <a:lnSpc>
                <a:spcPts val="3720"/>
              </a:lnSpc>
            </a:pPr>
            <a:r>
              <a:rPr lang="en-US" sz="2325">
                <a:solidFill>
                  <a:srgbClr val="53697A"/>
                </a:solidFill>
                <a:latin typeface="Arimo"/>
                <a:ea typeface="Arimo"/>
                <a:cs typeface="Arimo"/>
                <a:sym typeface="Arimo"/>
              </a:rPr>
              <a:t>7</a:t>
            </a:r>
          </a:p>
          <a:p>
            <a:pPr algn="r">
              <a:lnSpc>
                <a:spcPts val="3720"/>
              </a:lnSpc>
            </a:pPr>
            <a:r>
              <a:rPr lang="en-US" sz="2325">
                <a:solidFill>
                  <a:srgbClr val="53697A"/>
                </a:solidFill>
                <a:latin typeface="Arimo"/>
                <a:ea typeface="Arimo"/>
                <a:cs typeface="Arimo"/>
                <a:sym typeface="Arimo"/>
              </a:rPr>
              <a:t>8</a:t>
            </a:r>
          </a:p>
          <a:p>
            <a:pPr algn="r">
              <a:lnSpc>
                <a:spcPts val="3720"/>
              </a:lnSpc>
            </a:pPr>
            <a:r>
              <a:rPr lang="en-US" sz="2325">
                <a:solidFill>
                  <a:srgbClr val="53697A"/>
                </a:solidFill>
                <a:latin typeface="Arimo"/>
                <a:ea typeface="Arimo"/>
                <a:cs typeface="Arimo"/>
                <a:sym typeface="Arimo"/>
              </a:rPr>
              <a:t>9</a:t>
            </a:r>
          </a:p>
          <a:p>
            <a:pPr algn="r">
              <a:lnSpc>
                <a:spcPts val="3720"/>
              </a:lnSpc>
            </a:pPr>
            <a:r>
              <a:rPr lang="en-US" sz="2325">
                <a:solidFill>
                  <a:srgbClr val="53697A"/>
                </a:solidFill>
                <a:latin typeface="Arimo"/>
                <a:ea typeface="Arimo"/>
                <a:cs typeface="Arimo"/>
                <a:sym typeface="Arimo"/>
              </a:rPr>
              <a:t>10</a:t>
            </a:r>
          </a:p>
          <a:p>
            <a:pPr algn="r">
              <a:lnSpc>
                <a:spcPts val="3720"/>
              </a:lnSpc>
            </a:pPr>
            <a:r>
              <a:rPr lang="en-US" sz="2325">
                <a:solidFill>
                  <a:srgbClr val="53697A"/>
                </a:solidFill>
                <a:latin typeface="Arimo"/>
                <a:ea typeface="Arimo"/>
                <a:cs typeface="Arimo"/>
                <a:sym typeface="Arimo"/>
              </a:rPr>
              <a:t>11</a:t>
            </a:r>
          </a:p>
        </p:txBody>
      </p:sp>
      <p:sp>
        <p:nvSpPr>
          <p:cNvPr name="TextBox 22" id="22"/>
          <p:cNvSpPr txBox="true"/>
          <p:nvPr/>
        </p:nvSpPr>
        <p:spPr>
          <a:xfrm rot="0">
            <a:off x="9286875" y="1657350"/>
            <a:ext cx="8096250" cy="5120640"/>
          </a:xfrm>
          <a:prstGeom prst="rect">
            <a:avLst/>
          </a:prstGeom>
        </p:spPr>
        <p:txBody>
          <a:bodyPr anchor="t" rtlCol="false" tIns="0" lIns="0" bIns="0" rIns="0">
            <a:spAutoFit/>
          </a:bodyPr>
          <a:lstStyle/>
          <a:p>
            <a:pPr algn="l">
              <a:lnSpc>
                <a:spcPts val="3720"/>
              </a:lnSpc>
            </a:pPr>
            <a:r>
              <a:rPr lang="en-US" sz="1700" i="0">
                <a:solidFill>
                  <a:srgbClr val="E6EDF3"/>
                </a:solidFill>
                <a:latin typeface="Arimo"/>
                <a:ea typeface="Arimo"/>
                <a:cs typeface="Arimo"/>
                <a:sym typeface="Arimo"/>
              </a:rPr>
              <a:t>nombre = "aia94"</a:t>
            </a:r>
          </a:p>
          <a:p>
            <a:pPr algn="l">
              <a:lnSpc>
                <a:spcPts val="3720"/>
              </a:lnSpc>
            </a:pPr>
            <a:r>
              <a:rPr lang="en-US" sz="1700" i="0">
                <a:solidFill>
                  <a:srgbClr val="E6EDF3"/>
                </a:solidFill>
                <a:latin typeface="Arimo"/>
                <a:ea typeface="Arimo"/>
                <a:cs typeface="Arimo"/>
                <a:sym typeface="Arimo"/>
              </a:rPr>
              <a:t>k = constantes[nombre]</a:t>
            </a:r>
          </a:p>
          <a:p>
            <a:pPr algn="l">
              <a:lnSpc>
                <a:spcPts val="3720"/>
              </a:lnSpc>
            </a:pPr>
            <a:r>
              <a:rPr lang="en-US" sz="1700" i="0">
                <a:solidFill>
                  <a:srgbClr val="E6EDF3"/>
                </a:solidFill>
                <a:latin typeface="Arimo"/>
                <a:ea typeface="Arimo"/>
                <a:cs typeface="Arimo"/>
                <a:sym typeface="Arimo"/>
              </a:rPr>
              <a:t>x = crudo[canales.index(nombre)].astype(np.float64)</a:t>
            </a:r>
          </a:p>
          <a:p>
            <a:pPr algn="l">
              <a:lnSpc>
                <a:spcPts val="3720"/>
              </a:lnSpc>
            </a:pPr>
          </a:p>
          <a:p>
            <a:pPr algn="l">
              <a:lnSpc>
                <a:spcPts val="3720"/>
              </a:lnSpc>
            </a:pPr>
            <a:r>
              <a:rPr lang="en-US" sz="1700" i="0">
                <a:solidFill>
                  <a:srgbClr val="E6EDF3"/>
                </a:solidFill>
                <a:latin typeface="Arimo"/>
                <a:ea typeface="Arimo"/>
                <a:cs typeface="Arimo"/>
                <a:sym typeface="Arimo"/>
              </a:rPr>
              <a:t>paso1 = x * k["sl_scale_factor"]</a:t>
            </a:r>
          </a:p>
          <a:p>
            <a:pPr algn="l">
              <a:lnSpc>
                <a:spcPts val="3720"/>
              </a:lnSpc>
            </a:pPr>
            <a:r>
              <a:rPr lang="en-US" sz="1700" i="0">
                <a:solidFill>
                  <a:srgbClr val="E6EDF3"/>
                </a:solidFill>
                <a:latin typeface="Arimo"/>
                <a:ea typeface="Arimo"/>
                <a:cs typeface="Arimo"/>
                <a:sym typeface="Arimo"/>
              </a:rPr>
              <a:t>paso2 = np.sign(paso1) * np.log1p(np.abs(paso1))</a:t>
            </a:r>
          </a:p>
          <a:p>
            <a:pPr algn="l">
              <a:lnSpc>
                <a:spcPts val="3720"/>
              </a:lnSpc>
            </a:pPr>
            <a:r>
              <a:rPr lang="en-US" sz="1700" i="0">
                <a:solidFill>
                  <a:srgbClr val="E6EDF3"/>
                </a:solidFill>
                <a:latin typeface="Arimo"/>
                <a:ea typeface="Arimo"/>
                <a:cs typeface="Arimo"/>
                <a:sym typeface="Arimo"/>
              </a:rPr>
              <a:t>paso3 = (paso2 - k["mean"]) / (k["std"] + k["epsilon"])</a:t>
            </a:r>
          </a:p>
        </p:txBody>
      </p:sp>
      <p:grpSp>
        <p:nvGrpSpPr>
          <p:cNvPr name="Group 23" id="23"/>
          <p:cNvGrpSpPr/>
          <p:nvPr/>
        </p:nvGrpSpPr>
        <p:grpSpPr>
          <a:xfrm rot="0">
            <a:off x="8620125" y="8001000"/>
            <a:ext cx="8763000" cy="857250"/>
            <a:chOff x="0" y="0"/>
            <a:chExt cx="11684000" cy="1143000"/>
          </a:xfrm>
        </p:grpSpPr>
        <p:sp>
          <p:nvSpPr>
            <p:cNvPr name="Freeform 24" id="24"/>
            <p:cNvSpPr/>
            <p:nvPr/>
          </p:nvSpPr>
          <p:spPr>
            <a:xfrm flipH="false" flipV="false" rot="0">
              <a:off x="0" y="0"/>
              <a:ext cx="11684000" cy="1143000"/>
            </a:xfrm>
            <a:custGeom>
              <a:avLst/>
              <a:gdLst/>
              <a:ahLst/>
              <a:cxnLst/>
              <a:rect r="r" b="b" t="t" l="l"/>
              <a:pathLst>
                <a:path h="1143000" w="11684000">
                  <a:moveTo>
                    <a:pt x="152400" y="0"/>
                  </a:moveTo>
                  <a:lnTo>
                    <a:pt x="11531600" y="0"/>
                  </a:lnTo>
                  <a:cubicBezTo>
                    <a:pt x="11615769" y="0"/>
                    <a:pt x="11684000" y="68232"/>
                    <a:pt x="11684000" y="152400"/>
                  </a:cubicBezTo>
                  <a:lnTo>
                    <a:pt x="11684000" y="990600"/>
                  </a:lnTo>
                  <a:cubicBezTo>
                    <a:pt x="11684000" y="1074768"/>
                    <a:pt x="11615769" y="1143000"/>
                    <a:pt x="11531600" y="1143000"/>
                  </a:cubicBezTo>
                  <a:lnTo>
                    <a:pt x="152400" y="1143000"/>
                  </a:lnTo>
                  <a:cubicBezTo>
                    <a:pt x="68232" y="1143000"/>
                    <a:pt x="0" y="1074768"/>
                    <a:pt x="0" y="990600"/>
                  </a:cubicBezTo>
                  <a:lnTo>
                    <a:pt x="0" y="152400"/>
                  </a:lnTo>
                  <a:cubicBezTo>
                    <a:pt x="0" y="68232"/>
                    <a:pt x="68232" y="0"/>
                    <a:pt x="152400" y="0"/>
                  </a:cubicBezTo>
                  <a:close/>
                </a:path>
              </a:pathLst>
            </a:custGeom>
            <a:solidFill>
              <a:srgbClr val="102C43"/>
            </a:solidFill>
          </p:spPr>
        </p:sp>
        <p:sp>
          <p:nvSpPr>
            <p:cNvPr name="TextBox 25" id="25"/>
            <p:cNvSpPr txBox="true"/>
            <p:nvPr/>
          </p:nvSpPr>
          <p:spPr>
            <a:xfrm>
              <a:off x="0" y="-38100"/>
              <a:ext cx="11684000" cy="11811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8905875" y="8210550"/>
            <a:ext cx="8382000" cy="350520"/>
          </a:xfrm>
          <a:prstGeom prst="rect">
            <a:avLst/>
          </a:prstGeom>
        </p:spPr>
        <p:txBody>
          <a:bodyPr anchor="t" rtlCol="false" tIns="0" lIns="0" bIns="0" rIns="0">
            <a:spAutoFit/>
          </a:bodyPr>
          <a:lstStyle/>
          <a:p>
            <a:pPr algn="l">
              <a:lnSpc>
                <a:spcPts val="2729"/>
              </a:lnSpc>
            </a:pPr>
            <a:r>
              <a:rPr lang="en-US" sz="1950" b="true" i="0">
                <a:solidFill>
                  <a:srgbClr val="F5B82E"/>
                </a:solidFill>
                <a:latin typeface="Arimo Bold"/>
                <a:ea typeface="Arimo Bold"/>
                <a:cs typeface="Arimo Bold"/>
                <a:sym typeface="Arimo Bold"/>
              </a:rPr>
              <a:t>SALIDA  ›  paso 3: mín −0,526 · máx 219,601 · media 9,203</a:t>
            </a:r>
          </a:p>
        </p:txBody>
      </p:sp>
      <p:sp>
        <p:nvSpPr>
          <p:cNvPr name="TextBox 27" id="27"/>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grpSp>
        <p:nvGrpSpPr>
          <p:cNvPr name="Group 28" id="28"/>
          <p:cNvGrpSpPr/>
          <p:nvPr/>
        </p:nvGrpSpPr>
        <p:grpSpPr>
          <a:xfrm rot="0">
            <a:off x="666750" y="9639300"/>
            <a:ext cx="16954500" cy="19050"/>
            <a:chOff x="0" y="0"/>
            <a:chExt cx="22606000" cy="25400"/>
          </a:xfrm>
        </p:grpSpPr>
        <p:sp>
          <p:nvSpPr>
            <p:cNvPr name="Freeform 29" id="29"/>
            <p:cNvSpPr/>
            <p:nvPr/>
          </p:nvSpPr>
          <p:spPr>
            <a:xfrm flipH="false" flipV="false" rot="0">
              <a:off x="0" y="0"/>
              <a:ext cx="22606000" cy="25400"/>
            </a:xfrm>
            <a:custGeom>
              <a:avLst/>
              <a:gdLst/>
              <a:ahLst/>
              <a:cxnLst/>
              <a:rect r="r" b="b" t="t" l="l"/>
              <a:pathLst>
                <a:path h="25400" w="22606000">
                  <a:moveTo>
                    <a:pt x="0" y="0"/>
                  </a:moveTo>
                  <a:lnTo>
                    <a:pt x="22606000" y="0"/>
                  </a:lnTo>
                  <a:lnTo>
                    <a:pt x="22606000" y="25400"/>
                  </a:lnTo>
                  <a:lnTo>
                    <a:pt x="0" y="25400"/>
                  </a:lnTo>
                  <a:close/>
                </a:path>
              </a:pathLst>
            </a:custGeom>
            <a:solidFill>
              <a:srgbClr val="C9D3DD"/>
            </a:solidFill>
          </p:spPr>
        </p:sp>
        <p:sp>
          <p:nvSpPr>
            <p:cNvPr name="TextBox 30" id="30"/>
            <p:cNvSpPr txBox="true"/>
            <p:nvPr/>
          </p:nvSpPr>
          <p:spPr>
            <a:xfrm>
              <a:off x="0" y="-38100"/>
              <a:ext cx="22606000" cy="63500"/>
            </a:xfrm>
            <a:prstGeom prst="rect">
              <a:avLst/>
            </a:prstGeom>
          </p:spPr>
          <p:txBody>
            <a:bodyPr anchor="ctr" rtlCol="false" tIns="50800" lIns="50800" bIns="50800" rIns="50800"/>
            <a:lstStyle/>
            <a:p>
              <a:pPr algn="l">
                <a:lnSpc>
                  <a:spcPts val="1679"/>
                </a:lnSpc>
              </a:pPr>
            </a:p>
          </p:txBody>
        </p:sp>
      </p:grpSp>
      <p:sp>
        <p:nvSpPr>
          <p:cNvPr name="Freeform 31" id="31" descr="Logo GoSA"/>
          <p:cNvSpPr/>
          <p:nvPr/>
        </p:nvSpPr>
        <p:spPr>
          <a:xfrm flipH="false" flipV="false" rot="0">
            <a:off x="161925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2"/>
            <a:stretch>
              <a:fillRect l="0" t="-307" r="0" b="-307"/>
            </a:stretch>
          </a:blipFill>
        </p:spPr>
        <p:txBody>
          <a:bodyPr/>
          <a:p/>
        </p:txBody>
      </p:sp>
      <p:sp>
        <p:nvSpPr>
          <p:cNvPr name="Freeform 32" id="32"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grpSp>
        <p:nvGrpSpPr>
          <p:cNvPr name="Group 33" id="33"/>
          <p:cNvGrpSpPr/>
          <p:nvPr/>
        </p:nvGrpSpPr>
        <p:grpSpPr>
          <a:xfrm rot="0">
            <a:off x="666750" y="7048500"/>
            <a:ext cx="7048500" cy="1809750"/>
            <a:chOff x="0" y="0"/>
            <a:chExt cx="9398000" cy="2413000"/>
          </a:xfrm>
        </p:grpSpPr>
        <p:sp>
          <p:nvSpPr>
            <p:cNvPr name="Freeform 34" id="34"/>
            <p:cNvSpPr/>
            <p:nvPr/>
          </p:nvSpPr>
          <p:spPr>
            <a:xfrm flipH="false" flipV="false" rot="0">
              <a:off x="0" y="0"/>
              <a:ext cx="9398000" cy="2413000"/>
            </a:xfrm>
            <a:custGeom>
              <a:avLst/>
              <a:gdLst/>
              <a:ahLst/>
              <a:cxnLst/>
              <a:rect r="r" b="b" t="t" l="l"/>
              <a:pathLst>
                <a:path h="2413000" w="9398000">
                  <a:moveTo>
                    <a:pt x="228600" y="0"/>
                  </a:moveTo>
                  <a:lnTo>
                    <a:pt x="9169400" y="0"/>
                  </a:lnTo>
                  <a:cubicBezTo>
                    <a:pt x="9295652" y="0"/>
                    <a:pt x="9398000" y="102348"/>
                    <a:pt x="9398000" y="228600"/>
                  </a:cubicBezTo>
                  <a:lnTo>
                    <a:pt x="9398000" y="2184400"/>
                  </a:lnTo>
                  <a:cubicBezTo>
                    <a:pt x="9398000" y="2310652"/>
                    <a:pt x="9295652" y="2413000"/>
                    <a:pt x="9169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E3EEF0"/>
            </a:solidFill>
          </p:spPr>
        </p:sp>
        <p:sp>
          <p:nvSpPr>
            <p:cNvPr name="TextBox 35" id="35"/>
            <p:cNvSpPr txBox="true"/>
            <p:nvPr/>
          </p:nvSpPr>
          <p:spPr>
            <a:xfrm>
              <a:off x="0" y="-38100"/>
              <a:ext cx="9398000" cy="24511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666750" y="7239000"/>
            <a:ext cx="95250" cy="1428750"/>
            <a:chOff x="0" y="0"/>
            <a:chExt cx="127000" cy="1905000"/>
          </a:xfrm>
        </p:grpSpPr>
        <p:sp>
          <p:nvSpPr>
            <p:cNvPr name="Freeform 37" id="37"/>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087F8C"/>
            </a:solidFill>
          </p:spPr>
        </p:sp>
        <p:sp>
          <p:nvSpPr>
            <p:cNvPr name="TextBox 38" id="38"/>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1047750" y="7277100"/>
            <a:ext cx="5715000" cy="300990"/>
          </a:xfrm>
          <a:prstGeom prst="rect">
            <a:avLst/>
          </a:prstGeom>
        </p:spPr>
        <p:txBody>
          <a:bodyPr anchor="t" rtlCol="false" tIns="0" lIns="0" bIns="0" rIns="0">
            <a:spAutoFit/>
          </a:bodyPr>
          <a:lstStyle/>
          <a:p>
            <a:pPr algn="l">
              <a:lnSpc>
                <a:spcPts val="2310"/>
              </a:lnSpc>
            </a:pPr>
            <a:r>
              <a:rPr lang="en-US" sz="1650" b="true">
                <a:solidFill>
                  <a:srgbClr val="087F8C"/>
                </a:solidFill>
                <a:latin typeface="Arimo Bold"/>
                <a:ea typeface="Arimo Bold"/>
                <a:cs typeface="Arimo Bold"/>
                <a:sym typeface="Arimo Bold"/>
              </a:rPr>
              <a:t>OBJETIVO</a:t>
            </a:r>
          </a:p>
        </p:txBody>
      </p:sp>
      <p:sp>
        <p:nvSpPr>
          <p:cNvPr name="TextBox 40" id="40"/>
          <p:cNvSpPr txBox="true"/>
          <p:nvPr/>
        </p:nvSpPr>
        <p:spPr>
          <a:xfrm rot="0">
            <a:off x="1047750" y="7724775"/>
            <a:ext cx="6477000" cy="398145"/>
          </a:xfrm>
          <a:prstGeom prst="rect">
            <a:avLst/>
          </a:prstGeom>
        </p:spPr>
        <p:txBody>
          <a:bodyPr anchor="t" rtlCol="false" tIns="0" lIns="0" bIns="0" rIns="0">
            <a:spAutoFit/>
          </a:bodyPr>
          <a:lstStyle/>
          <a:p>
            <a:pPr algn="l">
              <a:lnSpc>
                <a:spcPts val="3120"/>
              </a:lnSpc>
            </a:pPr>
            <a:r>
              <a:rPr lang="en-US" sz="2400" i="0">
                <a:solidFill>
                  <a:srgbClr val="071D30"/>
                </a:solidFill>
                <a:latin typeface="Arimo"/>
                <a:ea typeface="Arimo"/>
                <a:cs typeface="Arimo"/>
                <a:sym typeface="Arimo"/>
              </a:rPr>
              <a:t>Entender la normalización de Surya y sus constantes globales.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3499"/>
              </a:lnSpc>
              <a:spcBef>
                <a:spcPct val="0"/>
              </a:spcBef>
              <a:buFont typeface="Arial"/>
              <a:buChar char="•"/>
            </a:pPr>
            <a:r>
              <a:rPr lang="en-US" sz="2499" spc="-37" strike="noStrike" u="none" b="1" i="0">
                <a:solidFill>
                  <a:srgbClr val="071D30"/>
                </a:solidFill>
                <a:latin typeface="Helvetica World Bold"/>
                <a:ea typeface="Helvetica World Bold"/>
                <a:cs typeface="Helvetica World Bold"/>
                <a:sym typeface="Helvetica World"/>
              </a:rPr>
              <a:t>Surya</a:t>
            </a:r>
            <a:r>
              <a:rPr lang="en-US" sz="2499" spc="-37" strike="noStrike" u="none" i="0">
                <a:solidFill>
                  <a:srgbClr val="071D30"/>
                </a:solidFill>
                <a:latin typeface="Helvetica World"/>
                <a:ea typeface="Helvetica World"/>
                <a:cs typeface="Helvetica World"/>
                <a:sym typeface="Helvetica World"/>
              </a:rPr>
              <a:t> frozen: 256 tokens de 1280 dimensiones</a:t>
            </a:r>
          </a:p>
          <a:p>
            <a:pPr algn="l" marL="539748" indent="-269874" lvl="1">
              <a:lnSpc>
                <a:spcPts val="3499"/>
              </a:lnSpc>
              <a:spcBef>
                <a:spcPct val="0"/>
              </a:spcBef>
              <a:buFont typeface="Arial"/>
              <a:buChar char="•"/>
            </a:pPr>
            <a:r>
              <a:rPr lang="en-US" sz="2499" spc="-37" strike="noStrike" u="none" b="1" i="0">
                <a:solidFill>
                  <a:srgbClr val="071D30"/>
                </a:solidFill>
                <a:latin typeface="Helvetica World Bold"/>
                <a:ea typeface="Helvetica World Bold"/>
                <a:cs typeface="Helvetica World Bold"/>
                <a:sym typeface="Helvetica World"/>
              </a:rPr>
              <a:t>Projector MLP</a:t>
            </a:r>
            <a:r>
              <a:rPr lang="en-US" sz="2499" spc="-37" strike="noStrike" u="none" i="0">
                <a:solidFill>
                  <a:srgbClr val="071D30"/>
                </a:solidFill>
                <a:latin typeface="Helvetica World"/>
                <a:ea typeface="Helvetica World"/>
                <a:cs typeface="Helvetica World"/>
                <a:sym typeface="Helvetica World"/>
              </a:rPr>
              <a:t> 1280 → 4096 → GELU → 4096: </a:t>
            </a:r>
            <a:r>
              <a:rPr lang="en-US" sz="2499" spc="-37" strike="noStrike" u="none" b="1" i="0">
                <a:solidFill>
                  <a:srgbClr val="071D30"/>
                </a:solidFill>
                <a:latin typeface="Helvetica World Bold"/>
                <a:ea typeface="Helvetica World Bold"/>
                <a:cs typeface="Helvetica World Bold"/>
                <a:sym typeface="Helvetica World"/>
              </a:rPr>
              <a:t>22 M</a:t>
            </a:r>
            <a:r>
              <a:rPr lang="en-US" sz="2499" spc="-37" strike="noStrike" u="none" i="0">
                <a:solidFill>
                  <a:srgbClr val="071D30"/>
                </a:solidFill>
                <a:latin typeface="Helvetica World"/>
                <a:ea typeface="Helvetica World"/>
                <a:cs typeface="Helvetica World"/>
                <a:sym typeface="Helvetica World"/>
              </a:rPr>
              <a:t> parámetros</a:t>
            </a:r>
          </a:p>
          <a:p>
            <a:pPr algn="l" marL="539748" indent="-269874" lvl="1">
              <a:lnSpc>
                <a:spcPts val="3499"/>
              </a:lnSpc>
              <a:spcBef>
                <a:spcPct val="0"/>
              </a:spcBef>
              <a:buFont typeface="Arial"/>
              <a:buChar char="•"/>
            </a:pPr>
            <a:r>
              <a:rPr lang="en-US" sz="2499" spc="-37" strike="noStrike" u="none" b="1" i="0">
                <a:solidFill>
                  <a:srgbClr val="071D30"/>
                </a:solidFill>
                <a:latin typeface="Helvetica World Bold"/>
                <a:ea typeface="Helvetica World Bold"/>
                <a:cs typeface="Helvetica World Bold"/>
                <a:sym typeface="Helvetica World"/>
              </a:rPr>
              <a:t>Qwen3-8B</a:t>
            </a:r>
            <a:r>
              <a:rPr lang="en-US" sz="2499" spc="-37" strike="noStrike" u="none" i="0">
                <a:solidFill>
                  <a:srgbClr val="071D30"/>
                </a:solidFill>
                <a:latin typeface="Helvetica World"/>
                <a:ea typeface="Helvetica World"/>
                <a:cs typeface="Helvetica World"/>
                <a:sym typeface="Helvetica World"/>
              </a:rPr>
              <a:t> frozen lee los visual tokens y escribe el caption</a:t>
            </a:r>
          </a:p>
          <a:p>
            <a:pPr algn="l" marL="539748" indent="-269874" lvl="1">
              <a:lnSpc>
                <a:spcPts val="3499"/>
              </a:lnSpc>
              <a:spcBef>
                <a:spcPct val="0"/>
              </a:spcBef>
              <a:buFont typeface="Arial"/>
              <a:buChar char="•"/>
            </a:pPr>
            <a:r>
              <a:rPr lang="en-US" sz="2499" spc="-37" strike="noStrike" u="none" i="0">
                <a:solidFill>
                  <a:srgbClr val="071D30"/>
                </a:solidFill>
                <a:latin typeface="Helvetica World"/>
                <a:ea typeface="Helvetica World"/>
                <a:cs typeface="Helvetica World"/>
                <a:sym typeface="Helvetica World"/>
              </a:rPr>
              <a:t>La receta de LLaVA (Liu et al., 2023)</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Surya + projector + LLM</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ARQUITECTURA</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Solo se entrena el projector: 22 M de parámetros frente a 366 M de Surya.</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con las formas reales de cada paso</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arquitectura_vlm.png"/>
          <p:cNvPicPr>
            <a:picLocks noChangeAspect="1"/>
          </p:cNvPicPr>
          <p:nvPr/>
        </p:nvPicPr>
        <p:blipFill>
          <a:blip r:embed="rId5"/>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
        <p:nvSpPr>
          <p:cNvPr id="23" name="TextBox 22"/>
          <p:cNvSpPr txBox="1"/>
          <p:nvPr/>
        </p:nvSpPr>
        <p:spPr>
          <a:xfrm>
            <a:off x="684000" y="9108000"/>
            <a:ext cx="7632000" cy="576000"/>
          </a:xfrm>
          <a:prstGeom prst="rect">
            <a:avLst/>
          </a:prstGeom>
          <a:noFill/>
        </p:spPr>
        <p:txBody>
          <a:bodyPr wrap="square" lIns="0" rIns="0" tIns="0" bIns="0">
            <a:spAutoFit/>
          </a:bodyPr>
          <a:lstStyle/>
          <a:p>
            <a:r>
              <a:rPr sz="1100">
                <a:solidFill>
                  <a:srgbClr val="5B6B7A"/>
                </a:solidFill>
                <a:latin typeface="Arimo"/>
              </a:rPr>
              <a:t>Referencias: Liu et al. (2023), Visual Instruction Tuning (LLaVA), arXiv:2304.08485.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F5F7FA"/>
            </a:solidFill>
          </p:spPr>
        </p:sp>
        <p:sp>
          <p:nvSpPr>
            <p:cNvPr name="TextBox 4" id="4"/>
            <p:cNvSpPr txBox="true"/>
            <p:nvPr/>
          </p:nvSpPr>
          <p:spPr>
            <a:xfrm>
              <a:off x="0" y="-38100"/>
              <a:ext cx="2368158" cy="92114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8991600" y="0"/>
            <a:ext cx="9296400" cy="10287000"/>
            <a:chOff x="0" y="0"/>
            <a:chExt cx="1220873" cy="1350966"/>
          </a:xfrm>
        </p:grpSpPr>
        <p:sp>
          <p:nvSpPr>
            <p:cNvPr name="Freeform 6" id="6"/>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7" id="7"/>
          <p:cNvSpPr txBox="true"/>
          <p:nvPr/>
        </p:nvSpPr>
        <p:spPr>
          <a:xfrm rot="0">
            <a:off x="666750" y="2362200"/>
            <a:ext cx="6886575" cy="1181100"/>
          </a:xfrm>
          <a:prstGeom prst="rect">
            <a:avLst/>
          </a:prstGeom>
        </p:spPr>
        <p:txBody>
          <a:bodyPr anchor="t" rtlCol="false" tIns="0" lIns="0" bIns="0" rIns="0">
            <a:spAutoFit/>
          </a:bodyPr>
          <a:lstStyle/>
          <a:p>
            <a:pPr algn="l" marL="0" indent="0" lvl="0">
              <a:lnSpc>
                <a:spcPts val="6600"/>
              </a:lnSpc>
              <a:spcBef>
                <a:spcPct val="0"/>
              </a:spcBef>
            </a:pPr>
            <a:r>
              <a:rPr lang="en-US" sz="6000" spc="-247" strike="noStrike" u="none" i="0">
                <a:solidFill>
                  <a:srgbClr val="071D30"/>
                </a:solidFill>
                <a:latin typeface="Georgia Pro Condensed"/>
                <a:ea typeface="Georgia Pro Condensed"/>
                <a:cs typeface="Georgia Pro Condensed"/>
                <a:sym typeface="Georgia Pro Condensed"/>
              </a:rPr>
              <a:t>316 posiciones</a:t>
            </a:r>
          </a:p>
        </p:txBody>
      </p:sp>
      <p:grpSp>
        <p:nvGrpSpPr>
          <p:cNvPr name="Group 8" id="8"/>
          <p:cNvGrpSpPr/>
          <p:nvPr/>
        </p:nvGrpSpPr>
        <p:grpSpPr>
          <a:xfrm rot="0">
            <a:off x="666750" y="5334000"/>
            <a:ext cx="6886575" cy="1898650"/>
            <a:chOff x="0" y="0"/>
            <a:chExt cx="9182100" cy="2531534"/>
          </a:xfrm>
        </p:grpSpPr>
        <p:sp>
          <p:nvSpPr>
            <p:cNvPr name="TextBox 9" id="9"/>
            <p:cNvSpPr txBox="true"/>
            <p:nvPr/>
          </p:nvSpPr>
          <p:spPr>
            <a:xfrm rot="0">
              <a:off x="0" y="0"/>
              <a:ext cx="91821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071D30"/>
                  </a:solidFill>
                  <a:latin typeface="Helvetica World Bold"/>
                  <a:ea typeface="Helvetica World Bold"/>
                  <a:cs typeface="Helvetica World Bold"/>
                  <a:sym typeface="Helvetica World Bold"/>
                </a:rPr>
                <a:t>La secuencia que lee el LLM</a:t>
              </a:r>
            </a:p>
          </p:txBody>
        </p:sp>
        <p:sp>
          <p:nvSpPr>
            <p:cNvPr name="TextBox 10" id="10"/>
            <p:cNvSpPr txBox="true"/>
            <p:nvPr/>
          </p:nvSpPr>
          <p:spPr>
            <a:xfrm rot="0">
              <a:off x="0" y="825500"/>
              <a:ext cx="9182100" cy="1706034"/>
            </a:xfrm>
            <a:prstGeom prst="rect">
              <a:avLst/>
            </a:prstGeom>
          </p:spPr>
          <p:txBody>
            <a:bodyPr anchor="t" rtlCol="false" tIns="0" lIns="0" bIns="0" rIns="0">
              <a:spAutoFit/>
            </a:bodyPr>
            <a:lstStyle/>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Encabezado, 256 visual tokens (posiciones 4 a 259), el prompt y el caption. La loss solo cuenta el caption y su token de fin (275 a 314), no el prompt ni la imagen.</a:t>
              </a:r>
            </a:p>
          </p:txBody>
        </p:sp>
      </p:grpSp>
      <p:sp>
        <p:nvSpPr>
          <p:cNvPr name="TextBox 11" id="11"/>
          <p:cNvSpPr txBox="true"/>
          <p:nvPr/>
        </p:nvSpPr>
        <p:spPr>
          <a:xfrm rot="0">
            <a:off x="685800" y="657225"/>
            <a:ext cx="66675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ECUACIÓN  /  DATO DESTACADO</a:t>
            </a:r>
          </a:p>
        </p:txBody>
      </p:sp>
      <p:grpSp>
        <p:nvGrpSpPr>
          <p:cNvPr name="Group 12" id="12"/>
          <p:cNvGrpSpPr/>
          <p:nvPr/>
        </p:nvGrpSpPr>
        <p:grpSpPr>
          <a:xfrm rot="0">
            <a:off x="685800" y="4476750"/>
            <a:ext cx="1428750" cy="57150"/>
            <a:chOff x="0" y="0"/>
            <a:chExt cx="1905000" cy="76200"/>
          </a:xfrm>
        </p:grpSpPr>
        <p:sp>
          <p:nvSpPr>
            <p:cNvPr name="Freeform 13" id="13"/>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F5B82E"/>
            </a:solidFill>
          </p:spPr>
        </p:sp>
        <p:sp>
          <p:nvSpPr>
            <p:cNvPr name="TextBox 14" id="14"/>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685800" y="8515350"/>
            <a:ext cx="7620000" cy="300990"/>
          </a:xfrm>
          <a:prstGeom prst="rect">
            <a:avLst/>
          </a:prstGeom>
        </p:spPr>
        <p:txBody>
          <a:bodyPr anchor="t" rtlCol="false" tIns="0" lIns="0" bIns="0" rIns="0">
            <a:spAutoFit/>
          </a:bodyPr>
          <a:lstStyle/>
          <a:p>
            <a:pPr algn="l">
              <a:lnSpc>
                <a:spcPts val="2310"/>
              </a:lnSpc>
            </a:pPr>
            <a:r>
              <a:rPr lang="en-US" sz="1650" i="0">
                <a:solidFill>
                  <a:srgbClr val="53697A"/>
                </a:solidFill>
                <a:latin typeface="Arimo Italics"/>
                <a:ea typeface="Arimo Italics"/>
                <a:cs typeface="Arimo Italics"/>
                <a:sym typeface="Arimo Italics"/>
              </a:rPr>
              <a:t>Referencia: notebook, sección 7</a:t>
            </a:r>
          </a:p>
        </p:txBody>
      </p:sp>
      <p:grpSp>
        <p:nvGrpSpPr>
          <p:cNvPr name="Group 16" id="16"/>
          <p:cNvGrpSpPr/>
          <p:nvPr/>
        </p:nvGrpSpPr>
        <p:grpSpPr>
          <a:xfrm rot="0">
            <a:off x="8991600" y="9429750"/>
            <a:ext cx="9296400" cy="857250"/>
            <a:chOff x="0" y="0"/>
            <a:chExt cx="12395200" cy="1143000"/>
          </a:xfrm>
        </p:grpSpPr>
        <p:sp>
          <p:nvSpPr>
            <p:cNvPr name="Freeform 17" id="17"/>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8" id="18"/>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elaboración propia a partir de 03_Datos/secuencia_ejemplo.json</a:t>
            </a:r>
          </a:p>
        </p:txBody>
      </p:sp>
      <p:sp>
        <p:nvSpPr>
          <p:cNvPr name="TextBox 20" id="20"/>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1" id="21"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2" id="22"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3" name="Picture 22" descr="secuencia.png"/>
          <p:cNvPicPr>
            <a:picLocks noChangeAspect="1"/>
          </p:cNvPicPr>
          <p:nvPr/>
        </p:nvPicPr>
        <p:blipFill>
          <a:blip r:embed="rId5"/>
          <a:stretch>
            <a:fillRect/>
          </a:stretch>
        </p:blipFill>
        <p:spPr>
          <a:xfrm>
            <a:off x="9432000" y="504000"/>
            <a:ext cx="8424000" cy="8424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1190625"/>
            <a:ext cx="6886575" cy="866775"/>
          </a:xfrm>
          <a:prstGeom prst="rect">
            <a:avLst/>
          </a:prstGeom>
        </p:spPr>
        <p:txBody>
          <a:bodyPr anchor="t" rtlCol="false" tIns="0" lIns="0" bIns="0" rIns="0">
            <a:spAutoFit/>
          </a:bodyPr>
          <a:lstStyle/>
          <a:p>
            <a:pPr algn="l" marL="0" indent="0" lvl="0">
              <a:lnSpc>
                <a:spcPts val="4840"/>
              </a:lnSpc>
              <a:spcBef>
                <a:spcPct val="0"/>
              </a:spcBef>
            </a:pPr>
            <a:r>
              <a:rPr lang="en-US" sz="4400" strike="noStrike" u="none" i="0">
                <a:solidFill>
                  <a:srgbClr val="071D30"/>
                </a:solidFill>
                <a:latin typeface="Georgia Pro Condensed"/>
                <a:ea typeface="Georgia Pro Condensed"/>
                <a:cs typeface="Georgia Pro Condensed"/>
                <a:sym typeface="Georgia Pro Condensed"/>
              </a:rPr>
              <a:t>Práctica 2: el projector</a:t>
            </a:r>
          </a:p>
        </p:txBody>
      </p:sp>
      <p:sp>
        <p:nvSpPr>
          <p:cNvPr name="TextBox 3" id="3"/>
          <p:cNvSpPr txBox="true"/>
          <p:nvPr/>
        </p:nvSpPr>
        <p:spPr>
          <a:xfrm rot="0">
            <a:off x="666750" y="3771900"/>
            <a:ext cx="6886575" cy="1289050"/>
          </a:xfrm>
          <a:prstGeom prst="rect">
            <a:avLst/>
          </a:prstGeom>
        </p:spPr>
        <p:txBody>
          <a:bodyPr anchor="t" rtlCol="false" tIns="0" lIns="0" bIns="0" rIns="0">
            <a:spAutoFit/>
          </a:bodyPr>
          <a:lstStyle/>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1.  Corre las secciones 6 y 7 del notebook</a:t>
            </a:r>
          </a:p>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2.  Cuenta los parámetros del projector</a:t>
            </a:r>
          </a:p>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3.  Mira qué posiciones entran en la loss</a:t>
            </a:r>
          </a:p>
        </p:txBody>
      </p:sp>
      <p:sp>
        <p:nvSpPr>
          <p:cNvPr name="TextBox 4" id="4"/>
          <p:cNvSpPr txBox="true"/>
          <p:nvPr/>
        </p:nvSpPr>
        <p:spPr>
          <a:xfrm rot="0">
            <a:off x="685800" y="657225"/>
            <a:ext cx="6667500" cy="300990"/>
          </a:xfrm>
          <a:prstGeom prst="rect">
            <a:avLst/>
          </a:prstGeom>
        </p:spPr>
        <p:txBody>
          <a:bodyPr anchor="t" rtlCol="false" tIns="0" lIns="0" bIns="0" rIns="0">
            <a:spAutoFit/>
          </a:bodyPr>
          <a:lstStyle/>
          <a:p>
            <a:pPr algn="l">
              <a:lnSpc>
                <a:spcPts val="2310"/>
              </a:lnSpc>
            </a:pPr>
            <a:r>
              <a:rPr lang="en-US" sz="1650" b="true">
                <a:solidFill>
                  <a:srgbClr val="087F8C"/>
                </a:solidFill>
                <a:latin typeface="Arimo Bold"/>
                <a:ea typeface="Arimo Bold"/>
                <a:cs typeface="Arimo Bold"/>
                <a:sym typeface="Arimo Bold"/>
              </a:rPr>
              <a:t>CÓDIGO  ·  PRÁCTICA</a:t>
            </a:r>
          </a:p>
        </p:txBody>
      </p:sp>
      <p:grpSp>
        <p:nvGrpSpPr>
          <p:cNvPr name="Group 5" id="5"/>
          <p:cNvGrpSpPr/>
          <p:nvPr/>
        </p:nvGrpSpPr>
        <p:grpSpPr>
          <a:xfrm rot="0">
            <a:off x="8382000" y="762000"/>
            <a:ext cx="9239250" cy="8382000"/>
            <a:chOff x="0" y="0"/>
            <a:chExt cx="12319000" cy="11176000"/>
          </a:xfrm>
        </p:grpSpPr>
        <p:sp>
          <p:nvSpPr>
            <p:cNvPr name="Freeform 6" id="6"/>
            <p:cNvSpPr/>
            <p:nvPr/>
          </p:nvSpPr>
          <p:spPr>
            <a:xfrm flipH="false" flipV="false" rot="0">
              <a:off x="0" y="0"/>
              <a:ext cx="12319000" cy="11176000"/>
            </a:xfrm>
            <a:custGeom>
              <a:avLst/>
              <a:gdLst/>
              <a:ahLst/>
              <a:cxnLst/>
              <a:rect r="r" b="b" t="t" l="l"/>
              <a:pathLst>
                <a:path h="11176000" w="12319000">
                  <a:moveTo>
                    <a:pt x="279400" y="0"/>
                  </a:moveTo>
                  <a:lnTo>
                    <a:pt x="12039600" y="0"/>
                  </a:lnTo>
                  <a:cubicBezTo>
                    <a:pt x="12193908" y="0"/>
                    <a:pt x="12319000" y="125092"/>
                    <a:pt x="12319000" y="279400"/>
                  </a:cubicBezTo>
                  <a:lnTo>
                    <a:pt x="12319000" y="10896600"/>
                  </a:lnTo>
                  <a:cubicBezTo>
                    <a:pt x="12319000" y="11050908"/>
                    <a:pt x="12193908" y="11176000"/>
                    <a:pt x="12039600" y="11176000"/>
                  </a:cubicBezTo>
                  <a:lnTo>
                    <a:pt x="279400" y="11176000"/>
                  </a:lnTo>
                  <a:cubicBezTo>
                    <a:pt x="125092" y="11176000"/>
                    <a:pt x="0" y="11050908"/>
                    <a:pt x="0" y="10896600"/>
                  </a:cubicBezTo>
                  <a:lnTo>
                    <a:pt x="0" y="279400"/>
                  </a:lnTo>
                  <a:cubicBezTo>
                    <a:pt x="0" y="125092"/>
                    <a:pt x="125092" y="0"/>
                    <a:pt x="279400" y="0"/>
                  </a:cubicBezTo>
                  <a:close/>
                </a:path>
              </a:pathLst>
            </a:custGeom>
            <a:solidFill>
              <a:srgbClr val="0B1622"/>
            </a:solidFill>
          </p:spPr>
        </p:sp>
        <p:sp>
          <p:nvSpPr>
            <p:cNvPr name="TextBox 7" id="7"/>
            <p:cNvSpPr txBox="true"/>
            <p:nvPr/>
          </p:nvSpPr>
          <p:spPr>
            <a:xfrm>
              <a:off x="0" y="-38100"/>
              <a:ext cx="12319000" cy="11214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8382000" y="762000"/>
            <a:ext cx="9239250" cy="666750"/>
            <a:chOff x="0" y="0"/>
            <a:chExt cx="12319000" cy="889000"/>
          </a:xfrm>
        </p:grpSpPr>
        <p:sp>
          <p:nvSpPr>
            <p:cNvPr name="Freeform 9" id="9"/>
            <p:cNvSpPr/>
            <p:nvPr/>
          </p:nvSpPr>
          <p:spPr>
            <a:xfrm flipH="false" flipV="false" rot="0">
              <a:off x="0" y="0"/>
              <a:ext cx="12319000" cy="889000"/>
            </a:xfrm>
            <a:custGeom>
              <a:avLst/>
              <a:gdLst/>
              <a:ahLst/>
              <a:cxnLst/>
              <a:rect r="r" b="b" t="t" l="l"/>
              <a:pathLst>
                <a:path h="889000" w="12319000">
                  <a:moveTo>
                    <a:pt x="279400" y="0"/>
                  </a:moveTo>
                  <a:lnTo>
                    <a:pt x="12039600" y="0"/>
                  </a:lnTo>
                  <a:cubicBezTo>
                    <a:pt x="12193908" y="0"/>
                    <a:pt x="12319000" y="125092"/>
                    <a:pt x="12319000" y="279400"/>
                  </a:cubicBezTo>
                  <a:lnTo>
                    <a:pt x="12319000" y="609600"/>
                  </a:lnTo>
                  <a:cubicBezTo>
                    <a:pt x="12319000" y="763908"/>
                    <a:pt x="12193908" y="889000"/>
                    <a:pt x="12039600" y="889000"/>
                  </a:cubicBezTo>
                  <a:lnTo>
                    <a:pt x="279400" y="889000"/>
                  </a:lnTo>
                  <a:cubicBezTo>
                    <a:pt x="125092" y="889000"/>
                    <a:pt x="0" y="763908"/>
                    <a:pt x="0" y="609600"/>
                  </a:cubicBezTo>
                  <a:lnTo>
                    <a:pt x="0" y="279400"/>
                  </a:lnTo>
                  <a:cubicBezTo>
                    <a:pt x="0" y="125092"/>
                    <a:pt x="125092" y="0"/>
                    <a:pt x="279400" y="0"/>
                  </a:cubicBezTo>
                  <a:close/>
                </a:path>
              </a:pathLst>
            </a:custGeom>
            <a:solidFill>
              <a:srgbClr val="102C43"/>
            </a:solidFill>
          </p:spPr>
        </p:sp>
        <p:sp>
          <p:nvSpPr>
            <p:cNvPr name="TextBox 10" id="10"/>
            <p:cNvSpPr txBox="true"/>
            <p:nvPr/>
          </p:nvSpPr>
          <p:spPr>
            <a:xfrm>
              <a:off x="0" y="-38100"/>
              <a:ext cx="12319000" cy="927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8667750" y="1009650"/>
            <a:ext cx="171450" cy="171450"/>
            <a:chOff x="0" y="0"/>
            <a:chExt cx="228600" cy="228600"/>
          </a:xfrm>
        </p:grpSpPr>
        <p:sp>
          <p:nvSpPr>
            <p:cNvPr name="Freeform 12" id="12"/>
            <p:cNvSpPr/>
            <p:nvPr/>
          </p:nvSpPr>
          <p:spPr>
            <a:xfrm flipH="false" flipV="false" rot="0">
              <a:off x="0" y="0"/>
              <a:ext cx="228600" cy="228600"/>
            </a:xfrm>
            <a:custGeom>
              <a:avLst/>
              <a:gdLst/>
              <a:ahLst/>
              <a:cxnLst/>
              <a:rect r="r" b="b" t="t" l="l"/>
              <a:pathLst>
                <a:path h="228600" w="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path>
              </a:pathLst>
            </a:custGeom>
            <a:solidFill>
              <a:srgbClr val="FF5F57"/>
            </a:solidFill>
          </p:spPr>
        </p:sp>
        <p:sp>
          <p:nvSpPr>
            <p:cNvPr name="TextBox 13" id="13"/>
            <p:cNvSpPr txBox="true"/>
            <p:nvPr/>
          </p:nvSpPr>
          <p:spPr>
            <a:xfrm>
              <a:off x="0" y="-38100"/>
              <a:ext cx="228600" cy="266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8953500" y="1009650"/>
            <a:ext cx="171450" cy="171450"/>
            <a:chOff x="0" y="0"/>
            <a:chExt cx="228600" cy="228600"/>
          </a:xfrm>
        </p:grpSpPr>
        <p:sp>
          <p:nvSpPr>
            <p:cNvPr name="Freeform 15" id="15"/>
            <p:cNvSpPr/>
            <p:nvPr/>
          </p:nvSpPr>
          <p:spPr>
            <a:xfrm flipH="false" flipV="false" rot="0">
              <a:off x="0" y="0"/>
              <a:ext cx="228600" cy="228600"/>
            </a:xfrm>
            <a:custGeom>
              <a:avLst/>
              <a:gdLst/>
              <a:ahLst/>
              <a:cxnLst/>
              <a:rect r="r" b="b" t="t" l="l"/>
              <a:pathLst>
                <a:path h="228600" w="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path>
              </a:pathLst>
            </a:custGeom>
            <a:solidFill>
              <a:srgbClr val="F5B82E"/>
            </a:solidFill>
          </p:spPr>
        </p:sp>
        <p:sp>
          <p:nvSpPr>
            <p:cNvPr name="TextBox 16" id="16"/>
            <p:cNvSpPr txBox="true"/>
            <p:nvPr/>
          </p:nvSpPr>
          <p:spPr>
            <a:xfrm>
              <a:off x="0" y="-38100"/>
              <a:ext cx="228600" cy="2667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9239250" y="1009650"/>
            <a:ext cx="171450" cy="171450"/>
            <a:chOff x="0" y="0"/>
            <a:chExt cx="228600" cy="228600"/>
          </a:xfrm>
        </p:grpSpPr>
        <p:sp>
          <p:nvSpPr>
            <p:cNvPr name="Freeform 18" id="18"/>
            <p:cNvSpPr/>
            <p:nvPr/>
          </p:nvSpPr>
          <p:spPr>
            <a:xfrm flipH="false" flipV="false" rot="0">
              <a:off x="0" y="0"/>
              <a:ext cx="228600" cy="228600"/>
            </a:xfrm>
            <a:custGeom>
              <a:avLst/>
              <a:gdLst/>
              <a:ahLst/>
              <a:cxnLst/>
              <a:rect r="r" b="b" t="t" l="l"/>
              <a:pathLst>
                <a:path h="228600" w="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path>
              </a:pathLst>
            </a:custGeom>
            <a:solidFill>
              <a:srgbClr val="28C840"/>
            </a:solidFill>
          </p:spPr>
        </p:sp>
        <p:sp>
          <p:nvSpPr>
            <p:cNvPr name="TextBox 19" id="19"/>
            <p:cNvSpPr txBox="true"/>
            <p:nvPr/>
          </p:nvSpPr>
          <p:spPr>
            <a:xfrm>
              <a:off x="0" y="-38100"/>
              <a:ext cx="228600" cy="2667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9715500" y="904875"/>
            <a:ext cx="5715000" cy="300990"/>
          </a:xfrm>
          <a:prstGeom prst="rect">
            <a:avLst/>
          </a:prstGeom>
        </p:spPr>
        <p:txBody>
          <a:bodyPr anchor="t" rtlCol="false" tIns="0" lIns="0" bIns="0" rIns="0">
            <a:spAutoFit/>
          </a:bodyPr>
          <a:lstStyle/>
          <a:p>
            <a:pPr algn="l">
              <a:lnSpc>
                <a:spcPts val="2310"/>
              </a:lnSpc>
            </a:pPr>
            <a:r>
              <a:rPr lang="en-US" sz="1650" i="0">
                <a:solidFill>
                  <a:srgbClr val="9FB3C8"/>
                </a:solidFill>
                <a:latin typeface="Arimo"/>
                <a:ea typeface="Arimo"/>
                <a:cs typeface="Arimo"/>
                <a:sym typeface="Arimo"/>
              </a:rPr>
              <a:t>01_Del_dato_solar_al_caption.ipynb</a:t>
            </a:r>
          </a:p>
        </p:txBody>
      </p:sp>
      <p:sp>
        <p:nvSpPr>
          <p:cNvPr name="TextBox 21" id="21"/>
          <p:cNvSpPr txBox="true"/>
          <p:nvPr/>
        </p:nvSpPr>
        <p:spPr>
          <a:xfrm rot="0">
            <a:off x="8620125" y="1657350"/>
            <a:ext cx="476250" cy="5120640"/>
          </a:xfrm>
          <a:prstGeom prst="rect">
            <a:avLst/>
          </a:prstGeom>
        </p:spPr>
        <p:txBody>
          <a:bodyPr anchor="t" rtlCol="false" tIns="0" lIns="0" bIns="0" rIns="0">
            <a:spAutoFit/>
          </a:bodyPr>
          <a:lstStyle/>
          <a:p>
            <a:pPr algn="r">
              <a:lnSpc>
                <a:spcPts val="3720"/>
              </a:lnSpc>
            </a:pPr>
            <a:r>
              <a:rPr lang="en-US" sz="2325">
                <a:solidFill>
                  <a:srgbClr val="53697A"/>
                </a:solidFill>
                <a:latin typeface="Arimo"/>
                <a:ea typeface="Arimo"/>
                <a:cs typeface="Arimo"/>
                <a:sym typeface="Arimo"/>
              </a:rPr>
              <a:t>1</a:t>
            </a:r>
          </a:p>
          <a:p>
            <a:pPr algn="r">
              <a:lnSpc>
                <a:spcPts val="3720"/>
              </a:lnSpc>
            </a:pPr>
            <a:r>
              <a:rPr lang="en-US" sz="2325">
                <a:solidFill>
                  <a:srgbClr val="53697A"/>
                </a:solidFill>
                <a:latin typeface="Arimo"/>
                <a:ea typeface="Arimo"/>
                <a:cs typeface="Arimo"/>
                <a:sym typeface="Arimo"/>
              </a:rPr>
              <a:t>2</a:t>
            </a:r>
          </a:p>
          <a:p>
            <a:pPr algn="r">
              <a:lnSpc>
                <a:spcPts val="3720"/>
              </a:lnSpc>
            </a:pPr>
            <a:r>
              <a:rPr lang="en-US" sz="2325">
                <a:solidFill>
                  <a:srgbClr val="53697A"/>
                </a:solidFill>
                <a:latin typeface="Arimo"/>
                <a:ea typeface="Arimo"/>
                <a:cs typeface="Arimo"/>
                <a:sym typeface="Arimo"/>
              </a:rPr>
              <a:t>3</a:t>
            </a:r>
          </a:p>
          <a:p>
            <a:pPr algn="r">
              <a:lnSpc>
                <a:spcPts val="3720"/>
              </a:lnSpc>
            </a:pPr>
            <a:r>
              <a:rPr lang="en-US" sz="2325">
                <a:solidFill>
                  <a:srgbClr val="53697A"/>
                </a:solidFill>
                <a:latin typeface="Arimo"/>
                <a:ea typeface="Arimo"/>
                <a:cs typeface="Arimo"/>
                <a:sym typeface="Arimo"/>
              </a:rPr>
              <a:t>4</a:t>
            </a:r>
          </a:p>
          <a:p>
            <a:pPr algn="r">
              <a:lnSpc>
                <a:spcPts val="3720"/>
              </a:lnSpc>
            </a:pPr>
            <a:r>
              <a:rPr lang="en-US" sz="2325">
                <a:solidFill>
                  <a:srgbClr val="53697A"/>
                </a:solidFill>
                <a:latin typeface="Arimo"/>
                <a:ea typeface="Arimo"/>
                <a:cs typeface="Arimo"/>
                <a:sym typeface="Arimo"/>
              </a:rPr>
              <a:t>5</a:t>
            </a:r>
          </a:p>
          <a:p>
            <a:pPr algn="r">
              <a:lnSpc>
                <a:spcPts val="3720"/>
              </a:lnSpc>
            </a:pPr>
            <a:r>
              <a:rPr lang="en-US" sz="2325">
                <a:solidFill>
                  <a:srgbClr val="53697A"/>
                </a:solidFill>
                <a:latin typeface="Arimo"/>
                <a:ea typeface="Arimo"/>
                <a:cs typeface="Arimo"/>
                <a:sym typeface="Arimo"/>
              </a:rPr>
              <a:t>6</a:t>
            </a:r>
          </a:p>
          <a:p>
            <a:pPr algn="r">
              <a:lnSpc>
                <a:spcPts val="3720"/>
              </a:lnSpc>
            </a:pPr>
            <a:r>
              <a:rPr lang="en-US" sz="2325">
                <a:solidFill>
                  <a:srgbClr val="53697A"/>
                </a:solidFill>
                <a:latin typeface="Arimo"/>
                <a:ea typeface="Arimo"/>
                <a:cs typeface="Arimo"/>
                <a:sym typeface="Arimo"/>
              </a:rPr>
              <a:t>7</a:t>
            </a:r>
          </a:p>
          <a:p>
            <a:pPr algn="r">
              <a:lnSpc>
                <a:spcPts val="3720"/>
              </a:lnSpc>
            </a:pPr>
            <a:r>
              <a:rPr lang="en-US" sz="2325">
                <a:solidFill>
                  <a:srgbClr val="53697A"/>
                </a:solidFill>
                <a:latin typeface="Arimo"/>
                <a:ea typeface="Arimo"/>
                <a:cs typeface="Arimo"/>
                <a:sym typeface="Arimo"/>
              </a:rPr>
              <a:t>8</a:t>
            </a:r>
          </a:p>
          <a:p>
            <a:pPr algn="r">
              <a:lnSpc>
                <a:spcPts val="3720"/>
              </a:lnSpc>
            </a:pPr>
            <a:r>
              <a:rPr lang="en-US" sz="2325">
                <a:solidFill>
                  <a:srgbClr val="53697A"/>
                </a:solidFill>
                <a:latin typeface="Arimo"/>
                <a:ea typeface="Arimo"/>
                <a:cs typeface="Arimo"/>
                <a:sym typeface="Arimo"/>
              </a:rPr>
              <a:t>9</a:t>
            </a:r>
          </a:p>
          <a:p>
            <a:pPr algn="r">
              <a:lnSpc>
                <a:spcPts val="3720"/>
              </a:lnSpc>
            </a:pPr>
            <a:r>
              <a:rPr lang="en-US" sz="2325">
                <a:solidFill>
                  <a:srgbClr val="53697A"/>
                </a:solidFill>
                <a:latin typeface="Arimo"/>
                <a:ea typeface="Arimo"/>
                <a:cs typeface="Arimo"/>
                <a:sym typeface="Arimo"/>
              </a:rPr>
              <a:t>10</a:t>
            </a:r>
          </a:p>
          <a:p>
            <a:pPr algn="r">
              <a:lnSpc>
                <a:spcPts val="3720"/>
              </a:lnSpc>
            </a:pPr>
            <a:r>
              <a:rPr lang="en-US" sz="2325">
                <a:solidFill>
                  <a:srgbClr val="53697A"/>
                </a:solidFill>
                <a:latin typeface="Arimo"/>
                <a:ea typeface="Arimo"/>
                <a:cs typeface="Arimo"/>
                <a:sym typeface="Arimo"/>
              </a:rPr>
              <a:t>11</a:t>
            </a:r>
          </a:p>
        </p:txBody>
      </p:sp>
      <p:sp>
        <p:nvSpPr>
          <p:cNvPr name="TextBox 22" id="22"/>
          <p:cNvSpPr txBox="true"/>
          <p:nvPr/>
        </p:nvSpPr>
        <p:spPr>
          <a:xfrm rot="0">
            <a:off x="9286875" y="1657350"/>
            <a:ext cx="8096250" cy="5120640"/>
          </a:xfrm>
          <a:prstGeom prst="rect">
            <a:avLst/>
          </a:prstGeom>
        </p:spPr>
        <p:txBody>
          <a:bodyPr anchor="t" rtlCol="false" tIns="0" lIns="0" bIns="0" rIns="0">
            <a:spAutoFit/>
          </a:bodyPr>
          <a:lstStyle/>
          <a:p>
            <a:pPr algn="l">
              <a:lnSpc>
                <a:spcPts val="3720"/>
              </a:lnSpc>
            </a:pPr>
            <a:r>
              <a:rPr lang="en-US" sz="1700" i="0">
                <a:solidFill>
                  <a:srgbClr val="E6EDF3"/>
                </a:solidFill>
                <a:latin typeface="Arimo"/>
                <a:ea typeface="Arimo"/>
                <a:cs typeface="Arimo"/>
                <a:sym typeface="Arimo"/>
              </a:rPr>
              <a:t>def gelu(x):</a:t>
            </a:r>
          </a:p>
          <a:p>
            <a:pPr algn="l">
              <a:lnSpc>
                <a:spcPts val="3720"/>
              </a:lnSpc>
            </a:pPr>
            <a:r>
              <a:rPr lang="en-US" sz="1700" i="0">
                <a:solidFill>
                  <a:srgbClr val="E6EDF3"/>
                </a:solidFill>
                <a:latin typeface="Arimo"/>
                <a:ea typeface="Arimo"/>
                <a:cs typeface="Arimo"/>
                <a:sym typeface="Arimo"/>
              </a:rPr>
              <a:t>    return 0.5 * x * (1.0 + erf(x / np.sqrt(2.0)))</a:t>
            </a:r>
          </a:p>
          <a:p>
            <a:pPr algn="l">
              <a:lnSpc>
                <a:spcPts val="3720"/>
              </a:lnSpc>
            </a:pPr>
          </a:p>
          <a:p>
            <a:pPr algn="l">
              <a:lnSpc>
                <a:spcPts val="3720"/>
              </a:lnSpc>
            </a:pPr>
            <a:r>
              <a:rPr lang="en-US" sz="1700" i="0">
                <a:solidFill>
                  <a:srgbClr val="E6EDF3"/>
                </a:solidFill>
                <a:latin typeface="Arimo"/>
                <a:ea typeface="Arimo"/>
                <a:cs typeface="Arimo"/>
                <a:sym typeface="Arimo"/>
              </a:rPr>
              <a:t>class Proyector:</a:t>
            </a:r>
          </a:p>
          <a:p>
            <a:pPr algn="l">
              <a:lnSpc>
                <a:spcPts val="3720"/>
              </a:lnSpc>
            </a:pPr>
            <a:r>
              <a:rPr lang="en-US" sz="1700" i="0">
                <a:solidFill>
                  <a:srgbClr val="E6EDF3"/>
                </a:solidFill>
                <a:latin typeface="Arimo"/>
                <a:ea typeface="Arimo"/>
                <a:cs typeface="Arimo"/>
                <a:sym typeface="Arimo"/>
              </a:rPr>
              <a:t>    def __call__(self, x):</a:t>
            </a:r>
          </a:p>
          <a:p>
            <a:pPr algn="l">
              <a:lnSpc>
                <a:spcPts val="3720"/>
              </a:lnSpc>
            </a:pPr>
            <a:r>
              <a:rPr lang="en-US" sz="1700" i="0">
                <a:solidFill>
                  <a:srgbClr val="E6EDF3"/>
                </a:solidFill>
                <a:latin typeface="Arimo"/>
                <a:ea typeface="Arimo"/>
                <a:cs typeface="Arimo"/>
                <a:sym typeface="Arimo"/>
              </a:rPr>
              <a:t>        return gelu(x @ self.w1 + self.b1) @ self.w2 + self.b2</a:t>
            </a:r>
          </a:p>
          <a:p>
            <a:pPr algn="l">
              <a:lnSpc>
                <a:spcPts val="3720"/>
              </a:lnSpc>
            </a:pPr>
          </a:p>
          <a:p>
            <a:pPr algn="l">
              <a:lnSpc>
                <a:spcPts val="3720"/>
              </a:lnSpc>
            </a:pPr>
            <a:r>
              <a:rPr lang="en-US" sz="1700" i="0">
                <a:solidFill>
                  <a:srgbClr val="E6EDF3"/>
                </a:solidFill>
                <a:latin typeface="Arimo"/>
                <a:ea typeface="Arimo"/>
                <a:cs typeface="Arimo"/>
                <a:sym typeface="Arimo"/>
              </a:rPr>
              <a:t>proyector = Proyector()</a:t>
            </a:r>
          </a:p>
          <a:p>
            <a:pPr algn="l">
              <a:lnSpc>
                <a:spcPts val="3720"/>
              </a:lnSpc>
            </a:pPr>
            <a:r>
              <a:rPr lang="en-US" sz="1700" i="0">
                <a:solidFill>
                  <a:srgbClr val="E6EDF3"/>
                </a:solidFill>
                <a:latin typeface="Arimo"/>
                <a:ea typeface="Arimo"/>
                <a:cs typeface="Arimo"/>
                <a:sym typeface="Arimo"/>
              </a:rPr>
              <a:t>visuales = proyector(agrupados.reshape(256, 1280))</a:t>
            </a:r>
          </a:p>
        </p:txBody>
      </p:sp>
      <p:grpSp>
        <p:nvGrpSpPr>
          <p:cNvPr name="Group 23" id="23"/>
          <p:cNvGrpSpPr/>
          <p:nvPr/>
        </p:nvGrpSpPr>
        <p:grpSpPr>
          <a:xfrm rot="0">
            <a:off x="8620125" y="8001000"/>
            <a:ext cx="8763000" cy="857250"/>
            <a:chOff x="0" y="0"/>
            <a:chExt cx="11684000" cy="1143000"/>
          </a:xfrm>
        </p:grpSpPr>
        <p:sp>
          <p:nvSpPr>
            <p:cNvPr name="Freeform 24" id="24"/>
            <p:cNvSpPr/>
            <p:nvPr/>
          </p:nvSpPr>
          <p:spPr>
            <a:xfrm flipH="false" flipV="false" rot="0">
              <a:off x="0" y="0"/>
              <a:ext cx="11684000" cy="1143000"/>
            </a:xfrm>
            <a:custGeom>
              <a:avLst/>
              <a:gdLst/>
              <a:ahLst/>
              <a:cxnLst/>
              <a:rect r="r" b="b" t="t" l="l"/>
              <a:pathLst>
                <a:path h="1143000" w="11684000">
                  <a:moveTo>
                    <a:pt x="152400" y="0"/>
                  </a:moveTo>
                  <a:lnTo>
                    <a:pt x="11531600" y="0"/>
                  </a:lnTo>
                  <a:cubicBezTo>
                    <a:pt x="11615769" y="0"/>
                    <a:pt x="11684000" y="68232"/>
                    <a:pt x="11684000" y="152400"/>
                  </a:cubicBezTo>
                  <a:lnTo>
                    <a:pt x="11684000" y="990600"/>
                  </a:lnTo>
                  <a:cubicBezTo>
                    <a:pt x="11684000" y="1074768"/>
                    <a:pt x="11615769" y="1143000"/>
                    <a:pt x="11531600" y="1143000"/>
                  </a:cubicBezTo>
                  <a:lnTo>
                    <a:pt x="152400" y="1143000"/>
                  </a:lnTo>
                  <a:cubicBezTo>
                    <a:pt x="68232" y="1143000"/>
                    <a:pt x="0" y="1074768"/>
                    <a:pt x="0" y="990600"/>
                  </a:cubicBezTo>
                  <a:lnTo>
                    <a:pt x="0" y="152400"/>
                  </a:lnTo>
                  <a:cubicBezTo>
                    <a:pt x="0" y="68232"/>
                    <a:pt x="68232" y="0"/>
                    <a:pt x="152400" y="0"/>
                  </a:cubicBezTo>
                  <a:close/>
                </a:path>
              </a:pathLst>
            </a:custGeom>
            <a:solidFill>
              <a:srgbClr val="102C43"/>
            </a:solidFill>
          </p:spPr>
        </p:sp>
        <p:sp>
          <p:nvSpPr>
            <p:cNvPr name="TextBox 25" id="25"/>
            <p:cNvSpPr txBox="true"/>
            <p:nvPr/>
          </p:nvSpPr>
          <p:spPr>
            <a:xfrm>
              <a:off x="0" y="-38100"/>
              <a:ext cx="11684000" cy="11811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8905875" y="8210550"/>
            <a:ext cx="8382000" cy="350520"/>
          </a:xfrm>
          <a:prstGeom prst="rect">
            <a:avLst/>
          </a:prstGeom>
        </p:spPr>
        <p:txBody>
          <a:bodyPr anchor="t" rtlCol="false" tIns="0" lIns="0" bIns="0" rIns="0">
            <a:spAutoFit/>
          </a:bodyPr>
          <a:lstStyle/>
          <a:p>
            <a:pPr algn="l">
              <a:lnSpc>
                <a:spcPts val="2729"/>
              </a:lnSpc>
            </a:pPr>
            <a:r>
              <a:rPr lang="en-US" sz="1950" b="true" i="0">
                <a:solidFill>
                  <a:srgbClr val="F5B82E"/>
                </a:solidFill>
                <a:latin typeface="Arimo Bold"/>
                <a:ea typeface="Arimo Bold"/>
                <a:cs typeface="Arimo Bold"/>
                <a:sym typeface="Arimo Bold"/>
              </a:rPr>
              <a:t>SALIDA  ›  (256, 4096) · 22.028.288 parámetros entrenables</a:t>
            </a:r>
          </a:p>
        </p:txBody>
      </p:sp>
      <p:sp>
        <p:nvSpPr>
          <p:cNvPr name="TextBox 27" id="27"/>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grpSp>
        <p:nvGrpSpPr>
          <p:cNvPr name="Group 28" id="28"/>
          <p:cNvGrpSpPr/>
          <p:nvPr/>
        </p:nvGrpSpPr>
        <p:grpSpPr>
          <a:xfrm rot="0">
            <a:off x="666750" y="9639300"/>
            <a:ext cx="16954500" cy="19050"/>
            <a:chOff x="0" y="0"/>
            <a:chExt cx="22606000" cy="25400"/>
          </a:xfrm>
        </p:grpSpPr>
        <p:sp>
          <p:nvSpPr>
            <p:cNvPr name="Freeform 29" id="29"/>
            <p:cNvSpPr/>
            <p:nvPr/>
          </p:nvSpPr>
          <p:spPr>
            <a:xfrm flipH="false" flipV="false" rot="0">
              <a:off x="0" y="0"/>
              <a:ext cx="22606000" cy="25400"/>
            </a:xfrm>
            <a:custGeom>
              <a:avLst/>
              <a:gdLst/>
              <a:ahLst/>
              <a:cxnLst/>
              <a:rect r="r" b="b" t="t" l="l"/>
              <a:pathLst>
                <a:path h="25400" w="22606000">
                  <a:moveTo>
                    <a:pt x="0" y="0"/>
                  </a:moveTo>
                  <a:lnTo>
                    <a:pt x="22606000" y="0"/>
                  </a:lnTo>
                  <a:lnTo>
                    <a:pt x="22606000" y="25400"/>
                  </a:lnTo>
                  <a:lnTo>
                    <a:pt x="0" y="25400"/>
                  </a:lnTo>
                  <a:close/>
                </a:path>
              </a:pathLst>
            </a:custGeom>
            <a:solidFill>
              <a:srgbClr val="C9D3DD"/>
            </a:solidFill>
          </p:spPr>
        </p:sp>
        <p:sp>
          <p:nvSpPr>
            <p:cNvPr name="TextBox 30" id="30"/>
            <p:cNvSpPr txBox="true"/>
            <p:nvPr/>
          </p:nvSpPr>
          <p:spPr>
            <a:xfrm>
              <a:off x="0" y="-38100"/>
              <a:ext cx="22606000" cy="63500"/>
            </a:xfrm>
            <a:prstGeom prst="rect">
              <a:avLst/>
            </a:prstGeom>
          </p:spPr>
          <p:txBody>
            <a:bodyPr anchor="ctr" rtlCol="false" tIns="50800" lIns="50800" bIns="50800" rIns="50800"/>
            <a:lstStyle/>
            <a:p>
              <a:pPr algn="l">
                <a:lnSpc>
                  <a:spcPts val="1679"/>
                </a:lnSpc>
              </a:pPr>
            </a:p>
          </p:txBody>
        </p:sp>
      </p:grpSp>
      <p:sp>
        <p:nvSpPr>
          <p:cNvPr name="Freeform 31" id="31" descr="Logo GoSA"/>
          <p:cNvSpPr/>
          <p:nvPr/>
        </p:nvSpPr>
        <p:spPr>
          <a:xfrm flipH="false" flipV="false" rot="0">
            <a:off x="161925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2"/>
            <a:stretch>
              <a:fillRect l="0" t="-307" r="0" b="-307"/>
            </a:stretch>
          </a:blipFill>
        </p:spPr>
        <p:txBody>
          <a:bodyPr/>
          <a:p/>
        </p:txBody>
      </p:sp>
      <p:sp>
        <p:nvSpPr>
          <p:cNvPr name="Freeform 32" id="32"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grpSp>
        <p:nvGrpSpPr>
          <p:cNvPr name="Group 33" id="33"/>
          <p:cNvGrpSpPr/>
          <p:nvPr/>
        </p:nvGrpSpPr>
        <p:grpSpPr>
          <a:xfrm rot="0">
            <a:off x="666750" y="7048500"/>
            <a:ext cx="7048500" cy="1809750"/>
            <a:chOff x="0" y="0"/>
            <a:chExt cx="9398000" cy="2413000"/>
          </a:xfrm>
        </p:grpSpPr>
        <p:sp>
          <p:nvSpPr>
            <p:cNvPr name="Freeform 34" id="34"/>
            <p:cNvSpPr/>
            <p:nvPr/>
          </p:nvSpPr>
          <p:spPr>
            <a:xfrm flipH="false" flipV="false" rot="0">
              <a:off x="0" y="0"/>
              <a:ext cx="9398000" cy="2413000"/>
            </a:xfrm>
            <a:custGeom>
              <a:avLst/>
              <a:gdLst/>
              <a:ahLst/>
              <a:cxnLst/>
              <a:rect r="r" b="b" t="t" l="l"/>
              <a:pathLst>
                <a:path h="2413000" w="9398000">
                  <a:moveTo>
                    <a:pt x="228600" y="0"/>
                  </a:moveTo>
                  <a:lnTo>
                    <a:pt x="9169400" y="0"/>
                  </a:lnTo>
                  <a:cubicBezTo>
                    <a:pt x="9295652" y="0"/>
                    <a:pt x="9398000" y="102348"/>
                    <a:pt x="9398000" y="228600"/>
                  </a:cubicBezTo>
                  <a:lnTo>
                    <a:pt x="9398000" y="2184400"/>
                  </a:lnTo>
                  <a:cubicBezTo>
                    <a:pt x="9398000" y="2310652"/>
                    <a:pt x="9295652" y="2413000"/>
                    <a:pt x="9169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E3EEF0"/>
            </a:solidFill>
          </p:spPr>
        </p:sp>
        <p:sp>
          <p:nvSpPr>
            <p:cNvPr name="TextBox 35" id="35"/>
            <p:cNvSpPr txBox="true"/>
            <p:nvPr/>
          </p:nvSpPr>
          <p:spPr>
            <a:xfrm>
              <a:off x="0" y="-38100"/>
              <a:ext cx="9398000" cy="24511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666750" y="7239000"/>
            <a:ext cx="95250" cy="1428750"/>
            <a:chOff x="0" y="0"/>
            <a:chExt cx="127000" cy="1905000"/>
          </a:xfrm>
        </p:grpSpPr>
        <p:sp>
          <p:nvSpPr>
            <p:cNvPr name="Freeform 37" id="37"/>
            <p:cNvSpPr/>
            <p:nvPr/>
          </p:nvSpPr>
          <p:spPr>
            <a:xfrm flipH="false" flipV="false" rot="0">
              <a:off x="0" y="0"/>
              <a:ext cx="127000" cy="1905000"/>
            </a:xfrm>
            <a:custGeom>
              <a:avLst/>
              <a:gdLst/>
              <a:ahLst/>
              <a:cxnLst/>
              <a:rect r="r" b="b" t="t" l="l"/>
              <a:pathLst>
                <a:path h="1905000" w="127000">
                  <a:moveTo>
                    <a:pt x="0" y="0"/>
                  </a:moveTo>
                  <a:lnTo>
                    <a:pt x="127000" y="0"/>
                  </a:lnTo>
                  <a:lnTo>
                    <a:pt x="127000" y="1905000"/>
                  </a:lnTo>
                  <a:lnTo>
                    <a:pt x="0" y="1905000"/>
                  </a:lnTo>
                  <a:close/>
                </a:path>
              </a:pathLst>
            </a:custGeom>
            <a:solidFill>
              <a:srgbClr val="087F8C"/>
            </a:solidFill>
          </p:spPr>
        </p:sp>
        <p:sp>
          <p:nvSpPr>
            <p:cNvPr name="TextBox 38" id="38"/>
            <p:cNvSpPr txBox="true"/>
            <p:nvPr/>
          </p:nvSpPr>
          <p:spPr>
            <a:xfrm>
              <a:off x="0" y="-38100"/>
              <a:ext cx="127000" cy="19431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1047750" y="7277100"/>
            <a:ext cx="5715000" cy="300990"/>
          </a:xfrm>
          <a:prstGeom prst="rect">
            <a:avLst/>
          </a:prstGeom>
        </p:spPr>
        <p:txBody>
          <a:bodyPr anchor="t" rtlCol="false" tIns="0" lIns="0" bIns="0" rIns="0">
            <a:spAutoFit/>
          </a:bodyPr>
          <a:lstStyle/>
          <a:p>
            <a:pPr algn="l">
              <a:lnSpc>
                <a:spcPts val="2310"/>
              </a:lnSpc>
            </a:pPr>
            <a:r>
              <a:rPr lang="en-US" sz="1650" b="true">
                <a:solidFill>
                  <a:srgbClr val="087F8C"/>
                </a:solidFill>
                <a:latin typeface="Arimo Bold"/>
                <a:ea typeface="Arimo Bold"/>
                <a:cs typeface="Arimo Bold"/>
                <a:sym typeface="Arimo Bold"/>
              </a:rPr>
              <a:t>OBJETIVO</a:t>
            </a:r>
          </a:p>
        </p:txBody>
      </p:sp>
      <p:sp>
        <p:nvSpPr>
          <p:cNvPr name="TextBox 40" id="40"/>
          <p:cNvSpPr txBox="true"/>
          <p:nvPr/>
        </p:nvSpPr>
        <p:spPr>
          <a:xfrm rot="0">
            <a:off x="1047750" y="7724775"/>
            <a:ext cx="6477000" cy="398145"/>
          </a:xfrm>
          <a:prstGeom prst="rect">
            <a:avLst/>
          </a:prstGeom>
        </p:spPr>
        <p:txBody>
          <a:bodyPr anchor="t" rtlCol="false" tIns="0" lIns="0" bIns="0" rIns="0">
            <a:spAutoFit/>
          </a:bodyPr>
          <a:lstStyle/>
          <a:p>
            <a:pPr algn="l">
              <a:lnSpc>
                <a:spcPts val="3120"/>
              </a:lnSpc>
            </a:pPr>
            <a:r>
              <a:rPr lang="en-US" sz="2400" i="0">
                <a:solidFill>
                  <a:srgbClr val="071D30"/>
                </a:solidFill>
                <a:latin typeface="Arimo"/>
                <a:ea typeface="Arimo"/>
                <a:cs typeface="Arimo"/>
                <a:sym typeface="Arimo"/>
              </a:rPr>
              <a:t>Ver cómo los 256 tokens de Surya se vuelven vectores que el LLM puede leer.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grpSp>
        <p:nvGrpSpPr>
          <p:cNvPr name="Group 2" id="2"/>
          <p:cNvGrpSpPr/>
          <p:nvPr/>
        </p:nvGrpSpPr>
        <p:grpSpPr>
          <a:xfrm rot="0">
            <a:off x="9048750" y="6561411"/>
            <a:ext cx="8858250" cy="2227536"/>
            <a:chOff x="0" y="0"/>
            <a:chExt cx="11811000" cy="3175000"/>
          </a:xfrm>
        </p:grpSpPr>
        <p:sp>
          <p:nvSpPr>
            <p:cNvPr name="Freeform 3" id="3"/>
            <p:cNvSpPr/>
            <p:nvPr/>
          </p:nvSpPr>
          <p:spPr>
            <a:xfrm flipH="false" flipV="false" rot="0">
              <a:off x="0" y="0"/>
              <a:ext cx="11811000" cy="3175000"/>
            </a:xfrm>
            <a:custGeom>
              <a:avLst/>
              <a:gdLst/>
              <a:ahLst/>
              <a:cxnLst/>
              <a:rect r="r" b="b" t="t" l="l"/>
              <a:pathLst>
                <a:path h="3175000" w="11811000">
                  <a:moveTo>
                    <a:pt x="254000" y="0"/>
                  </a:moveTo>
                  <a:lnTo>
                    <a:pt x="11557000" y="0"/>
                  </a:lnTo>
                  <a:cubicBezTo>
                    <a:pt x="11697281" y="0"/>
                    <a:pt x="11811000" y="113720"/>
                    <a:pt x="11811000" y="254000"/>
                  </a:cubicBezTo>
                  <a:lnTo>
                    <a:pt x="11811000" y="2921000"/>
                  </a:lnTo>
                  <a:cubicBezTo>
                    <a:pt x="11811000" y="3061280"/>
                    <a:pt x="11697281" y="3175000"/>
                    <a:pt x="11557000" y="3175000"/>
                  </a:cubicBezTo>
                  <a:lnTo>
                    <a:pt x="254000" y="3175000"/>
                  </a:lnTo>
                  <a:cubicBezTo>
                    <a:pt x="113720" y="3175000"/>
                    <a:pt x="0" y="3061280"/>
                    <a:pt x="0" y="2921000"/>
                  </a:cubicBezTo>
                  <a:lnTo>
                    <a:pt x="0" y="254000"/>
                  </a:lnTo>
                  <a:cubicBezTo>
                    <a:pt x="0" y="113720"/>
                    <a:pt x="113720" y="0"/>
                    <a:pt x="254000" y="0"/>
                  </a:cubicBezTo>
                  <a:close/>
                </a:path>
              </a:pathLst>
            </a:custGeom>
            <a:solidFill>
              <a:srgbClr val="102C43"/>
            </a:solidFill>
          </p:spPr>
        </p:sp>
        <p:sp>
          <p:nvSpPr>
            <p:cNvPr name="TextBox 4" id="4"/>
            <p:cNvSpPr txBox="true"/>
            <p:nvPr/>
          </p:nvSpPr>
          <p:spPr>
            <a:xfrm>
              <a:off x="0" y="-38100"/>
              <a:ext cx="11811000" cy="3213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381000" y="6561411"/>
            <a:ext cx="8477250" cy="2227536"/>
            <a:chOff x="0" y="0"/>
            <a:chExt cx="11303000" cy="3175000"/>
          </a:xfrm>
        </p:grpSpPr>
        <p:sp>
          <p:nvSpPr>
            <p:cNvPr name="Freeform 6" id="6"/>
            <p:cNvSpPr/>
            <p:nvPr/>
          </p:nvSpPr>
          <p:spPr>
            <a:xfrm flipH="false" flipV="false" rot="0">
              <a:off x="0" y="0"/>
              <a:ext cx="11303000" cy="3175000"/>
            </a:xfrm>
            <a:custGeom>
              <a:avLst/>
              <a:gdLst/>
              <a:ahLst/>
              <a:cxnLst/>
              <a:rect r="r" b="b" t="t" l="l"/>
              <a:pathLst>
                <a:path h="3175000" w="11303000">
                  <a:moveTo>
                    <a:pt x="254000" y="0"/>
                  </a:moveTo>
                  <a:lnTo>
                    <a:pt x="11049000" y="0"/>
                  </a:lnTo>
                  <a:cubicBezTo>
                    <a:pt x="11189281" y="0"/>
                    <a:pt x="11303000" y="113720"/>
                    <a:pt x="11303000" y="254000"/>
                  </a:cubicBezTo>
                  <a:lnTo>
                    <a:pt x="11303000" y="2921000"/>
                  </a:lnTo>
                  <a:cubicBezTo>
                    <a:pt x="11303000" y="3061280"/>
                    <a:pt x="11189281" y="3175000"/>
                    <a:pt x="11049000" y="3175000"/>
                  </a:cubicBezTo>
                  <a:lnTo>
                    <a:pt x="254000" y="3175000"/>
                  </a:lnTo>
                  <a:cubicBezTo>
                    <a:pt x="113720" y="3175000"/>
                    <a:pt x="0" y="3061280"/>
                    <a:pt x="0" y="2921000"/>
                  </a:cubicBezTo>
                  <a:lnTo>
                    <a:pt x="0" y="254000"/>
                  </a:lnTo>
                  <a:cubicBezTo>
                    <a:pt x="0" y="113720"/>
                    <a:pt x="113720" y="0"/>
                    <a:pt x="254000" y="0"/>
                  </a:cubicBezTo>
                  <a:close/>
                </a:path>
              </a:pathLst>
            </a:custGeom>
            <a:solidFill>
              <a:srgbClr val="102C43"/>
            </a:solidFill>
          </p:spPr>
        </p:sp>
        <p:sp>
          <p:nvSpPr>
            <p:cNvPr name="TextBox 7" id="7"/>
            <p:cNvSpPr txBox="true"/>
            <p:nvPr/>
          </p:nvSpPr>
          <p:spPr>
            <a:xfrm>
              <a:off x="0" y="-38100"/>
              <a:ext cx="11303000" cy="3213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9048750" y="3857625"/>
            <a:ext cx="8858250" cy="2227536"/>
            <a:chOff x="0" y="0"/>
            <a:chExt cx="11811000" cy="2921000"/>
          </a:xfrm>
        </p:grpSpPr>
        <p:sp>
          <p:nvSpPr>
            <p:cNvPr name="Freeform 9" id="9"/>
            <p:cNvSpPr/>
            <p:nvPr/>
          </p:nvSpPr>
          <p:spPr>
            <a:xfrm flipH="false" flipV="false" rot="0">
              <a:off x="0" y="0"/>
              <a:ext cx="11811000" cy="2921000"/>
            </a:xfrm>
            <a:custGeom>
              <a:avLst/>
              <a:gdLst/>
              <a:ahLst/>
              <a:cxnLst/>
              <a:rect r="r" b="b" t="t" l="l"/>
              <a:pathLst>
                <a:path h="2921000" w="11811000">
                  <a:moveTo>
                    <a:pt x="254000" y="0"/>
                  </a:moveTo>
                  <a:lnTo>
                    <a:pt x="11557000" y="0"/>
                  </a:lnTo>
                  <a:cubicBezTo>
                    <a:pt x="11697281" y="0"/>
                    <a:pt x="11811000" y="113720"/>
                    <a:pt x="11811000" y="254000"/>
                  </a:cubicBezTo>
                  <a:lnTo>
                    <a:pt x="11811000" y="2667000"/>
                  </a:lnTo>
                  <a:cubicBezTo>
                    <a:pt x="11811000" y="2807280"/>
                    <a:pt x="11697281" y="2921000"/>
                    <a:pt x="11557000" y="2921000"/>
                  </a:cubicBezTo>
                  <a:lnTo>
                    <a:pt x="254000" y="2921000"/>
                  </a:lnTo>
                  <a:cubicBezTo>
                    <a:pt x="113720" y="2921000"/>
                    <a:pt x="0" y="2807280"/>
                    <a:pt x="0" y="2667000"/>
                  </a:cubicBezTo>
                  <a:lnTo>
                    <a:pt x="0" y="254000"/>
                  </a:lnTo>
                  <a:cubicBezTo>
                    <a:pt x="0" y="113720"/>
                    <a:pt x="113720" y="0"/>
                    <a:pt x="254000" y="0"/>
                  </a:cubicBezTo>
                  <a:close/>
                </a:path>
              </a:pathLst>
            </a:custGeom>
            <a:solidFill>
              <a:srgbClr val="102C43"/>
            </a:solidFill>
          </p:spPr>
        </p:sp>
        <p:sp>
          <p:nvSpPr>
            <p:cNvPr name="TextBox 10" id="10"/>
            <p:cNvSpPr txBox="true"/>
            <p:nvPr/>
          </p:nvSpPr>
          <p:spPr>
            <a:xfrm>
              <a:off x="0" y="-38100"/>
              <a:ext cx="11811000" cy="2959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381000" y="3857625"/>
            <a:ext cx="8477250" cy="2227536"/>
            <a:chOff x="0" y="0"/>
            <a:chExt cx="11303000" cy="2921000"/>
          </a:xfrm>
        </p:grpSpPr>
        <p:sp>
          <p:nvSpPr>
            <p:cNvPr name="Freeform 12" id="12"/>
            <p:cNvSpPr/>
            <p:nvPr/>
          </p:nvSpPr>
          <p:spPr>
            <a:xfrm flipH="false" flipV="false" rot="0">
              <a:off x="0" y="0"/>
              <a:ext cx="11303000" cy="2921000"/>
            </a:xfrm>
            <a:custGeom>
              <a:avLst/>
              <a:gdLst/>
              <a:ahLst/>
              <a:cxnLst/>
              <a:rect r="r" b="b" t="t" l="l"/>
              <a:pathLst>
                <a:path h="2921000" w="11303000">
                  <a:moveTo>
                    <a:pt x="254000" y="0"/>
                  </a:moveTo>
                  <a:lnTo>
                    <a:pt x="11049000" y="0"/>
                  </a:lnTo>
                  <a:cubicBezTo>
                    <a:pt x="11189281" y="0"/>
                    <a:pt x="11303000" y="113720"/>
                    <a:pt x="11303000" y="254000"/>
                  </a:cubicBezTo>
                  <a:lnTo>
                    <a:pt x="11303000" y="2667000"/>
                  </a:lnTo>
                  <a:cubicBezTo>
                    <a:pt x="11303000" y="2807280"/>
                    <a:pt x="11189281" y="2921000"/>
                    <a:pt x="11049000" y="2921000"/>
                  </a:cubicBezTo>
                  <a:lnTo>
                    <a:pt x="254000" y="2921000"/>
                  </a:lnTo>
                  <a:cubicBezTo>
                    <a:pt x="113720" y="2921000"/>
                    <a:pt x="0" y="2807280"/>
                    <a:pt x="0" y="2667000"/>
                  </a:cubicBezTo>
                  <a:lnTo>
                    <a:pt x="0" y="254000"/>
                  </a:lnTo>
                  <a:cubicBezTo>
                    <a:pt x="0" y="113720"/>
                    <a:pt x="113720" y="0"/>
                    <a:pt x="254000" y="0"/>
                  </a:cubicBezTo>
                  <a:close/>
                </a:path>
              </a:pathLst>
            </a:custGeom>
            <a:solidFill>
              <a:srgbClr val="102C43"/>
            </a:solidFill>
          </p:spPr>
        </p:sp>
        <p:sp>
          <p:nvSpPr>
            <p:cNvPr name="TextBox 13" id="13"/>
            <p:cNvSpPr txBox="true"/>
            <p:nvPr/>
          </p:nvSpPr>
          <p:spPr>
            <a:xfrm>
              <a:off x="0" y="-38100"/>
              <a:ext cx="11303000" cy="2959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666750" y="809625"/>
            <a:ext cx="16954500" cy="1069976"/>
          </a:xfrm>
          <a:prstGeom prst="rect">
            <a:avLst/>
          </a:prstGeom>
        </p:spPr>
        <p:txBody>
          <a:bodyPr anchor="t" rtlCol="false" tIns="0" lIns="0" bIns="0" rIns="0">
            <a:spAutoFit/>
          </a:bodyPr>
          <a:lstStyle/>
          <a:p>
            <a:pPr algn="l" marL="0" indent="0" lvl="0">
              <a:lnSpc>
                <a:spcPts val="8000"/>
              </a:lnSpc>
              <a:spcBef>
                <a:spcPct val="0"/>
              </a:spcBef>
            </a:pPr>
            <a:r>
              <a:rPr lang="en-US" sz="8000" strike="noStrike" u="none" i="0">
                <a:solidFill>
                  <a:srgbClr val="F5B82E"/>
                </a:solidFill>
                <a:latin typeface="Georgia Pro Condensed"/>
                <a:ea typeface="Georgia Pro Condensed"/>
                <a:cs typeface="Georgia Pro Condensed"/>
                <a:sym typeface="Georgia Pro Condensed"/>
              </a:rPr>
              <a:t>Resultados del prototipo</a:t>
            </a:r>
          </a:p>
        </p:txBody>
      </p:sp>
      <p:grpSp>
        <p:nvGrpSpPr>
          <p:cNvPr name="Group 15" id="15"/>
          <p:cNvGrpSpPr/>
          <p:nvPr/>
        </p:nvGrpSpPr>
        <p:grpSpPr>
          <a:xfrm rot="0">
            <a:off x="2105025" y="4259580"/>
            <a:ext cx="6886575" cy="1570673"/>
            <a:chOff x="0" y="0"/>
            <a:chExt cx="9182100" cy="2094230"/>
          </a:xfrm>
        </p:grpSpPr>
        <p:sp>
          <p:nvSpPr>
            <p:cNvPr name="TextBox 16" id="16"/>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0,557</a:t>
              </a:r>
            </a:p>
          </p:txBody>
        </p:sp>
        <p:sp>
          <p:nvSpPr>
            <p:cNvPr name="TextBox 17" id="17"/>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mejor loss en las regiones held-out (epoch 15)</a:t>
              </a:r>
            </a:p>
          </p:txBody>
        </p:sp>
      </p:grpSp>
      <p:grpSp>
        <p:nvGrpSpPr>
          <p:cNvPr name="Group 18" id="18"/>
          <p:cNvGrpSpPr/>
          <p:nvPr/>
        </p:nvGrpSpPr>
        <p:grpSpPr>
          <a:xfrm rot="0">
            <a:off x="10734675" y="6981622"/>
            <a:ext cx="6886575" cy="1570673"/>
            <a:chOff x="0" y="0"/>
            <a:chExt cx="9182100" cy="2094230"/>
          </a:xfrm>
        </p:grpSpPr>
        <p:sp>
          <p:nvSpPr>
            <p:cNvPr name="TextBox 19" id="19"/>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29 / 55</a:t>
              </a:r>
            </a:p>
          </p:txBody>
        </p:sp>
        <p:sp>
          <p:nvSpPr>
            <p:cNvPr name="TextBox 20" id="20"/>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captions que dicen «sur»; solo 12 regiones lo son</a:t>
              </a:r>
            </a:p>
          </p:txBody>
        </p:sp>
      </p:grpSp>
      <p:grpSp>
        <p:nvGrpSpPr>
          <p:cNvPr name="Group 21" id="21"/>
          <p:cNvGrpSpPr/>
          <p:nvPr/>
        </p:nvGrpSpPr>
        <p:grpSpPr>
          <a:xfrm rot="0">
            <a:off x="2105025" y="6974320"/>
            <a:ext cx="6886575" cy="1616869"/>
            <a:chOff x="0" y="0"/>
            <a:chExt cx="9182100" cy="2155825"/>
          </a:xfrm>
        </p:grpSpPr>
        <p:sp>
          <p:nvSpPr>
            <p:cNvPr name="TextBox 22" id="22"/>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+0,18</a:t>
              </a:r>
            </a:p>
          </p:txBody>
        </p:sp>
        <p:sp>
          <p:nvSpPr>
            <p:cNvPr name="TextBox 23" id="23"/>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image gap: cuánto sube la loss si se cambia la imagen</a:t>
              </a:r>
            </a:p>
          </p:txBody>
        </p:sp>
      </p:grpSp>
      <p:sp>
        <p:nvSpPr>
          <p:cNvPr name="TextBox 24" id="24"/>
          <p:cNvSpPr txBox="true"/>
          <p:nvPr/>
        </p:nvSpPr>
        <p:spPr>
          <a:xfrm rot="0">
            <a:off x="666750" y="4244340"/>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01</a:t>
            </a:r>
          </a:p>
        </p:txBody>
      </p:sp>
      <p:sp>
        <p:nvSpPr>
          <p:cNvPr name="TextBox 25" id="25"/>
          <p:cNvSpPr txBox="true"/>
          <p:nvPr/>
        </p:nvSpPr>
        <p:spPr>
          <a:xfrm rot="0">
            <a:off x="9296400" y="425005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03</a:t>
            </a:r>
          </a:p>
        </p:txBody>
      </p:sp>
      <p:sp>
        <p:nvSpPr>
          <p:cNvPr name="TextBox 26" id="26"/>
          <p:cNvSpPr txBox="true"/>
          <p:nvPr/>
        </p:nvSpPr>
        <p:spPr>
          <a:xfrm rot="0">
            <a:off x="9296400" y="6972891"/>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04</a:t>
            </a:r>
          </a:p>
        </p:txBody>
      </p:sp>
      <p:sp>
        <p:nvSpPr>
          <p:cNvPr name="TextBox 27" id="27"/>
          <p:cNvSpPr txBox="true"/>
          <p:nvPr/>
        </p:nvSpPr>
        <p:spPr>
          <a:xfrm rot="0">
            <a:off x="666750" y="6967176"/>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5B82E"/>
                </a:solidFill>
                <a:latin typeface="Georgia Pro Condensed"/>
                <a:ea typeface="Georgia Pro Condensed"/>
                <a:cs typeface="Georgia Pro Condensed"/>
                <a:sym typeface="Georgia Pro Condensed"/>
              </a:rPr>
              <a:t>02</a:t>
            </a:r>
          </a:p>
        </p:txBody>
      </p:sp>
      <p:grpSp>
        <p:nvGrpSpPr>
          <p:cNvPr name="Group 28" id="28"/>
          <p:cNvGrpSpPr/>
          <p:nvPr/>
        </p:nvGrpSpPr>
        <p:grpSpPr>
          <a:xfrm rot="0">
            <a:off x="10734675" y="4258786"/>
            <a:ext cx="6886575" cy="1570673"/>
            <a:chOff x="0" y="0"/>
            <a:chExt cx="9182100" cy="2094230"/>
          </a:xfrm>
        </p:grpSpPr>
        <p:sp>
          <p:nvSpPr>
            <p:cNvPr name="TextBox 29" id="29"/>
            <p:cNvSpPr txBox="true"/>
            <p:nvPr/>
          </p:nvSpPr>
          <p:spPr>
            <a:xfrm rot="0">
              <a:off x="0" y="0"/>
              <a:ext cx="9182100" cy="927100"/>
            </a:xfrm>
            <a:prstGeom prst="rect">
              <a:avLst/>
            </a:prstGeom>
          </p:spPr>
          <p:txBody>
            <a:bodyPr anchor="t" rtlCol="false" tIns="0" lIns="0" bIns="0" rIns="0">
              <a:spAutoFit/>
            </a:bodyPr>
            <a:lstStyle/>
            <a:p>
              <a:pPr algn="l" marL="0" indent="0" lvl="0">
                <a:lnSpc>
                  <a:spcPts val="5040"/>
                </a:lnSpc>
                <a:spcBef>
                  <a:spcPct val="0"/>
                </a:spcBef>
              </a:pPr>
              <a:r>
                <a:rPr lang="en-US" b="true" sz="4200" spc="-63" strike="noStrike" u="none" i="0">
                  <a:solidFill>
                    <a:srgbClr val="F5B82E"/>
                  </a:solidFill>
                  <a:latin typeface="Helvetica World Bold"/>
                  <a:ea typeface="Helvetica World Bold"/>
                  <a:cs typeface="Helvetica World Bold"/>
                  <a:sym typeface="Helvetica World Bold"/>
                </a:rPr>
                <a:t>17 / 19</a:t>
              </a:r>
            </a:p>
          </p:txBody>
        </p:sp>
        <p:sp>
          <p:nvSpPr>
            <p:cNvPr name="TextBox 30" id="30"/>
            <p:cNvSpPr txBox="true"/>
            <p:nvPr/>
          </p:nvSpPr>
          <p:spPr>
            <a:xfrm rot="0">
              <a:off x="0" y="1021438"/>
              <a:ext cx="9182100" cy="522817"/>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i="0">
                  <a:solidFill>
                    <a:srgbClr val="F5F7FA"/>
                  </a:solidFill>
                  <a:latin typeface="Helvetica World"/>
                  <a:ea typeface="Helvetica World"/>
                  <a:cs typeface="Helvetica World"/>
                  <a:sym typeface="Helvetica World"/>
                </a:rPr>
                <a:t>hemisferio correcto en días nuevos (baseline: 7)</a:t>
              </a:r>
            </a:p>
          </p:txBody>
        </p:sp>
      </p:grpSp>
      <p:sp>
        <p:nvSpPr>
          <p:cNvPr name="TextBox 31" id="31"/>
          <p:cNvSpPr txBox="true"/>
          <p:nvPr/>
        </p:nvSpPr>
        <p:spPr>
          <a:xfrm rot="0">
            <a:off x="685800" y="2085975"/>
            <a:ext cx="66675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PRUEBA DE QUE EL FLUJO ENTRENA, NO UN RESULTADO CIENTÍFICO</a:t>
            </a:r>
          </a:p>
        </p:txBody>
      </p:sp>
      <p:grpSp>
        <p:nvGrpSpPr>
          <p:cNvPr name="Group 32" id="32"/>
          <p:cNvGrpSpPr/>
          <p:nvPr/>
        </p:nvGrpSpPr>
        <p:grpSpPr>
          <a:xfrm rot="0">
            <a:off x="16383000" y="571500"/>
            <a:ext cx="1238250" cy="1238250"/>
            <a:chOff x="0" y="0"/>
            <a:chExt cx="1651000" cy="1651000"/>
          </a:xfrm>
        </p:grpSpPr>
        <p:sp>
          <p:nvSpPr>
            <p:cNvPr name="Freeform 33" id="33"/>
            <p:cNvSpPr/>
            <p:nvPr/>
          </p:nvSpPr>
          <p:spPr>
            <a:xfrm flipH="false" flipV="false" rot="0">
              <a:off x="185738" y="185738"/>
              <a:ext cx="1279525" cy="1279525"/>
            </a:xfrm>
            <a:custGeom>
              <a:avLst/>
              <a:gdLst/>
              <a:ahLst/>
              <a:cxnLst/>
              <a:rect r="r" b="b" t="t" l="l"/>
              <a:pathLst>
                <a:path h="1279525" w="1279525">
                  <a:moveTo>
                    <a:pt x="275166" y="639762"/>
                  </a:moveTo>
                  <a:cubicBezTo>
                    <a:pt x="275166" y="841123"/>
                    <a:pt x="438401" y="1004358"/>
                    <a:pt x="639762" y="1004358"/>
                  </a:cubicBezTo>
                  <a:cubicBezTo>
                    <a:pt x="841123" y="1004358"/>
                    <a:pt x="1004358" y="841123"/>
                    <a:pt x="1004358" y="639762"/>
                  </a:cubicBezTo>
                  <a:cubicBezTo>
                    <a:pt x="1004358" y="438401"/>
                    <a:pt x="841123" y="275166"/>
                    <a:pt x="639762" y="275166"/>
                  </a:cubicBezTo>
                  <a:cubicBezTo>
                    <a:pt x="438401" y="275166"/>
                    <a:pt x="275166" y="438401"/>
                    <a:pt x="275166" y="639762"/>
                  </a:cubicBezTo>
                  <a:close/>
                  <a:moveTo>
                    <a:pt x="1246505" y="260720"/>
                  </a:moveTo>
                  <a:cubicBezTo>
                    <a:pt x="1203867" y="188286"/>
                    <a:pt x="1047386" y="194142"/>
                    <a:pt x="836581" y="276061"/>
                  </a:cubicBezTo>
                  <a:cubicBezTo>
                    <a:pt x="625775" y="357980"/>
                    <a:pt x="393043" y="503372"/>
                    <a:pt x="226905" y="656936"/>
                  </a:cubicBezTo>
                  <a:cubicBezTo>
                    <a:pt x="60766" y="810500"/>
                    <a:pt x="-13246" y="948637"/>
                    <a:pt x="33020" y="1018804"/>
                  </a:cubicBezTo>
                  <a:cubicBezTo>
                    <a:pt x="75657" y="1091238"/>
                    <a:pt x="232138" y="1085382"/>
                    <a:pt x="442943" y="1003463"/>
                  </a:cubicBezTo>
                  <a:cubicBezTo>
                    <a:pt x="653749" y="921544"/>
                    <a:pt x="886481" y="776152"/>
                    <a:pt x="1052619" y="622588"/>
                  </a:cubicBezTo>
                  <a:cubicBezTo>
                    <a:pt x="1218758" y="469024"/>
                    <a:pt x="1292770" y="330887"/>
                    <a:pt x="1246505" y="260720"/>
                  </a:cubicBezTo>
                  <a:close/>
                  <a:moveTo>
                    <a:pt x="639762" y="110066"/>
                  </a:moveTo>
                  <a:lnTo>
                    <a:pt x="639762" y="0"/>
                  </a:lnTo>
                  <a:moveTo>
                    <a:pt x="639762" y="1279524"/>
                  </a:moveTo>
                  <a:lnTo>
                    <a:pt x="639762" y="1169458"/>
                  </a:lnTo>
                  <a:moveTo>
                    <a:pt x="110066" y="639762"/>
                  </a:moveTo>
                  <a:lnTo>
                    <a:pt x="0" y="639762"/>
                  </a:lnTo>
                  <a:moveTo>
                    <a:pt x="1279524" y="639762"/>
                  </a:moveTo>
                  <a:lnTo>
                    <a:pt x="1169458" y="639762"/>
                  </a:lnTo>
                  <a:moveTo>
                    <a:pt x="268287" y="268287"/>
                  </a:moveTo>
                  <a:lnTo>
                    <a:pt x="192616" y="192616"/>
                  </a:lnTo>
                  <a:moveTo>
                    <a:pt x="1011237" y="1011237"/>
                  </a:moveTo>
                  <a:lnTo>
                    <a:pt x="1086908" y="1086908"/>
                  </a:lnTo>
                  <a:moveTo>
                    <a:pt x="302683" y="687916"/>
                  </a:moveTo>
                  <a:lnTo>
                    <a:pt x="454024" y="687916"/>
                  </a:lnTo>
                  <a:lnTo>
                    <a:pt x="529695" y="529695"/>
                  </a:lnTo>
                  <a:lnTo>
                    <a:pt x="646641" y="804862"/>
                  </a:lnTo>
                  <a:lnTo>
                    <a:pt x="749829" y="598487"/>
                  </a:lnTo>
                  <a:lnTo>
                    <a:pt x="818620" y="687916"/>
                  </a:lnTo>
                  <a:lnTo>
                    <a:pt x="983720" y="687916"/>
                  </a:lnTo>
                </a:path>
              </a:pathLst>
            </a:custGeom>
            <a:ln w="38100" cap="sq">
              <a:solidFill>
                <a:srgbClr val="F5B82E"/>
              </a:solidFill>
              <a:prstDash val="solid"/>
              <a:miter/>
            </a:ln>
          </p:spPr>
        </p:sp>
        <p:sp>
          <p:nvSpPr>
            <p:cNvPr name="TextBox 34" id="34"/>
            <p:cNvSpPr txBox="true"/>
            <p:nvPr/>
          </p:nvSpPr>
          <p:spPr>
            <a:xfrm>
              <a:off x="0" y="-38100"/>
              <a:ext cx="1651000" cy="16891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6383000" y="571500"/>
            <a:ext cx="1238250" cy="1238250"/>
            <a:chOff x="0" y="0"/>
            <a:chExt cx="1651000" cy="1651000"/>
          </a:xfrm>
        </p:grpSpPr>
        <p:sp>
          <p:nvSpPr>
            <p:cNvPr name="Freeform 36" id="36"/>
            <p:cNvSpPr/>
            <p:nvPr/>
          </p:nvSpPr>
          <p:spPr>
            <a:xfrm flipH="false" flipV="false" rot="0">
              <a:off x="1183217" y="213254"/>
              <a:ext cx="220133" cy="220133"/>
            </a:xfrm>
            <a:custGeom>
              <a:avLst/>
              <a:gdLst/>
              <a:ahLst/>
              <a:cxnLst/>
              <a:rect r="r" b="b" t="t" l="l"/>
              <a:pathLst>
                <a:path h="220133" w="220133">
                  <a:moveTo>
                    <a:pt x="110066" y="0"/>
                  </a:moveTo>
                  <a:lnTo>
                    <a:pt x="137583" y="82550"/>
                  </a:lnTo>
                  <a:lnTo>
                    <a:pt x="220133" y="110067"/>
                  </a:lnTo>
                  <a:lnTo>
                    <a:pt x="137583" y="137584"/>
                  </a:lnTo>
                  <a:lnTo>
                    <a:pt x="110066" y="220134"/>
                  </a:lnTo>
                  <a:lnTo>
                    <a:pt x="82550" y="137584"/>
                  </a:lnTo>
                  <a:lnTo>
                    <a:pt x="0" y="110067"/>
                  </a:lnTo>
                  <a:lnTo>
                    <a:pt x="82550" y="82550"/>
                  </a:lnTo>
                  <a:close/>
                </a:path>
              </a:pathLst>
            </a:custGeom>
            <a:solidFill>
              <a:srgbClr val="FFFFFF"/>
            </a:solidFill>
          </p:spPr>
        </p:sp>
        <p:sp>
          <p:nvSpPr>
            <p:cNvPr name="TextBox 37" id="37"/>
            <p:cNvSpPr txBox="true"/>
            <p:nvPr/>
          </p:nvSpPr>
          <p:spPr>
            <a:xfrm>
              <a:off x="0" y="-38100"/>
              <a:ext cx="1651000" cy="16891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9FB3C8"/>
                </a:solidFill>
                <a:latin typeface="Arimo Bold"/>
                <a:ea typeface="Arimo Bold"/>
                <a:cs typeface="Arimo Bold"/>
                <a:sym typeface="Arimo Bold"/>
              </a:rPr>
              <a:t>HELIODATA ACADEMY 2026  ·  ESCUELA DE ASTROFÍSICA SOLAR</a:t>
            </a:r>
          </a:p>
        </p:txBody>
      </p:sp>
      <p:sp>
        <p:nvSpPr>
          <p:cNvPr name="Freeform 39" id="39"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40" id="40"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La loss held-out baja hasta </a:t>
            </a:r>
            <a:r>
              <a:rPr lang="en-US" sz="2200" spc="-37" strike="noStrike" u="none" b="1" i="0">
                <a:solidFill>
                  <a:srgbClr val="071D30"/>
                </a:solidFill>
                <a:latin typeface="Helvetica World Bold"/>
                <a:ea typeface="Helvetica World Bold"/>
                <a:cs typeface="Helvetica World Bold"/>
                <a:sym typeface="Helvetica World"/>
              </a:rPr>
              <a:t>0,557</a:t>
            </a:r>
            <a:r>
              <a:rPr lang="en-US" sz="2200" spc="-37" strike="noStrike" u="none" i="0">
                <a:solidFill>
                  <a:srgbClr val="071D30"/>
                </a:solidFill>
                <a:latin typeface="Helvetica World"/>
                <a:ea typeface="Helvetica World"/>
                <a:cs typeface="Helvetica World"/>
                <a:sym typeface="Helvetica World"/>
              </a:rPr>
              <a:t> y se estabiliza; </a:t>
            </a:r>
            <a:r>
              <a:rPr lang="en-US" sz="2200" spc="-37" strike="noStrike" u="none" b="1" i="0">
                <a:solidFill>
                  <a:srgbClr val="071D30"/>
                </a:solidFill>
                <a:latin typeface="Helvetica World Bold"/>
                <a:ea typeface="Helvetica World Bold"/>
                <a:cs typeface="Helvetica World Bold"/>
                <a:sym typeface="Helvetica World"/>
              </a:rPr>
              <a:t>la imagen importa</a:t>
            </a:r>
            <a:r>
              <a:rPr lang="en-US" sz="2200" spc="-37" strike="noStrike" u="none" i="0">
                <a:solidFill>
                  <a:srgbClr val="071D30"/>
                </a:solidFill>
                <a:latin typeface="Helvetica World"/>
                <a:ea typeface="Helvetica World"/>
                <a:cs typeface="Helvetica World"/>
                <a:sym typeface="Helvetica World"/>
              </a:rPr>
              <a:t>: con otra imagen la loss sube</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En las 2 regiones del 7 ene, </a:t>
            </a:r>
            <a:r>
              <a:rPr lang="en-US" sz="2200" spc="-37" strike="noStrike" u="none" b="1" i="0">
                <a:solidFill>
                  <a:srgbClr val="071D30"/>
                </a:solidFill>
                <a:latin typeface="Helvetica World Bold"/>
                <a:ea typeface="Helvetica World Bold"/>
                <a:cs typeface="Helvetica World Bold"/>
                <a:sym typeface="Helvetica World"/>
              </a:rPr>
              <a:t>«siempre norte»</a:t>
            </a:r>
            <a:r>
              <a:rPr lang="en-US" sz="2200" spc="-37" strike="noStrike" u="none" i="0">
                <a:solidFill>
                  <a:srgbClr val="071D30"/>
                </a:solidFill>
                <a:latin typeface="Helvetica World"/>
                <a:ea typeface="Helvetica World"/>
                <a:cs typeface="Helvetica World"/>
                <a:sym typeface="Helvetica World"/>
              </a:rPr>
              <a:t> gana (36/36 frente a 21/36)</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No aprendió a </a:t>
            </a:r>
            <a:r>
              <a:rPr lang="en-US" sz="2200" spc="-37" strike="noStrike" u="none" b="1" i="0">
                <a:solidFill>
                  <a:srgbClr val="071D30"/>
                </a:solidFill>
                <a:latin typeface="Helvetica World Bold"/>
                <a:ea typeface="Helvetica World Bold"/>
                <a:cs typeface="Helvetica World Bold"/>
                <a:sym typeface="Helvetica World"/>
              </a:rPr>
              <a:t>contar manchas</a:t>
            </a:r>
            <a:r>
              <a:rPr lang="en-US" sz="2200" spc="-37" strike="noStrike" u="none" i="0">
                <a:solidFill>
                  <a:srgbClr val="071D30"/>
                </a:solidFill>
                <a:latin typeface="Helvetica World"/>
                <a:ea typeface="Helvetica World"/>
                <a:cs typeface="Helvetica World"/>
                <a:sym typeface="Helvetica World"/>
              </a:rPr>
              <a:t> (6 de 19 en días nuevos)</a:t>
            </a:r>
          </a:p>
          <a:p>
            <a:pPr algn="l" marL="539748" indent="-269874" lvl="1">
              <a:lnSpc>
                <a:spcPts val="3080"/>
              </a:lnSpc>
              <a:spcBef>
                <a:spcPct val="0"/>
              </a:spcBef>
              <a:buFont typeface="Arial"/>
              <a:buChar char="•"/>
            </a:pPr>
            <a:r>
              <a:rPr lang="en-US" sz="2200" spc="-37" strike="noStrike" u="none" i="0">
                <a:solidFill>
                  <a:srgbClr val="071D30"/>
                </a:solidFill>
                <a:latin typeface="Helvetica World"/>
                <a:ea typeface="Helvetica World"/>
                <a:cs typeface="Helvetica World"/>
                <a:sym typeface="Helvetica World"/>
              </a:rPr>
              <a:t>Datos de pocos días y captions de plantilla: aún no hay generalización</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Lo que funciona y lo que no</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RESULTADOS</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Un porcentaje global engaña: hay que comparar contra baselines y desglosar por clase.</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Imagen: loss curves y image gap del prototipo (run 2, 9 oct 2026)</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0" id="20" descr="Logo GoSA"/>
          <p:cNvSpPr/>
          <p:nvPr/>
        </p:nvSpPr>
        <p:spPr>
          <a:xfrm flipH="false" flipV="false" rot="0">
            <a:off x="6858000" y="9734550"/>
            <a:ext cx="819150" cy="381000"/>
          </a:xfrm>
          <a:custGeom>
            <a:avLst/>
            <a:gdLst/>
            <a:ahLst/>
            <a:cxnLst/>
            <a:rect r="r" b="b" t="t" l="l"/>
            <a:pathLst>
              <a:path h="381000" w="819150">
                <a:moveTo>
                  <a:pt x="0" y="0"/>
                </a:moveTo>
                <a:lnTo>
                  <a:pt x="819150" y="0"/>
                </a:lnTo>
                <a:lnTo>
                  <a:pt x="819150" y="381000"/>
                </a:lnTo>
                <a:lnTo>
                  <a:pt x="0" y="381000"/>
                </a:lnTo>
                <a:lnTo>
                  <a:pt x="0" y="0"/>
                </a:lnTo>
                <a:close/>
              </a:path>
            </a:pathLst>
          </a:custGeom>
          <a:blipFill>
            <a:blip r:embed="rId3"/>
            <a:stretch>
              <a:fillRect l="0" t="-307" r="0" b="-307"/>
            </a:stretch>
          </a:blipFill>
        </p:spPr>
        <p:txBody>
          <a:bodyPr/>
          <a:p/>
        </p:txBody>
      </p:sp>
      <p:sp>
        <p:nvSpPr>
          <p:cNvPr name="Freeform 21" id="21" descr="Logo Observatorio Astronómico Nacional"/>
          <p:cNvSpPr/>
          <p:nvPr/>
        </p:nvSpPr>
        <p:spPr>
          <a:xfrm flipH="false" flipV="false" rot="0">
            <a:off x="782955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4"/>
            <a:stretch>
              <a:fillRect l="-328" t="0" r="-328" b="0"/>
            </a:stretch>
          </a:blipFill>
        </p:spPr>
        <p:txBody>
          <a:bodyPr/>
          <a:p/>
        </p:txBody>
      </p:sp>
      <p:pic>
        <p:nvPicPr>
          <p:cNvPr id="22" name="Picture 21" descr="loss_curves.png"/>
          <p:cNvPicPr>
            <a:picLocks noChangeAspect="1"/>
          </p:cNvPicPr>
          <p:nvPr/>
        </p:nvPicPr>
        <p:blipFill>
          <a:blip r:embed="rId5"/>
          <a:stretch>
            <a:fillRect/>
          </a:stretch>
        </p:blipFill>
        <p:spPr>
          <a:xfrm>
            <a:off x="9698211" y="432000"/>
            <a:ext cx="7891578" cy="8568000"/>
          </a:xfrm>
          <a:prstGeom prst="roundRect">
            <a:avLst>
              <a:gd name="adj" fmla="val 4500"/>
            </a:avLst>
          </a:prstGeom>
          <a:effectLst>
            <a:outerShdw blurRad="254000" dist="76200" dir="5400000" algn="t" rotWithShape="0">
              <a:srgbClr val="000000">
                <a:alpha val="55000"/>
              </a:srgbClr>
            </a:outerShdw>
          </a:effectLst>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071D30"/>
                </a:solidFill>
                <a:latin typeface="Helvetica World"/>
                <a:ea typeface="Helvetica World"/>
                <a:cs typeface="Helvetica World"/>
                <a:sym typeface="Helvetica World"/>
              </a:rPr>
              <a:t>35</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5B82E"/>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4006850"/>
            <a:chOff x="0" y="0"/>
            <a:chExt cx="17259300" cy="5342466"/>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071D30"/>
                  </a:solidFill>
                  <a:latin typeface="Georgia Pro Condensed"/>
                  <a:ea typeface="Georgia Pro Condensed"/>
                  <a:cs typeface="Georgia Pro Condensed"/>
                  <a:sym typeface="Georgia Pro Condensed"/>
                </a:rPr>
                <a:t>Conclusiones</a:t>
              </a:r>
            </a:p>
          </p:txBody>
        </p:sp>
        <p:sp>
          <p:nvSpPr>
            <p:cNvPr name="TextBox 8" id="8"/>
            <p:cNvSpPr txBox="true"/>
            <p:nvPr/>
          </p:nvSpPr>
          <p:spPr>
            <a:xfrm rot="0">
              <a:off x="0" y="2197212"/>
              <a:ext cx="172593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a:solidFill>
                    <a:srgbClr val="071D30"/>
                  </a:solidFill>
                  <a:latin typeface="Helvetica World Bold"/>
                  <a:ea typeface="Helvetica World Bold"/>
                  <a:cs typeface="Helvetica World Bold"/>
                  <a:sym typeface="Helvetica World Bold"/>
                </a:rPr>
                <a:t>LO QUE NOS LLEVAMOS HOY</a:t>
              </a:r>
            </a:p>
          </p:txBody>
        </p:sp>
        <p:sp>
          <p:nvSpPr>
            <p:cNvPr name="TextBox 9" id="9"/>
            <p:cNvSpPr txBox="true"/>
            <p:nvPr/>
          </p:nvSpPr>
          <p:spPr>
            <a:xfrm rot="0">
              <a:off x="0" y="2992966"/>
              <a:ext cx="13512134" cy="2349500"/>
            </a:xfrm>
            <a:prstGeom prst="rect">
              <a:avLst/>
            </a:prstGeom>
          </p:spPr>
          <p:txBody>
            <a:bodyPr anchor="t" rtlCol="false" tIns="0" lIns="0" bIns="0" rIns="0">
              <a:spAutoFit/>
            </a:bodyPr>
            <a:lstStyle/>
            <a:p>
              <a:pPr algn="l" marL="0" indent="0" lvl="0">
                <a:lnSpc>
                  <a:spcPts val="4160"/>
                </a:lnSpc>
                <a:spcBef>
                  <a:spcPct val="0"/>
                </a:spcBef>
              </a:pPr>
              <a:r>
                <a:rPr lang="en-US" sz="2600" spc="-44" strike="noStrike" u="none" i="0">
                  <a:solidFill>
                    <a:srgbClr val="071D30"/>
                  </a:solidFill>
                  <a:latin typeface="Helvetica World"/>
                  <a:ea typeface="Helvetica World"/>
                  <a:cs typeface="Helvetica World"/>
                  <a:sym typeface="Helvetica World"/>
                </a:rPr>
                <a:t>1.  El ML ya resuelve tareas solares: segmentation, super-resolution, inversión y forecasting</a:t>
              </a:r>
            </a:p>
            <a:p>
              <a:pPr algn="l" marL="0" indent="0" lvl="0">
                <a:lnSpc>
                  <a:spcPts val="4160"/>
                </a:lnSpc>
                <a:spcBef>
                  <a:spcPct val="0"/>
                </a:spcBef>
              </a:pPr>
              <a:r>
                <a:rPr lang="en-US" sz="2600" spc="-44" strike="noStrike" u="none" i="0">
                  <a:solidFill>
                    <a:srgbClr val="071D30"/>
                  </a:solidFill>
                  <a:latin typeface="Helvetica World"/>
                  <a:ea typeface="Helvetica World"/>
                  <a:cs typeface="Helvetica World"/>
                  <a:sym typeface="Helvetica World"/>
                </a:rPr>
                <a:t>2.  Los foundation models como Surya pasan de una tarea a muchas</a:t>
              </a:r>
            </a:p>
            <a:p>
              <a:pPr algn="l" marL="0" indent="0" lvl="0">
                <a:lnSpc>
                  <a:spcPts val="4160"/>
                </a:lnSpc>
                <a:spcBef>
                  <a:spcPct val="0"/>
                </a:spcBef>
              </a:pPr>
              <a:r>
                <a:rPr lang="en-US" sz="2600" spc="-44" strike="noStrike" u="none" i="0">
                  <a:solidFill>
                    <a:srgbClr val="071D30"/>
                  </a:solidFill>
                  <a:latin typeface="Helvetica World"/>
                  <a:ea typeface="Helvetica World"/>
                  <a:cs typeface="Helvetica World"/>
                  <a:sym typeface="Helvetica World"/>
                </a:rPr>
                <a:t>3.  Un projector pequeño conecta Surya con un LLM; faltan mejores datos</a:t>
              </a:r>
            </a:p>
          </p:txBody>
        </p:sp>
      </p:grpSp>
      <p:grpSp>
        <p:nvGrpSpPr>
          <p:cNvPr name="Group 10" id="10"/>
          <p:cNvGrpSpPr/>
          <p:nvPr/>
        </p:nvGrpSpPr>
        <p:grpSpPr>
          <a:xfrm rot="0">
            <a:off x="12668250" y="2381250"/>
            <a:ext cx="4000500" cy="4000500"/>
            <a:chOff x="0" y="0"/>
            <a:chExt cx="5334000" cy="5334000"/>
          </a:xfrm>
        </p:grpSpPr>
        <p:sp>
          <p:nvSpPr>
            <p:cNvPr name="Freeform 11" id="11"/>
            <p:cNvSpPr/>
            <p:nvPr/>
          </p:nvSpPr>
          <p:spPr>
            <a:xfrm flipH="false" flipV="false" rot="0">
              <a:off x="600075" y="600075"/>
              <a:ext cx="4133850" cy="4133850"/>
            </a:xfrm>
            <a:custGeom>
              <a:avLst/>
              <a:gdLst/>
              <a:ahLst/>
              <a:cxnLst/>
              <a:rect r="r" b="b" t="t" l="l"/>
              <a:pathLst>
                <a:path h="4133850" w="4133850">
                  <a:moveTo>
                    <a:pt x="889000" y="2066925"/>
                  </a:moveTo>
                  <a:cubicBezTo>
                    <a:pt x="889000" y="2717475"/>
                    <a:pt x="1416375" y="3244850"/>
                    <a:pt x="2066925" y="3244850"/>
                  </a:cubicBezTo>
                  <a:cubicBezTo>
                    <a:pt x="2717475" y="3244850"/>
                    <a:pt x="3244850" y="2717475"/>
                    <a:pt x="3244850" y="2066925"/>
                  </a:cubicBezTo>
                  <a:cubicBezTo>
                    <a:pt x="3244850" y="1416375"/>
                    <a:pt x="2717475" y="889000"/>
                    <a:pt x="2066925" y="889000"/>
                  </a:cubicBezTo>
                  <a:cubicBezTo>
                    <a:pt x="1416375" y="889000"/>
                    <a:pt x="889000" y="1416375"/>
                    <a:pt x="889000" y="2066925"/>
                  </a:cubicBezTo>
                  <a:close/>
                  <a:moveTo>
                    <a:pt x="4027170" y="842328"/>
                  </a:moveTo>
                  <a:cubicBezTo>
                    <a:pt x="3889416" y="608311"/>
                    <a:pt x="3383864" y="627231"/>
                    <a:pt x="2702801" y="891892"/>
                  </a:cubicBezTo>
                  <a:cubicBezTo>
                    <a:pt x="2021737" y="1156553"/>
                    <a:pt x="1269834" y="1626280"/>
                    <a:pt x="733078" y="2122411"/>
                  </a:cubicBezTo>
                  <a:cubicBezTo>
                    <a:pt x="196322" y="2618542"/>
                    <a:pt x="-42793" y="3064827"/>
                    <a:pt x="106680" y="3291523"/>
                  </a:cubicBezTo>
                  <a:cubicBezTo>
                    <a:pt x="244433" y="3525539"/>
                    <a:pt x="749986" y="3506619"/>
                    <a:pt x="1431049" y="3241958"/>
                  </a:cubicBezTo>
                  <a:cubicBezTo>
                    <a:pt x="2112113" y="2977297"/>
                    <a:pt x="2864016" y="2507571"/>
                    <a:pt x="3400772" y="2011439"/>
                  </a:cubicBezTo>
                  <a:cubicBezTo>
                    <a:pt x="3937528" y="1515308"/>
                    <a:pt x="4176643" y="1069023"/>
                    <a:pt x="4027170" y="842328"/>
                  </a:cubicBezTo>
                  <a:close/>
                  <a:moveTo>
                    <a:pt x="2066925" y="355600"/>
                  </a:moveTo>
                  <a:lnTo>
                    <a:pt x="2066925" y="0"/>
                  </a:lnTo>
                  <a:moveTo>
                    <a:pt x="2066925" y="4133850"/>
                  </a:moveTo>
                  <a:lnTo>
                    <a:pt x="2066925" y="3778250"/>
                  </a:lnTo>
                  <a:moveTo>
                    <a:pt x="355600" y="2066925"/>
                  </a:moveTo>
                  <a:lnTo>
                    <a:pt x="0" y="2066925"/>
                  </a:lnTo>
                  <a:moveTo>
                    <a:pt x="4133850" y="2066925"/>
                  </a:moveTo>
                  <a:lnTo>
                    <a:pt x="3778250" y="2066925"/>
                  </a:lnTo>
                  <a:moveTo>
                    <a:pt x="866775" y="866775"/>
                  </a:moveTo>
                  <a:lnTo>
                    <a:pt x="622300" y="622300"/>
                  </a:lnTo>
                  <a:moveTo>
                    <a:pt x="3267075" y="3267075"/>
                  </a:moveTo>
                  <a:lnTo>
                    <a:pt x="3511550" y="3511550"/>
                  </a:lnTo>
                  <a:moveTo>
                    <a:pt x="977900" y="2222500"/>
                  </a:moveTo>
                  <a:lnTo>
                    <a:pt x="1466850" y="2222500"/>
                  </a:lnTo>
                  <a:lnTo>
                    <a:pt x="1711325" y="1711325"/>
                  </a:lnTo>
                  <a:lnTo>
                    <a:pt x="2089150" y="2600325"/>
                  </a:lnTo>
                  <a:lnTo>
                    <a:pt x="2422525" y="1933575"/>
                  </a:lnTo>
                  <a:lnTo>
                    <a:pt x="2644775" y="2222500"/>
                  </a:lnTo>
                  <a:lnTo>
                    <a:pt x="3178175" y="2222500"/>
                  </a:lnTo>
                </a:path>
              </a:pathLst>
            </a:custGeom>
            <a:ln w="66675" cap="sq">
              <a:solidFill>
                <a:srgbClr val="071D30"/>
              </a:solidFill>
              <a:prstDash val="solid"/>
              <a:miter/>
            </a:ln>
          </p:spPr>
        </p:sp>
        <p:sp>
          <p:nvSpPr>
            <p:cNvPr name="TextBox 12" id="12"/>
            <p:cNvSpPr txBox="true"/>
            <p:nvPr/>
          </p:nvSpPr>
          <p:spPr>
            <a:xfrm>
              <a:off x="0" y="-38100"/>
              <a:ext cx="5334000" cy="5372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2668250" y="2381250"/>
            <a:ext cx="4000500" cy="4000500"/>
            <a:chOff x="0" y="0"/>
            <a:chExt cx="5334000" cy="5334000"/>
          </a:xfrm>
        </p:grpSpPr>
        <p:sp>
          <p:nvSpPr>
            <p:cNvPr name="Freeform 14" id="14"/>
            <p:cNvSpPr/>
            <p:nvPr/>
          </p:nvSpPr>
          <p:spPr>
            <a:xfrm flipH="false" flipV="false" rot="0">
              <a:off x="3822700" y="688975"/>
              <a:ext cx="711200" cy="711200"/>
            </a:xfrm>
            <a:custGeom>
              <a:avLst/>
              <a:gdLst/>
              <a:ahLst/>
              <a:cxnLst/>
              <a:rect r="r" b="b" t="t" l="l"/>
              <a:pathLst>
                <a:path h="711200" w="711200">
                  <a:moveTo>
                    <a:pt x="355600" y="0"/>
                  </a:moveTo>
                  <a:lnTo>
                    <a:pt x="444500" y="266700"/>
                  </a:lnTo>
                  <a:lnTo>
                    <a:pt x="711200" y="355600"/>
                  </a:lnTo>
                  <a:lnTo>
                    <a:pt x="444500" y="444500"/>
                  </a:lnTo>
                  <a:lnTo>
                    <a:pt x="355600" y="711200"/>
                  </a:lnTo>
                  <a:lnTo>
                    <a:pt x="266700" y="444500"/>
                  </a:lnTo>
                  <a:lnTo>
                    <a:pt x="0" y="355600"/>
                  </a:lnTo>
                  <a:lnTo>
                    <a:pt x="266700" y="266700"/>
                  </a:lnTo>
                  <a:close/>
                </a:path>
              </a:pathLst>
            </a:custGeom>
            <a:solidFill>
              <a:srgbClr val="FFFFFF"/>
            </a:solidFill>
          </p:spPr>
        </p:sp>
        <p:sp>
          <p:nvSpPr>
            <p:cNvPr name="TextBox 15" id="15"/>
            <p:cNvSpPr txBox="true"/>
            <p:nvPr/>
          </p:nvSpPr>
          <p:spPr>
            <a:xfrm>
              <a:off x="0" y="-38100"/>
              <a:ext cx="5334000" cy="53721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1800225" y="7810500"/>
            <a:ext cx="14668500" cy="1047750"/>
            <a:chOff x="0" y="0"/>
            <a:chExt cx="19558000" cy="1397000"/>
          </a:xfrm>
        </p:grpSpPr>
        <p:sp>
          <p:nvSpPr>
            <p:cNvPr name="Freeform 17" id="17"/>
            <p:cNvSpPr/>
            <p:nvPr/>
          </p:nvSpPr>
          <p:spPr>
            <a:xfrm flipH="false" flipV="false" rot="0">
              <a:off x="0" y="0"/>
              <a:ext cx="19558000" cy="1397000"/>
            </a:xfrm>
            <a:custGeom>
              <a:avLst/>
              <a:gdLst/>
              <a:ahLst/>
              <a:cxnLst/>
              <a:rect r="r" b="b" t="t" l="l"/>
              <a:pathLst>
                <a:path h="1397000" w="19558000">
                  <a:moveTo>
                    <a:pt x="228600" y="0"/>
                  </a:moveTo>
                  <a:lnTo>
                    <a:pt x="19329400" y="0"/>
                  </a:lnTo>
                  <a:cubicBezTo>
                    <a:pt x="19455653" y="0"/>
                    <a:pt x="19558000" y="102348"/>
                    <a:pt x="19558000" y="228600"/>
                  </a:cubicBezTo>
                  <a:lnTo>
                    <a:pt x="19558000" y="1168400"/>
                  </a:lnTo>
                  <a:cubicBezTo>
                    <a:pt x="19558000" y="1294652"/>
                    <a:pt x="19455653" y="1397000"/>
                    <a:pt x="19329400" y="1397000"/>
                  </a:cubicBezTo>
                  <a:lnTo>
                    <a:pt x="228600" y="1397000"/>
                  </a:lnTo>
                  <a:cubicBezTo>
                    <a:pt x="102348" y="1397000"/>
                    <a:pt x="0" y="1294652"/>
                    <a:pt x="0" y="1168400"/>
                  </a:cubicBezTo>
                  <a:lnTo>
                    <a:pt x="0" y="228600"/>
                  </a:lnTo>
                  <a:cubicBezTo>
                    <a:pt x="0" y="102348"/>
                    <a:pt x="102348" y="0"/>
                    <a:pt x="228600" y="0"/>
                  </a:cubicBezTo>
                  <a:close/>
                </a:path>
              </a:pathLst>
            </a:custGeom>
            <a:solidFill>
              <a:srgbClr val="071D30"/>
            </a:solidFill>
          </p:spPr>
        </p:sp>
        <p:sp>
          <p:nvSpPr>
            <p:cNvPr name="TextBox 18" id="18"/>
            <p:cNvSpPr txBox="true"/>
            <p:nvPr/>
          </p:nvSpPr>
          <p:spPr>
            <a:xfrm>
              <a:off x="0" y="-38100"/>
              <a:ext cx="19558000" cy="1435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2190750" y="8086725"/>
            <a:ext cx="14097000" cy="415290"/>
          </a:xfrm>
          <a:prstGeom prst="rect">
            <a:avLst/>
          </a:prstGeom>
        </p:spPr>
        <p:txBody>
          <a:bodyPr anchor="t" rtlCol="false" tIns="0" lIns="0" bIns="0" rIns="0">
            <a:spAutoFit/>
          </a:bodyPr>
          <a:lstStyle/>
          <a:p>
            <a:pPr algn="l">
              <a:lnSpc>
                <a:spcPts val="3359"/>
              </a:lnSpc>
            </a:pPr>
            <a:r>
              <a:rPr lang="en-US" sz="2400" b="true" i="0">
                <a:solidFill>
                  <a:srgbClr val="F5B82E"/>
                </a:solidFill>
                <a:latin typeface="Arimo Bold"/>
                <a:ea typeface="Arimo Bold"/>
                <a:cs typeface="Arimo Bold"/>
                <a:sym typeface="Arimo Bold"/>
              </a:rPr>
              <a:t>TAREA  ›  Ejercicios 1–4 del notebook (sección 9). Para seguir: HelioML</a:t>
            </a:r>
          </a:p>
        </p:txBody>
      </p:sp>
      <p:sp>
        <p:nvSpPr>
          <p:cNvPr name="TextBox 20" id="20"/>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1" id="21"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22" id="22"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i="0">
                <a:solidFill>
                  <a:srgbClr val="071D30"/>
                </a:solidFill>
                <a:latin typeface="Helvetica World"/>
                <a:ea typeface="Helvetica World"/>
                <a:cs typeface="Helvetica World"/>
                <a:sym typeface="Helvetica World"/>
              </a:rPr>
              <a:t>36</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5B82E"/>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4006850"/>
            <a:chOff x="0" y="0"/>
            <a:chExt cx="17259300" cy="5342466"/>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i="0">
                  <a:solidFill>
                    <a:srgbClr val="071D30"/>
                  </a:solidFill>
                  <a:latin typeface="Georgia Pro Condensed"/>
                  <a:ea typeface="Georgia Pro Condensed"/>
                  <a:cs typeface="Georgia Pro Condensed"/>
                  <a:sym typeface="Georgia Pro Condensed"/>
                </a:rPr>
                <a:t>Referencias</a:t>
              </a:r>
            </a:p>
          </p:txBody>
        </p:sp>
        <p:sp>
          <p:nvSpPr>
            <p:cNvPr name="TextBox 8" id="8"/>
            <p:cNvSpPr txBox="true"/>
            <p:nvPr/>
          </p:nvSpPr>
          <p:spPr>
            <a:xfrm rot="0">
              <a:off x="0" y="2197212"/>
              <a:ext cx="172593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071D30"/>
                  </a:solidFill>
                  <a:latin typeface="Helvetica World Bold"/>
                  <a:ea typeface="Helvetica World Bold"/>
                  <a:cs typeface="Helvetica World Bold"/>
                  <a:sym typeface="Helvetica World Bold"/>
                </a:rPr>
                <a:t>LECTURAS</a:t>
              </a:r>
            </a:p>
          </p:txBody>
        </p:sp>
        <p:sp>
          <p:nvSpPr>
            <p:cNvPr name="TextBox 9" id="9"/>
            <p:cNvSpPr txBox="true"/>
            <p:nvPr/>
          </p:nvSpPr>
          <p:spPr>
            <a:xfrm rot="0">
              <a:off x="0" y="2992966"/>
              <a:ext cx="13512134" cy="2349500"/>
            </a:xfrm>
            <a:prstGeom prst="rect">
              <a:avLst/>
            </a:prstGeom>
          </p:spPr>
          <p:txBody>
            <a:bodyPr anchor="t" rtlCol="false" tIns="0" lIns="0" bIns="0" rIns="0">
              <a:spAutoFit/>
            </a:bodyPr>
            <a:lstStyle/>
            <a:p>
              <a:pPr algn="l" marL="0" indent="0" lvl="0">
                <a:lnSpc>
                  <a:spcPts val="2560"/>
                </a:lnSpc>
                <a:spcBef>
                  <a:spcPct val="0"/>
                </a:spcBef>
              </a:pPr>
              <a:r>
                <a:rPr lang="en-US" sz="1600" spc="-44" strike="noStrike" u="none" i="0">
                  <a:solidFill>
                    <a:srgbClr val="071D30"/>
                  </a:solidFill>
                  <a:latin typeface="Helvetica World"/>
                  <a:ea typeface="Helvetica World"/>
                  <a:cs typeface="Helvetica World"/>
                  <a:sym typeface="Helvetica World"/>
                </a:rPr>
                <a:t>Asensio Ramos, Cheung, Chifu y Gafeira (2023). Machine learning in solar physics. Living Rev. Sol. Phys. 20, 4</a:t>
              </a:r>
            </a:p>
            <a:p>
              <a:pPr algn="l" marL="0" indent="0" lvl="0">
                <a:lnSpc>
                  <a:spcPts val="2560"/>
                </a:lnSpc>
                <a:spcBef>
                  <a:spcPct val="0"/>
                </a:spcBef>
              </a:pPr>
              <a:r>
                <a:rPr lang="en-US" sz="1600" spc="-44" strike="noStrike" u="none" i="0">
                  <a:solidFill>
                    <a:srgbClr val="071D30"/>
                  </a:solidFill>
                  <a:latin typeface="Helvetica World"/>
                  <a:ea typeface="Helvetica World"/>
                  <a:cs typeface="Helvetica World"/>
                  <a:sym typeface="Helvetica World"/>
                </a:rPr>
                <a:t>Bobra y Mason (2018). Machine Learning, Statistics, and Data Mining for Heliophysics (HelioML). doi:10.5281/zenodo.1412824</a:t>
              </a:r>
            </a:p>
            <a:p>
              <a:pPr algn="l" marL="0" indent="0" lvl="0">
                <a:lnSpc>
                  <a:spcPts val="2560"/>
                </a:lnSpc>
                <a:spcBef>
                  <a:spcPct val="0"/>
                </a:spcBef>
              </a:pPr>
              <a:r>
                <a:rPr lang="en-US" sz="1600" spc="-44" strike="noStrike" u="none" i="0">
                  <a:solidFill>
                    <a:srgbClr val="071D30"/>
                  </a:solidFill>
                  <a:latin typeface="Helvetica World"/>
                  <a:ea typeface="Helvetica World"/>
                  <a:cs typeface="Helvetica World"/>
                  <a:sym typeface="Helvetica World"/>
                </a:rPr>
                <a:t>Roy et al. (2025). Surya: Foundation Model for Heliophysics. arXiv:2508.14112</a:t>
              </a:r>
            </a:p>
            <a:p>
              <a:pPr algn="l" marL="0" indent="0" lvl="0">
                <a:lnSpc>
                  <a:spcPts val="2560"/>
                </a:lnSpc>
                <a:spcBef>
                  <a:spcPct val="0"/>
                </a:spcBef>
              </a:pPr>
              <a:r>
                <a:rPr lang="en-US" sz="1600" spc="-44" strike="noStrike" u="none" i="0">
                  <a:solidFill>
                    <a:srgbClr val="071D30"/>
                  </a:solidFill>
                  <a:latin typeface="Helvetica World"/>
                  <a:ea typeface="Helvetica World"/>
                  <a:cs typeface="Helvetica World"/>
                  <a:sym typeface="Helvetica World"/>
                </a:rPr>
                <a:t>Liu et al. (2023). Visual Instruction Tuning (LLaVA). arXiv:2304.08485</a:t>
              </a:r>
            </a:p>
            <a:p>
              <a:pPr algn="l" marL="0" indent="0" lvl="0">
                <a:lnSpc>
                  <a:spcPts val="2560"/>
                </a:lnSpc>
                <a:spcBef>
                  <a:spcPct val="0"/>
                </a:spcBef>
              </a:pPr>
              <a:r>
                <a:rPr lang="en-US" sz="1600" spc="-44" strike="noStrike" u="none" i="0">
                  <a:solidFill>
                    <a:srgbClr val="071D30"/>
                  </a:solidFill>
                  <a:latin typeface="Helvetica World"/>
                  <a:ea typeface="Helvetica World"/>
                  <a:cs typeface="Helvetica World"/>
                  <a:sym typeface="Helvetica World"/>
                </a:rPr>
                <a:t>Díaz Baso y Asensio Ramos (2018). Enhancing SDO/HMI images using deep learning. A&amp;A 614, A5</a:t>
              </a:r>
            </a:p>
            <a:p>
              <a:pPr algn="l" marL="0" indent="0" lvl="0">
                <a:lnSpc>
                  <a:spcPts val="2560"/>
                </a:lnSpc>
                <a:spcBef>
                  <a:spcPct val="0"/>
                </a:spcBef>
              </a:pPr>
              <a:r>
                <a:rPr lang="en-US" sz="1600" spc="-44" strike="noStrike" u="none" i="0">
                  <a:solidFill>
                    <a:srgbClr val="071D30"/>
                  </a:solidFill>
                  <a:latin typeface="Helvetica World"/>
                  <a:ea typeface="Helvetica World"/>
                  <a:cs typeface="Helvetica World"/>
                  <a:sym typeface="Helvetica World"/>
                </a:rPr>
                <a:t>Bobra e Ilonidis (2016). Predicting Coronal Mass Ejections Using Machine Learning Methods. ApJ 821, 127</a:t>
              </a:r>
            </a:p>
            <a:p>
              <a:pPr algn="l" marL="0" indent="0" lvl="0">
                <a:lnSpc>
                  <a:spcPts val="2560"/>
                </a:lnSpc>
                <a:spcBef>
                  <a:spcPct val="0"/>
                </a:spcBef>
              </a:pPr>
              <a:r>
                <a:rPr lang="en-US" sz="1600" spc="-44" strike="noStrike" u="none" i="0">
                  <a:solidFill>
                    <a:srgbClr val="071D30"/>
                  </a:solidFill>
                  <a:latin typeface="Helvetica World"/>
                  <a:ea typeface="Helvetica World"/>
                  <a:cs typeface="Helvetica World"/>
                  <a:sym typeface="Helvetica World"/>
                </a:rPr>
                <a:t>Reiss et al. (2021). The Observational Uncertainty of Coronal Hole Boundaries in Automated Detection Schemes. ApJ 913, 28</a:t>
              </a:r>
            </a:p>
          </p:txBody>
        </p:sp>
      </p:grpSp>
      <p:grpSp>
        <p:nvGrpSpPr>
          <p:cNvPr name="Group 10" id="10"/>
          <p:cNvGrpSpPr/>
          <p:nvPr/>
        </p:nvGrpSpPr>
        <p:grpSpPr>
          <a:xfrm rot="0">
            <a:off x="12668250" y="2381250"/>
            <a:ext cx="4000500" cy="4000500"/>
            <a:chOff x="0" y="0"/>
            <a:chExt cx="5334000" cy="5334000"/>
          </a:xfrm>
        </p:grpSpPr>
        <p:sp>
          <p:nvSpPr>
            <p:cNvPr name="Freeform 11" id="11"/>
            <p:cNvSpPr/>
            <p:nvPr/>
          </p:nvSpPr>
          <p:spPr>
            <a:xfrm flipH="false" flipV="false" rot="0">
              <a:off x="600075" y="600075"/>
              <a:ext cx="4133850" cy="4133850"/>
            </a:xfrm>
            <a:custGeom>
              <a:avLst/>
              <a:gdLst/>
              <a:ahLst/>
              <a:cxnLst/>
              <a:rect r="r" b="b" t="t" l="l"/>
              <a:pathLst>
                <a:path h="4133850" w="4133850">
                  <a:moveTo>
                    <a:pt x="889000" y="2066925"/>
                  </a:moveTo>
                  <a:cubicBezTo>
                    <a:pt x="889000" y="2717475"/>
                    <a:pt x="1416375" y="3244850"/>
                    <a:pt x="2066925" y="3244850"/>
                  </a:cubicBezTo>
                  <a:cubicBezTo>
                    <a:pt x="2717475" y="3244850"/>
                    <a:pt x="3244850" y="2717475"/>
                    <a:pt x="3244850" y="2066925"/>
                  </a:cubicBezTo>
                  <a:cubicBezTo>
                    <a:pt x="3244850" y="1416375"/>
                    <a:pt x="2717475" y="889000"/>
                    <a:pt x="2066925" y="889000"/>
                  </a:cubicBezTo>
                  <a:cubicBezTo>
                    <a:pt x="1416375" y="889000"/>
                    <a:pt x="889000" y="1416375"/>
                    <a:pt x="889000" y="2066925"/>
                  </a:cubicBezTo>
                  <a:close/>
                  <a:moveTo>
                    <a:pt x="4027170" y="842328"/>
                  </a:moveTo>
                  <a:cubicBezTo>
                    <a:pt x="3889416" y="608311"/>
                    <a:pt x="3383864" y="627231"/>
                    <a:pt x="2702801" y="891892"/>
                  </a:cubicBezTo>
                  <a:cubicBezTo>
                    <a:pt x="2021737" y="1156553"/>
                    <a:pt x="1269834" y="1626280"/>
                    <a:pt x="733078" y="2122411"/>
                  </a:cubicBezTo>
                  <a:cubicBezTo>
                    <a:pt x="196322" y="2618542"/>
                    <a:pt x="-42793" y="3064827"/>
                    <a:pt x="106680" y="3291523"/>
                  </a:cubicBezTo>
                  <a:cubicBezTo>
                    <a:pt x="244433" y="3525539"/>
                    <a:pt x="749986" y="3506619"/>
                    <a:pt x="1431049" y="3241958"/>
                  </a:cubicBezTo>
                  <a:cubicBezTo>
                    <a:pt x="2112113" y="2977297"/>
                    <a:pt x="2864016" y="2507571"/>
                    <a:pt x="3400772" y="2011439"/>
                  </a:cubicBezTo>
                  <a:cubicBezTo>
                    <a:pt x="3937528" y="1515308"/>
                    <a:pt x="4176643" y="1069023"/>
                    <a:pt x="4027170" y="842328"/>
                  </a:cubicBezTo>
                  <a:close/>
                  <a:moveTo>
                    <a:pt x="2066925" y="355600"/>
                  </a:moveTo>
                  <a:lnTo>
                    <a:pt x="2066925" y="0"/>
                  </a:lnTo>
                  <a:moveTo>
                    <a:pt x="2066925" y="4133850"/>
                  </a:moveTo>
                  <a:lnTo>
                    <a:pt x="2066925" y="3778250"/>
                  </a:lnTo>
                  <a:moveTo>
                    <a:pt x="355600" y="2066925"/>
                  </a:moveTo>
                  <a:lnTo>
                    <a:pt x="0" y="2066925"/>
                  </a:lnTo>
                  <a:moveTo>
                    <a:pt x="4133850" y="2066925"/>
                  </a:moveTo>
                  <a:lnTo>
                    <a:pt x="3778250" y="2066925"/>
                  </a:lnTo>
                  <a:moveTo>
                    <a:pt x="866775" y="866775"/>
                  </a:moveTo>
                  <a:lnTo>
                    <a:pt x="622300" y="622300"/>
                  </a:lnTo>
                  <a:moveTo>
                    <a:pt x="3267075" y="3267075"/>
                  </a:moveTo>
                  <a:lnTo>
                    <a:pt x="3511550" y="3511550"/>
                  </a:lnTo>
                  <a:moveTo>
                    <a:pt x="977900" y="2222500"/>
                  </a:moveTo>
                  <a:lnTo>
                    <a:pt x="1466850" y="2222500"/>
                  </a:lnTo>
                  <a:lnTo>
                    <a:pt x="1711325" y="1711325"/>
                  </a:lnTo>
                  <a:lnTo>
                    <a:pt x="2089150" y="2600325"/>
                  </a:lnTo>
                  <a:lnTo>
                    <a:pt x="2422525" y="1933575"/>
                  </a:lnTo>
                  <a:lnTo>
                    <a:pt x="2644775" y="2222500"/>
                  </a:lnTo>
                  <a:lnTo>
                    <a:pt x="3178175" y="2222500"/>
                  </a:lnTo>
                </a:path>
              </a:pathLst>
            </a:custGeom>
            <a:ln w="66675" cap="sq">
              <a:solidFill>
                <a:srgbClr val="071D30"/>
              </a:solidFill>
              <a:prstDash val="solid"/>
              <a:miter/>
            </a:ln>
          </p:spPr>
        </p:sp>
        <p:sp>
          <p:nvSpPr>
            <p:cNvPr name="TextBox 12" id="12"/>
            <p:cNvSpPr txBox="true"/>
            <p:nvPr/>
          </p:nvSpPr>
          <p:spPr>
            <a:xfrm>
              <a:off x="0" y="-38100"/>
              <a:ext cx="5334000" cy="5372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2668250" y="2381250"/>
            <a:ext cx="4000500" cy="4000500"/>
            <a:chOff x="0" y="0"/>
            <a:chExt cx="5334000" cy="5334000"/>
          </a:xfrm>
        </p:grpSpPr>
        <p:sp>
          <p:nvSpPr>
            <p:cNvPr name="Freeform 14" id="14"/>
            <p:cNvSpPr/>
            <p:nvPr/>
          </p:nvSpPr>
          <p:spPr>
            <a:xfrm flipH="false" flipV="false" rot="0">
              <a:off x="3822700" y="688975"/>
              <a:ext cx="711200" cy="711200"/>
            </a:xfrm>
            <a:custGeom>
              <a:avLst/>
              <a:gdLst/>
              <a:ahLst/>
              <a:cxnLst/>
              <a:rect r="r" b="b" t="t" l="l"/>
              <a:pathLst>
                <a:path h="711200" w="711200">
                  <a:moveTo>
                    <a:pt x="355600" y="0"/>
                  </a:moveTo>
                  <a:lnTo>
                    <a:pt x="444500" y="266700"/>
                  </a:lnTo>
                  <a:lnTo>
                    <a:pt x="711200" y="355600"/>
                  </a:lnTo>
                  <a:lnTo>
                    <a:pt x="444500" y="444500"/>
                  </a:lnTo>
                  <a:lnTo>
                    <a:pt x="355600" y="711200"/>
                  </a:lnTo>
                  <a:lnTo>
                    <a:pt x="266700" y="444500"/>
                  </a:lnTo>
                  <a:lnTo>
                    <a:pt x="0" y="355600"/>
                  </a:lnTo>
                  <a:lnTo>
                    <a:pt x="266700" y="266700"/>
                  </a:lnTo>
                  <a:close/>
                </a:path>
              </a:pathLst>
            </a:custGeom>
            <a:solidFill>
              <a:srgbClr val="FFFFFF"/>
            </a:solidFill>
          </p:spPr>
        </p:sp>
        <p:sp>
          <p:nvSpPr>
            <p:cNvPr name="TextBox 15" id="15"/>
            <p:cNvSpPr txBox="true"/>
            <p:nvPr/>
          </p:nvSpPr>
          <p:spPr>
            <a:xfrm>
              <a:off x="0" y="-38100"/>
              <a:ext cx="5334000" cy="53721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1800225" y="7810500"/>
            <a:ext cx="14668500" cy="1047750"/>
            <a:chOff x="0" y="0"/>
            <a:chExt cx="19558000" cy="1397000"/>
          </a:xfrm>
        </p:grpSpPr>
        <p:sp>
          <p:nvSpPr>
            <p:cNvPr name="Freeform 17" id="17"/>
            <p:cNvSpPr/>
            <p:nvPr/>
          </p:nvSpPr>
          <p:spPr>
            <a:xfrm flipH="false" flipV="false" rot="0">
              <a:off x="0" y="0"/>
              <a:ext cx="19558000" cy="1397000"/>
            </a:xfrm>
            <a:custGeom>
              <a:avLst/>
              <a:gdLst/>
              <a:ahLst/>
              <a:cxnLst/>
              <a:rect r="r" b="b" t="t" l="l"/>
              <a:pathLst>
                <a:path h="1397000" w="19558000">
                  <a:moveTo>
                    <a:pt x="228600" y="0"/>
                  </a:moveTo>
                  <a:lnTo>
                    <a:pt x="19329400" y="0"/>
                  </a:lnTo>
                  <a:cubicBezTo>
                    <a:pt x="19455653" y="0"/>
                    <a:pt x="19558000" y="102348"/>
                    <a:pt x="19558000" y="228600"/>
                  </a:cubicBezTo>
                  <a:lnTo>
                    <a:pt x="19558000" y="1168400"/>
                  </a:lnTo>
                  <a:cubicBezTo>
                    <a:pt x="19558000" y="1294652"/>
                    <a:pt x="19455653" y="1397000"/>
                    <a:pt x="19329400" y="1397000"/>
                  </a:cubicBezTo>
                  <a:lnTo>
                    <a:pt x="228600" y="1397000"/>
                  </a:lnTo>
                  <a:cubicBezTo>
                    <a:pt x="102348" y="1397000"/>
                    <a:pt x="0" y="1294652"/>
                    <a:pt x="0" y="1168400"/>
                  </a:cubicBezTo>
                  <a:lnTo>
                    <a:pt x="0" y="228600"/>
                  </a:lnTo>
                  <a:cubicBezTo>
                    <a:pt x="0" y="102348"/>
                    <a:pt x="102348" y="0"/>
                    <a:pt x="228600" y="0"/>
                  </a:cubicBezTo>
                  <a:close/>
                </a:path>
              </a:pathLst>
            </a:custGeom>
            <a:solidFill>
              <a:srgbClr val="071D30"/>
            </a:solidFill>
          </p:spPr>
        </p:sp>
        <p:sp>
          <p:nvSpPr>
            <p:cNvPr name="TextBox 18" id="18"/>
            <p:cNvSpPr txBox="true"/>
            <p:nvPr/>
          </p:nvSpPr>
          <p:spPr>
            <a:xfrm>
              <a:off x="0" y="-38100"/>
              <a:ext cx="19558000" cy="1435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2190750" y="8086725"/>
            <a:ext cx="14097000" cy="415290"/>
          </a:xfrm>
          <a:prstGeom prst="rect">
            <a:avLst/>
          </a:prstGeom>
        </p:spPr>
        <p:txBody>
          <a:bodyPr anchor="t" rtlCol="false" tIns="0" lIns="0" bIns="0" rIns="0">
            <a:spAutoFit/>
          </a:bodyPr>
          <a:lstStyle/>
          <a:p>
            <a:pPr algn="l">
              <a:lnSpc>
                <a:spcPts val="3359"/>
              </a:lnSpc>
            </a:pPr>
            <a:r>
              <a:rPr lang="en-US" sz="2400" b="true" i="0">
                <a:solidFill>
                  <a:srgbClr val="F5B82E"/>
                </a:solidFill>
                <a:latin typeface="Arimo Bold"/>
                <a:ea typeface="Arimo Bold"/>
                <a:cs typeface="Arimo Bold"/>
                <a:sym typeface="Arimo Bold"/>
              </a:rPr>
              <a:t>MÁS LECTURAS  ›  04_Lecturas en el repositorio de la escuela</a:t>
            </a:r>
          </a:p>
        </p:txBody>
      </p:sp>
      <p:sp>
        <p:nvSpPr>
          <p:cNvPr name="TextBox 20" id="20"/>
          <p:cNvSpPr txBox="true"/>
          <p:nvPr/>
        </p:nvSpPr>
        <p:spPr>
          <a:xfrm rot="0">
            <a:off x="666750" y="9772650"/>
            <a:ext cx="95250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sp>
        <p:nvSpPr>
          <p:cNvPr name="Freeform 21" id="21" descr="Logo GoSA"/>
          <p:cNvSpPr/>
          <p:nvPr/>
        </p:nvSpPr>
        <p:spPr>
          <a:xfrm flipH="false" flipV="false" rot="0">
            <a:off x="16192500" y="9753600"/>
            <a:ext cx="762000" cy="352425"/>
          </a:xfrm>
          <a:custGeom>
            <a:avLst/>
            <a:gdLst/>
            <a:ahLst/>
            <a:cxnLst/>
            <a:rect r="r" b="b" t="t" l="l"/>
            <a:pathLst>
              <a:path h="352425" w="762000">
                <a:moveTo>
                  <a:pt x="0" y="0"/>
                </a:moveTo>
                <a:lnTo>
                  <a:pt x="762000" y="0"/>
                </a:lnTo>
                <a:lnTo>
                  <a:pt x="762000" y="352425"/>
                </a:lnTo>
                <a:lnTo>
                  <a:pt x="0" y="352425"/>
                </a:lnTo>
                <a:lnTo>
                  <a:pt x="0" y="0"/>
                </a:lnTo>
                <a:close/>
              </a:path>
            </a:pathLst>
          </a:custGeom>
          <a:blipFill>
            <a:blip r:embed="rId2"/>
            <a:stretch>
              <a:fillRect l="0" t="-592" r="0" b="-592"/>
            </a:stretch>
          </a:blipFill>
        </p:spPr>
        <p:txBody>
          <a:bodyPr/>
          <a:p/>
        </p:txBody>
      </p:sp>
      <p:sp>
        <p:nvSpPr>
          <p:cNvPr name="Freeform 22" id="22" descr="Logo Observatorio Astronómico Nacional"/>
          <p:cNvSpPr/>
          <p:nvPr/>
        </p:nvSpPr>
        <p:spPr>
          <a:xfrm flipH="false" flipV="false" rot="0">
            <a:off x="17145000" y="9715500"/>
            <a:ext cx="457200" cy="428625"/>
          </a:xfrm>
          <a:custGeom>
            <a:avLst/>
            <a:gdLst/>
            <a:ahLst/>
            <a:cxnLst/>
            <a:rect r="r" b="b" t="t" l="l"/>
            <a:pathLst>
              <a:path h="428625" w="457200">
                <a:moveTo>
                  <a:pt x="0" y="0"/>
                </a:moveTo>
                <a:lnTo>
                  <a:pt x="457200" y="0"/>
                </a:lnTo>
                <a:lnTo>
                  <a:pt x="457200" y="428625"/>
                </a:lnTo>
                <a:lnTo>
                  <a:pt x="0" y="428625"/>
                </a:lnTo>
                <a:lnTo>
                  <a:pt x="0" y="0"/>
                </a:lnTo>
                <a:close/>
              </a:path>
            </a:pathLst>
          </a:custGeom>
          <a:blipFill>
            <a:blip r:embed="rId3"/>
            <a:stretch>
              <a:fillRect l="-328" t="0" r="-328" b="0"/>
            </a:stretch>
          </a:blipFill>
        </p:spPr>
        <p:txBody>
          <a:body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sp>
        <p:nvSpPr>
          <p:cNvPr name="TextBox 2" id="2"/>
          <p:cNvSpPr txBox="true"/>
          <p:nvPr/>
        </p:nvSpPr>
        <p:spPr>
          <a:xfrm rot="0">
            <a:off x="666750" y="3676650"/>
            <a:ext cx="6886575" cy="1289050"/>
          </a:xfrm>
          <a:prstGeom prst="rect">
            <a:avLst/>
          </a:prstGeom>
        </p:spPr>
        <p:txBody>
          <a:bodyPr anchor="t" rtlCol="false" tIns="0" lIns="0" bIns="0" rIns="0">
            <a:spAutoFit/>
          </a:bodyPr>
          <a:lstStyle/>
          <a:p>
            <a:pPr algn="l" marL="539748" indent="-269874" lvl="1">
              <a:lnSpc>
                <a:spcPts val="2660"/>
              </a:lnSpc>
              <a:spcBef>
                <a:spcPct val="0"/>
              </a:spcBef>
              <a:buFont typeface="Arial"/>
              <a:buChar char="•"/>
            </a:pPr>
            <a:r>
              <a:rPr lang="en-US" sz="1900" spc="-37" strike="noStrike" u="none" i="0">
                <a:solidFill>
                  <a:srgbClr val="071D30"/>
                </a:solidFill>
                <a:latin typeface="Helvetica World"/>
                <a:ea typeface="Helvetica World"/>
                <a:cs typeface="Helvetica World"/>
                <a:sym typeface="Helvetica World"/>
              </a:rPr>
              <a:t>Python desde cero para </a:t>
            </a:r>
            <a:r>
              <a:rPr lang="en-US" sz="1900" spc="-37" strike="noStrike" u="none" b="1" i="0">
                <a:solidFill>
                  <a:srgbClr val="071D30"/>
                </a:solidFill>
                <a:latin typeface="Helvetica World Bold"/>
                <a:ea typeface="Helvetica World Bold"/>
                <a:cs typeface="Helvetica World Bold"/>
                <a:sym typeface="Helvetica World"/>
              </a:rPr>
              <a:t>Ciencia de Datos, ML e IA</a:t>
            </a:r>
          </a:p>
          <a:p>
            <a:pPr algn="l" marL="539748" indent="-269874" lvl="1">
              <a:lnSpc>
                <a:spcPts val="2660"/>
              </a:lnSpc>
              <a:spcBef>
                <a:spcPct val="0"/>
              </a:spcBef>
              <a:buFont typeface="Arial"/>
              <a:buChar char="•"/>
            </a:pPr>
            <a:r>
              <a:rPr lang="en-US" sz="1900" spc="-37" strike="noStrike" u="none" i="0">
                <a:solidFill>
                  <a:srgbClr val="071D30"/>
                </a:solidFill>
                <a:latin typeface="Helvetica World"/>
                <a:ea typeface="Helvetica World"/>
                <a:cs typeface="Helvetica World"/>
                <a:sym typeface="Helvetica World"/>
              </a:rPr>
              <a:t>NumPy con datos reales de </a:t>
            </a:r>
            <a:r>
              <a:rPr lang="en-US" sz="1900" spc="-37" strike="noStrike" u="none" b="1" i="0">
                <a:solidFill>
                  <a:srgbClr val="071D30"/>
                </a:solidFill>
                <a:latin typeface="Helvetica World Bold"/>
                <a:ea typeface="Helvetica World Bold"/>
                <a:cs typeface="Helvetica World Bold"/>
                <a:sym typeface="Helvetica World"/>
              </a:rPr>
              <a:t>TESS</a:t>
            </a:r>
            <a:r>
              <a:rPr lang="en-US" sz="1900" spc="-37" strike="noStrike" u="none" i="0">
                <a:solidFill>
                  <a:srgbClr val="071D30"/>
                </a:solidFill>
                <a:latin typeface="Helvetica World"/>
                <a:ea typeface="Helvetica World"/>
                <a:cs typeface="Helvetica World"/>
                <a:sym typeface="Helvetica World"/>
              </a:rPr>
              <a:t>: el tránsito de WASP-18 b</a:t>
            </a:r>
          </a:p>
          <a:p>
            <a:pPr algn="l" marL="539748" indent="-269874" lvl="1">
              <a:lnSpc>
                <a:spcPts val="2660"/>
              </a:lnSpc>
              <a:spcBef>
                <a:spcPct val="0"/>
              </a:spcBef>
              <a:buFont typeface="Arial"/>
              <a:buChar char="•"/>
            </a:pPr>
            <a:r>
              <a:rPr lang="en-US" sz="1900" spc="-37" strike="noStrike" u="none" i="0">
                <a:solidFill>
                  <a:srgbClr val="071D30"/>
                </a:solidFill>
                <a:latin typeface="Helvetica World"/>
                <a:ea typeface="Helvetica World"/>
                <a:cs typeface="Helvetica World"/>
                <a:sym typeface="Helvetica World"/>
              </a:rPr>
              <a:t>Juan Esteban Agudelo Ortiz</a:t>
            </a:r>
            <a:r>
              <a:rPr lang="en-US" sz="1900" spc="-37" strike="noStrike" u="none" i="0">
                <a:solidFill>
                  <a:srgbClr val="071D30"/>
                </a:solidFill>
                <a:latin typeface="Helvetica World"/>
                <a:ea typeface="Helvetica World"/>
                <a:cs typeface="Helvetica World"/>
                <a:sym typeface="Helvetica World"/>
              </a:rPr>
              <a:t> (líder y guion); Thomas Gonzalez, Milena Barrios y Claudia Cuellar (presentación); Santiago Pinilla y Daniel Rodríguez (edición)</a:t>
            </a:r>
          </a:p>
          <a:p>
            <a:pPr algn="l" marL="539748" indent="-269874" lvl="1">
              <a:lnSpc>
                <a:spcPts val="2660"/>
              </a:lnSpc>
              <a:spcBef>
                <a:spcPct val="0"/>
              </a:spcBef>
              <a:buFont typeface="Arial"/>
              <a:buChar char="•"/>
            </a:pPr>
            <a:r>
              <a:rPr lang="en-US" sz="1900" spc="-37" strike="noStrike" u="none" i="0">
                <a:solidFill>
                  <a:srgbClr val="071D30"/>
                </a:solidFill>
                <a:latin typeface="Helvetica World"/>
                <a:ea typeface="Helvetica World"/>
                <a:cs typeface="Helvetica World"/>
                <a:sym typeface="Helvetica World"/>
              </a:rPr>
              <a:t>En colaboración con miembros del GoSA del OAN</a:t>
            </a:r>
          </a:p>
        </p:txBody>
      </p:sp>
      <p:sp>
        <p:nvSpPr>
          <p:cNvPr name="TextBox 3" id="3"/>
          <p:cNvSpPr txBox="true"/>
          <p:nvPr/>
        </p:nvSpPr>
        <p:spPr>
          <a:xfrm rot="0">
            <a:off x="666750" y="1190625"/>
            <a:ext cx="6886575" cy="1704975"/>
          </a:xfrm>
          <a:prstGeom prst="rect">
            <a:avLst/>
          </a:prstGeom>
        </p:spPr>
        <p:txBody>
          <a:bodyPr anchor="t" rtlCol="false" tIns="0" lIns="0" bIns="0" rIns="0">
            <a:spAutoFit/>
          </a:bodyPr>
          <a:lstStyle/>
          <a:p>
            <a:pPr algn="l" marL="0" indent="0" lvl="0">
              <a:lnSpc>
                <a:spcPts val="6600"/>
              </a:lnSpc>
              <a:spcBef>
                <a:spcPct val="0"/>
              </a:spcBef>
            </a:pPr>
            <a:r>
              <a:rPr lang="en-US" sz="6000" spc="-179" strike="noStrike" u="none" i="0">
                <a:solidFill>
                  <a:srgbClr val="071D30"/>
                </a:solidFill>
                <a:latin typeface="Georgia Pro Condensed"/>
                <a:ea typeface="Georgia Pro Condensed"/>
                <a:cs typeface="Georgia Pro Condensed"/>
                <a:sym typeface="Georgia Pro Condensed"/>
              </a:rPr>
              <a:t>Datos de Ciencia en YouTube</a:t>
            </a:r>
          </a:p>
        </p:txBody>
      </p:sp>
      <p:grpSp>
        <p:nvGrpSpPr>
          <p:cNvPr name="Group 4" id="4"/>
          <p:cNvGrpSpPr/>
          <p:nvPr/>
        </p:nvGrpSpPr>
        <p:grpSpPr>
          <a:xfrm rot="0">
            <a:off x="8991600" y="0"/>
            <a:ext cx="9296400" cy="10287000"/>
            <a:chOff x="0" y="0"/>
            <a:chExt cx="1220873" cy="1350966"/>
          </a:xfrm>
        </p:grpSpPr>
        <p:sp>
          <p:nvSpPr>
            <p:cNvPr name="Freeform 5" id="5"/>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6" id="6"/>
          <p:cNvSpPr txBox="true"/>
          <p:nvPr/>
        </p:nvSpPr>
        <p:spPr>
          <a:xfrm rot="0">
            <a:off x="685800" y="657225"/>
            <a:ext cx="57150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DATOS DE CIENCIA</a:t>
            </a:r>
          </a:p>
        </p:txBody>
      </p:sp>
      <p:grpSp>
        <p:nvGrpSpPr>
          <p:cNvPr name="Group 7" id="7"/>
          <p:cNvGrpSpPr/>
          <p:nvPr/>
        </p:nvGrpSpPr>
        <p:grpSpPr>
          <a:xfrm rot="0">
            <a:off x="666750" y="7048500"/>
            <a:ext cx="7620000" cy="1905000"/>
            <a:chOff x="0" y="0"/>
            <a:chExt cx="10160000" cy="2540000"/>
          </a:xfrm>
        </p:grpSpPr>
        <p:sp>
          <p:nvSpPr>
            <p:cNvPr name="Freeform 8" id="8"/>
            <p:cNvSpPr/>
            <p:nvPr/>
          </p:nvSpPr>
          <p:spPr>
            <a:xfrm flipH="false" flipV="false" rot="0">
              <a:off x="0" y="0"/>
              <a:ext cx="10160000" cy="2540000"/>
            </a:xfrm>
            <a:custGeom>
              <a:avLst/>
              <a:gdLst/>
              <a:ahLst/>
              <a:cxnLst/>
              <a:rect r="r" b="b" t="t" l="l"/>
              <a:pathLst>
                <a:path h="2540000" w="10160000">
                  <a:moveTo>
                    <a:pt x="254000" y="0"/>
                  </a:moveTo>
                  <a:lnTo>
                    <a:pt x="9906000" y="0"/>
                  </a:lnTo>
                  <a:cubicBezTo>
                    <a:pt x="10046281" y="0"/>
                    <a:pt x="10160000" y="113720"/>
                    <a:pt x="10160000" y="254000"/>
                  </a:cubicBezTo>
                  <a:lnTo>
                    <a:pt x="10160000" y="2286000"/>
                  </a:lnTo>
                  <a:cubicBezTo>
                    <a:pt x="10160000" y="2426280"/>
                    <a:pt x="10046281" y="2540000"/>
                    <a:pt x="990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071D30"/>
            </a:solidFill>
          </p:spPr>
        </p:sp>
        <p:sp>
          <p:nvSpPr>
            <p:cNvPr name="TextBox 9" id="9"/>
            <p:cNvSpPr txBox="true"/>
            <p:nvPr/>
          </p:nvSpPr>
          <p:spPr>
            <a:xfrm>
              <a:off x="0" y="-38100"/>
              <a:ext cx="10160000" cy="2578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66750" y="7239000"/>
            <a:ext cx="114300" cy="1524000"/>
            <a:chOff x="0" y="0"/>
            <a:chExt cx="152400" cy="2032000"/>
          </a:xfrm>
        </p:grpSpPr>
        <p:sp>
          <p:nvSpPr>
            <p:cNvPr name="Freeform 11" id="11"/>
            <p:cNvSpPr/>
            <p:nvPr/>
          </p:nvSpPr>
          <p:spPr>
            <a:xfrm flipH="false" flipV="false" rot="0">
              <a:off x="0" y="0"/>
              <a:ext cx="152400" cy="2032000"/>
            </a:xfrm>
            <a:custGeom>
              <a:avLst/>
              <a:gdLst/>
              <a:ahLst/>
              <a:cxnLst/>
              <a:rect r="r" b="b" t="t" l="l"/>
              <a:pathLst>
                <a:path h="2032000" w="152400">
                  <a:moveTo>
                    <a:pt x="0" y="0"/>
                  </a:moveTo>
                  <a:lnTo>
                    <a:pt x="152400" y="0"/>
                  </a:lnTo>
                  <a:lnTo>
                    <a:pt x="152400" y="2032000"/>
                  </a:lnTo>
                  <a:lnTo>
                    <a:pt x="0" y="2032000"/>
                  </a:lnTo>
                  <a:close/>
                </a:path>
              </a:pathLst>
            </a:custGeom>
            <a:solidFill>
              <a:srgbClr val="F5B82E"/>
            </a:solidFill>
          </p:spPr>
        </p:sp>
        <p:sp>
          <p:nvSpPr>
            <p:cNvPr name="TextBox 12" id="12"/>
            <p:cNvSpPr txBox="true"/>
            <p:nvPr/>
          </p:nvSpPr>
          <p:spPr>
            <a:xfrm>
              <a:off x="0" y="-38100"/>
              <a:ext cx="152400" cy="207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95375" y="7277100"/>
            <a:ext cx="6667500" cy="300990"/>
          </a:xfrm>
          <a:prstGeom prst="rect">
            <a:avLst/>
          </a:prstGeom>
        </p:spPr>
        <p:txBody>
          <a:bodyPr anchor="t" rtlCol="false" tIns="0" lIns="0" bIns="0" rIns="0">
            <a:spAutoFit/>
          </a:bodyPr>
          <a:lstStyle/>
          <a:p>
            <a:pPr algn="l">
              <a:lnSpc>
                <a:spcPts val="2310"/>
              </a:lnSpc>
            </a:pPr>
            <a:r>
              <a:rPr lang="en-US" sz="1650" b="true">
                <a:solidFill>
                  <a:srgbClr val="F5B82E"/>
                </a:solidFill>
                <a:latin typeface="Arimo Bold"/>
                <a:ea typeface="Arimo Bold"/>
                <a:cs typeface="Arimo Bold"/>
                <a:sym typeface="Arimo Bold"/>
              </a:rPr>
              <a:t>IDEA CLAVE</a:t>
            </a:r>
          </a:p>
        </p:txBody>
      </p:sp>
      <p:sp>
        <p:nvSpPr>
          <p:cNvPr name="TextBox 14" id="14"/>
          <p:cNvSpPr txBox="true"/>
          <p:nvPr/>
        </p:nvSpPr>
        <p:spPr>
          <a:xfrm rot="0">
            <a:off x="1095375" y="7772400"/>
            <a:ext cx="6858000" cy="843915"/>
          </a:xfrm>
          <a:prstGeom prst="rect">
            <a:avLst/>
          </a:prstGeom>
        </p:spPr>
        <p:txBody>
          <a:bodyPr anchor="t" rtlCol="false" tIns="0" lIns="0" bIns="0" rIns="0">
            <a:spAutoFit/>
          </a:bodyPr>
          <a:lstStyle/>
          <a:p>
            <a:pPr algn="l">
              <a:lnSpc>
                <a:spcPts val="2860"/>
              </a:lnSpc>
            </a:pPr>
            <a:r>
              <a:rPr lang="en-US" sz="2200" i="0">
                <a:solidFill>
                  <a:srgbClr val="FFFFFF"/>
                </a:solidFill>
                <a:latin typeface="Arimo"/>
                <a:ea typeface="Arimo"/>
                <a:cs typeface="Arimo"/>
                <a:sym typeface="Arimo"/>
              </a:rPr>
              <a:t>Lo de hoy (arrays, normalización, imshow) está en la serie de NumPy.</a:t>
            </a:r>
          </a:p>
        </p:txBody>
      </p:sp>
      <p:grpSp>
        <p:nvGrpSpPr>
          <p:cNvPr name="Group 15" id="15"/>
          <p:cNvGrpSpPr/>
          <p:nvPr/>
        </p:nvGrpSpPr>
        <p:grpSpPr>
          <a:xfrm rot="0">
            <a:off x="8991600" y="9429750"/>
            <a:ext cx="9296400" cy="857250"/>
            <a:chOff x="0" y="0"/>
            <a:chExt cx="12395200" cy="1143000"/>
          </a:xfrm>
        </p:grpSpPr>
        <p:sp>
          <p:nvSpPr>
            <p:cNvPr name="Freeform 16" id="16"/>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7" id="17"/>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Videos de @Datos.deCiencia: 1 a 3 publicados; 4 en producción</a:t>
            </a:r>
          </a:p>
        </p:txBody>
      </p:sp>
      <p:sp>
        <p:nvSpPr>
          <p:cNvPr name="TextBox 19" id="19"/>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pic>
        <p:nvPicPr>
          <p:cNvPr id="22" name="Picture 21" descr="canal_videos.png"/>
          <p:cNvPicPr>
            <a:picLocks noChangeAspect="1"/>
          </p:cNvPicPr>
          <p:nvPr/>
        </p:nvPicPr>
        <p:blipFill>
          <a:blip r:embed="rId5"/>
          <a:stretch>
            <a:fillRect/>
          </a:stretch>
        </p:blipFill>
        <p:spPr>
          <a:xfrm>
            <a:off x="9432000" y="640000"/>
            <a:ext cx="8424000" cy="5244619"/>
          </a:xfrm>
          <a:prstGeom prst="rect">
            <a:avLst/>
          </a:prstGeom>
          <a:effectLst>
            <a:outerShdw blurRad="254000" dist="76200" dir="5400000" algn="t" rotWithShape="0">
              <a:srgbClr val="000000">
                <a:alpha val="55000"/>
              </a:srgbClr>
            </a:outerShdw>
          </a:effectLst>
        </p:spPr>
      </p:pic>
      <p:sp>
        <p:nvSpPr>
          <p:cNvPr id="23" name="Etiqueta Juan Agudelo"/>
          <p:cNvSpPr/>
          <p:nvPr/>
        </p:nvSpPr>
        <p:spPr>
          <a:xfrm>
            <a:off x="12159893" y="2143638"/>
            <a:ext cx="930148" cy="163045"/>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0">
                <a:solidFill>
                  <a:srgbClr val="071D30"/>
                </a:solidFill>
                <a:latin typeface="Helvetica World"/>
              </a:rPr>
              <a:t>Juan Agudelo</a:t>
            </a:r>
          </a:p>
        </p:txBody>
      </p:sp>
      <p:sp>
        <p:nvSpPr>
          <p:cNvPr id="24" name="Etiqueta Thomas Gonzalez"/>
          <p:cNvSpPr/>
          <p:nvPr/>
        </p:nvSpPr>
        <p:spPr>
          <a:xfrm>
            <a:off x="16122508" y="2270451"/>
            <a:ext cx="1111885" cy="163045"/>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0">
                <a:solidFill>
                  <a:srgbClr val="071D30"/>
                </a:solidFill>
                <a:latin typeface="Helvetica World"/>
              </a:rPr>
              <a:t>Thomas Gonzalez</a:t>
            </a:r>
          </a:p>
        </p:txBody>
      </p:sp>
      <p:sp>
        <p:nvSpPr>
          <p:cNvPr id="25" name="Etiqueta Milena Barrios"/>
          <p:cNvSpPr/>
          <p:nvPr/>
        </p:nvSpPr>
        <p:spPr>
          <a:xfrm>
            <a:off x="11782282" y="5024103"/>
            <a:ext cx="1051306" cy="163045"/>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0">
                <a:solidFill>
                  <a:srgbClr val="071D30"/>
                </a:solidFill>
                <a:latin typeface="Helvetica World"/>
              </a:rPr>
              <a:t>Milena Barrios</a:t>
            </a:r>
          </a:p>
        </p:txBody>
      </p:sp>
      <p:sp>
        <p:nvSpPr>
          <p:cNvPr id="26" name="Etiqueta Claudia Cuellar"/>
          <p:cNvSpPr/>
          <p:nvPr/>
        </p:nvSpPr>
        <p:spPr>
          <a:xfrm>
            <a:off x="16117979" y="4978812"/>
            <a:ext cx="1111885" cy="163045"/>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0">
                <a:solidFill>
                  <a:srgbClr val="071D30"/>
                </a:solidFill>
                <a:latin typeface="Helvetica World"/>
              </a:rPr>
              <a:t>Claudia Cuellar</a:t>
            </a:r>
          </a:p>
        </p:txBody>
      </p:sp>
      <p:pic>
        <p:nvPicPr>
          <p:cNvPr id="27" name="Foto Santiago Pinilla" descr="editor_santiago_pinilla.png"/>
          <p:cNvPicPr>
            <a:picLocks noChangeAspect="1"/>
          </p:cNvPicPr>
          <p:nvPr/>
        </p:nvPicPr>
        <p:blipFill>
          <a:blip r:embed="rId7"/>
          <a:stretch>
            <a:fillRect/>
          </a:stretch>
        </p:blipFill>
        <p:spPr>
          <a:xfrm>
            <a:off x="10320064" y="6004619"/>
            <a:ext cx="2300000" cy="2300000"/>
          </a:xfrm>
          <a:prstGeom prst="rect">
            <a:avLst/>
          </a:prstGeom>
        </p:spPr>
      </p:pic>
      <p:sp>
        <p:nvSpPr>
          <p:cNvPr id="28" name="Etiqueta Santiago Pinilla"/>
          <p:cNvSpPr/>
          <p:nvPr/>
        </p:nvSpPr>
        <p:spPr>
          <a:xfrm>
            <a:off x="10883832" y="7906721"/>
            <a:ext cx="1172464" cy="163045"/>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0">
                <a:solidFill>
                  <a:srgbClr val="071D30"/>
                </a:solidFill>
                <a:latin typeface="Helvetica World"/>
              </a:rPr>
              <a:t>Santiago Pinilla</a:t>
            </a:r>
          </a:p>
        </p:txBody>
      </p:sp>
      <p:pic>
        <p:nvPicPr>
          <p:cNvPr id="29" name="Foto Daniel Rodríguez" descr="editor_daniel_rodriguez.png"/>
          <p:cNvPicPr>
            <a:picLocks noChangeAspect="1"/>
          </p:cNvPicPr>
          <p:nvPr/>
        </p:nvPicPr>
        <p:blipFill>
          <a:blip r:embed="rId8"/>
          <a:stretch>
            <a:fillRect/>
          </a:stretch>
        </p:blipFill>
        <p:spPr>
          <a:xfrm>
            <a:off x="14667935" y="6004619"/>
            <a:ext cx="2300000" cy="2300000"/>
          </a:xfrm>
          <a:prstGeom prst="rect">
            <a:avLst/>
          </a:prstGeom>
        </p:spPr>
      </p:pic>
      <p:sp>
        <p:nvSpPr>
          <p:cNvPr id="30" name="Etiqueta Daniel Rodríguez"/>
          <p:cNvSpPr/>
          <p:nvPr/>
        </p:nvSpPr>
        <p:spPr>
          <a:xfrm>
            <a:off x="15231703" y="7906721"/>
            <a:ext cx="1172464" cy="163045"/>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0">
                <a:solidFill>
                  <a:srgbClr val="071D30"/>
                </a:solidFill>
                <a:latin typeface="Helvetica World"/>
              </a:rPr>
              <a:t>Daniel Rodríguez</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A"/>
        </a:solidFill>
      </p:bgPr>
    </p:bg>
    <p:spTree>
      <p:nvGrpSpPr>
        <p:cNvPr id="1" name=""/>
        <p:cNvGrpSpPr/>
        <p:nvPr/>
      </p:nvGrpSpPr>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F5F7FA"/>
            </a:solidFill>
          </p:spPr>
        </p:sp>
        <p:sp>
          <p:nvSpPr>
            <p:cNvPr name="TextBox 4" id="4"/>
            <p:cNvSpPr txBox="true"/>
            <p:nvPr/>
          </p:nvSpPr>
          <p:spPr>
            <a:xfrm>
              <a:off x="0" y="-38100"/>
              <a:ext cx="2368158" cy="92114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8991600" y="0"/>
            <a:ext cx="9296400" cy="10287000"/>
            <a:chOff x="0" y="0"/>
            <a:chExt cx="1220873" cy="1350966"/>
          </a:xfrm>
        </p:grpSpPr>
        <p:sp>
          <p:nvSpPr>
            <p:cNvPr name="Freeform 6" id="6"/>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solidFill>
              <a:srgbClr val="071D30"/>
            </a:solidFill>
          </p:spPr>
        </p:sp>
      </p:grpSp>
      <p:sp>
        <p:nvSpPr>
          <p:cNvPr name="TextBox 7" id="7"/>
          <p:cNvSpPr txBox="true"/>
          <p:nvPr/>
        </p:nvSpPr>
        <p:spPr>
          <a:xfrm rot="0">
            <a:off x="666750" y="2362200"/>
            <a:ext cx="6886575" cy="1181100"/>
          </a:xfrm>
          <a:prstGeom prst="rect">
            <a:avLst/>
          </a:prstGeom>
        </p:spPr>
        <p:txBody>
          <a:bodyPr anchor="t" rtlCol="false" tIns="0" lIns="0" bIns="0" rIns="0">
            <a:spAutoFit/>
          </a:bodyPr>
          <a:lstStyle/>
          <a:p>
            <a:pPr algn="l" marL="0" indent="0" lvl="0">
              <a:lnSpc>
                <a:spcPts val="4840"/>
              </a:lnSpc>
              <a:spcBef>
                <a:spcPct val="0"/>
              </a:spcBef>
            </a:pPr>
            <a:r>
              <a:rPr lang="en-US" sz="4400" spc="-247" strike="noStrike" u="none" i="0">
                <a:solidFill>
                  <a:srgbClr val="071D30"/>
                </a:solidFill>
                <a:latin typeface="Georgia Pro Condensed"/>
                <a:ea typeface="Georgia Pro Condensed"/>
                <a:cs typeface="Georgia Pro Condensed"/>
                <a:sym typeface="Georgia Pro Condensed"/>
              </a:rPr>
              <a:t>@Datos.deCiencia</a:t>
            </a:r>
          </a:p>
        </p:txBody>
      </p:sp>
      <p:grpSp>
        <p:nvGrpSpPr>
          <p:cNvPr name="Group 8" id="8"/>
          <p:cNvGrpSpPr/>
          <p:nvPr/>
        </p:nvGrpSpPr>
        <p:grpSpPr>
          <a:xfrm rot="0">
            <a:off x="666750" y="5334000"/>
            <a:ext cx="6886575" cy="1898650"/>
            <a:chOff x="0" y="0"/>
            <a:chExt cx="9182100" cy="2531534"/>
          </a:xfrm>
        </p:grpSpPr>
        <p:sp>
          <p:nvSpPr>
            <p:cNvPr name="TextBox 9" id="9"/>
            <p:cNvSpPr txBox="true"/>
            <p:nvPr/>
          </p:nvSpPr>
          <p:spPr>
            <a:xfrm rot="0">
              <a:off x="0" y="0"/>
              <a:ext cx="9182100" cy="558800"/>
            </a:xfrm>
            <a:prstGeom prst="rect">
              <a:avLst/>
            </a:prstGeom>
          </p:spPr>
          <p:txBody>
            <a:bodyPr anchor="t" rtlCol="false" tIns="0" lIns="0" bIns="0" rIns="0">
              <a:spAutoFit/>
            </a:bodyPr>
            <a:lstStyle/>
            <a:p>
              <a:pPr algn="l" marL="0" indent="0" lvl="0">
                <a:lnSpc>
                  <a:spcPts val="3000"/>
                </a:lnSpc>
                <a:spcBef>
                  <a:spcPct val="0"/>
                </a:spcBef>
              </a:pPr>
              <a:r>
                <a:rPr lang="en-US" b="true" sz="2500" spc="-37" strike="noStrike" u="none" i="0">
                  <a:solidFill>
                    <a:srgbClr val="071D30"/>
                  </a:solidFill>
                  <a:latin typeface="Helvetica World Bold"/>
                  <a:ea typeface="Helvetica World Bold"/>
                  <a:cs typeface="Helvetica World Bold"/>
                  <a:sym typeface="Helvetica World Bold"/>
                </a:rPr>
                <a:t>¡Suscríbete!</a:t>
              </a:r>
            </a:p>
          </p:txBody>
        </p:sp>
        <p:sp>
          <p:nvSpPr>
            <p:cNvPr name="TextBox 10" id="10"/>
            <p:cNvSpPr txBox="true"/>
            <p:nvPr/>
          </p:nvSpPr>
          <p:spPr>
            <a:xfrm rot="0">
              <a:off x="0" y="825500"/>
              <a:ext cx="9182100" cy="1706034"/>
            </a:xfrm>
            <a:prstGeom prst="rect">
              <a:avLst/>
            </a:prstGeom>
          </p:spPr>
          <p:txBody>
            <a:bodyPr anchor="t" rtlCol="false" tIns="0" lIns="0" bIns="0" rIns="0">
              <a:spAutoFit/>
            </a:bodyPr>
            <a:lstStyle/>
            <a:p>
              <a:pPr algn="l" marL="0" indent="0" lvl="0">
                <a:lnSpc>
                  <a:spcPts val="3499"/>
                </a:lnSpc>
                <a:spcBef>
                  <a:spcPct val="0"/>
                </a:spcBef>
              </a:pPr>
              <a:r>
                <a:rPr lang="en-US" sz="2499" spc="-37" strike="noStrike" u="none" i="0">
                  <a:solidFill>
                    <a:srgbClr val="071D30"/>
                  </a:solidFill>
                  <a:latin typeface="Helvetica World"/>
                  <a:ea typeface="Helvetica World"/>
                  <a:cs typeface="Helvetica World"/>
                  <a:sym typeface="Helvetica World"/>
                </a:rPr>
                <a:t>Escanea el código o busca el canal en YouTube. Los notebooks de la serie de NumPy están en github.com/Datos-De-Ciencia.</a:t>
              </a:r>
            </a:p>
          </p:txBody>
        </p:sp>
      </p:grpSp>
      <p:sp>
        <p:nvSpPr>
          <p:cNvPr name="TextBox 11" id="11"/>
          <p:cNvSpPr txBox="true"/>
          <p:nvPr/>
        </p:nvSpPr>
        <p:spPr>
          <a:xfrm rot="0">
            <a:off x="685800" y="657225"/>
            <a:ext cx="6667500" cy="300990"/>
          </a:xfrm>
          <a:prstGeom prst="rect">
            <a:avLst/>
          </a:prstGeom>
        </p:spPr>
        <p:txBody>
          <a:bodyPr anchor="t" rtlCol="false" tIns="0" lIns="0" bIns="0" rIns="0">
            <a:spAutoFit/>
          </a:bodyPr>
          <a:lstStyle/>
          <a:p>
            <a:pPr algn="l">
              <a:lnSpc>
                <a:spcPts val="2310"/>
              </a:lnSpc>
            </a:pPr>
            <a:r>
              <a:rPr lang="en-US" sz="1650" b="true" i="0">
                <a:solidFill>
                  <a:srgbClr val="087F8C"/>
                </a:solidFill>
                <a:latin typeface="Arimo Bold"/>
                <a:ea typeface="Arimo Bold"/>
                <a:cs typeface="Arimo Bold"/>
                <a:sym typeface="Arimo Bold"/>
              </a:rPr>
              <a:t>DATOS DE CIENCIA</a:t>
            </a:r>
          </a:p>
        </p:txBody>
      </p:sp>
      <p:grpSp>
        <p:nvGrpSpPr>
          <p:cNvPr name="Group 12" id="12"/>
          <p:cNvGrpSpPr/>
          <p:nvPr/>
        </p:nvGrpSpPr>
        <p:grpSpPr>
          <a:xfrm rot="0">
            <a:off x="685800" y="4476750"/>
            <a:ext cx="1428750" cy="57150"/>
            <a:chOff x="0" y="0"/>
            <a:chExt cx="1905000" cy="76200"/>
          </a:xfrm>
        </p:grpSpPr>
        <p:sp>
          <p:nvSpPr>
            <p:cNvPr name="Freeform 13" id="13"/>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F5B82E"/>
            </a:solidFill>
          </p:spPr>
        </p:sp>
        <p:sp>
          <p:nvSpPr>
            <p:cNvPr name="TextBox 14" id="14"/>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685800" y="8515350"/>
            <a:ext cx="7620000" cy="300990"/>
          </a:xfrm>
          <a:prstGeom prst="rect">
            <a:avLst/>
          </a:prstGeom>
        </p:spPr>
        <p:txBody>
          <a:bodyPr anchor="t" rtlCol="false" tIns="0" lIns="0" bIns="0" rIns="0">
            <a:spAutoFit/>
          </a:bodyPr>
          <a:lstStyle/>
          <a:p>
            <a:pPr algn="l">
              <a:lnSpc>
                <a:spcPts val="2310"/>
              </a:lnSpc>
            </a:pPr>
            <a:r>
              <a:rPr lang="en-US" sz="1650" i="0">
                <a:solidFill>
                  <a:srgbClr val="53697A"/>
                </a:solidFill>
                <a:latin typeface="Arimo Italics"/>
                <a:ea typeface="Arimo Italics"/>
                <a:cs typeface="Arimo Italics"/>
                <a:sym typeface="Arimo Italics"/>
              </a:rPr>
              <a:t>youtube.com/@Datos.deCiencia</a:t>
            </a:r>
          </a:p>
        </p:txBody>
      </p:sp>
      <p:grpSp>
        <p:nvGrpSpPr>
          <p:cNvPr name="Group 16" id="16"/>
          <p:cNvGrpSpPr/>
          <p:nvPr/>
        </p:nvGrpSpPr>
        <p:grpSpPr>
          <a:xfrm rot="0">
            <a:off x="8991600" y="9429750"/>
            <a:ext cx="9296400" cy="857250"/>
            <a:chOff x="0" y="0"/>
            <a:chExt cx="12395200" cy="1143000"/>
          </a:xfrm>
        </p:grpSpPr>
        <p:sp>
          <p:nvSpPr>
            <p:cNvPr name="Freeform 17" id="17"/>
            <p:cNvSpPr/>
            <p:nvPr/>
          </p:nvSpPr>
          <p:spPr>
            <a:xfrm flipH="false" flipV="false" rot="0">
              <a:off x="0" y="0"/>
              <a:ext cx="12395200" cy="1143000"/>
            </a:xfrm>
            <a:custGeom>
              <a:avLst/>
              <a:gdLst/>
              <a:ahLst/>
              <a:cxnLst/>
              <a:rect r="r" b="b" t="t" l="l"/>
              <a:pathLst>
                <a:path h="1143000" w="12395200">
                  <a:moveTo>
                    <a:pt x="0" y="0"/>
                  </a:moveTo>
                  <a:lnTo>
                    <a:pt x="12395200" y="0"/>
                  </a:lnTo>
                  <a:lnTo>
                    <a:pt x="12395200" y="1143000"/>
                  </a:lnTo>
                  <a:lnTo>
                    <a:pt x="0" y="1143000"/>
                  </a:lnTo>
                  <a:close/>
                </a:path>
              </a:pathLst>
            </a:custGeom>
            <a:solidFill>
              <a:srgbClr val="071D30">
                <a:alpha val="74902"/>
              </a:srgbClr>
            </a:solidFill>
          </p:spPr>
        </p:sp>
        <p:sp>
          <p:nvSpPr>
            <p:cNvPr name="TextBox 18" id="18"/>
            <p:cNvSpPr txBox="true"/>
            <p:nvPr/>
          </p:nvSpPr>
          <p:spPr>
            <a:xfrm>
              <a:off x="0" y="-38100"/>
              <a:ext cx="12395200" cy="1181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9334500" y="9696450"/>
            <a:ext cx="8572500" cy="241935"/>
          </a:xfrm>
          <a:prstGeom prst="rect">
            <a:avLst/>
          </a:prstGeom>
        </p:spPr>
        <p:txBody>
          <a:bodyPr anchor="t" rtlCol="false" tIns="0" lIns="0" bIns="0" rIns="0">
            <a:spAutoFit/>
          </a:bodyPr>
          <a:lstStyle/>
          <a:p>
            <a:pPr algn="l">
              <a:lnSpc>
                <a:spcPts val="1889"/>
              </a:lnSpc>
            </a:pPr>
            <a:r>
              <a:rPr lang="en-US" sz="1350" i="0">
                <a:solidFill>
                  <a:srgbClr val="F5F7FA"/>
                </a:solidFill>
                <a:latin typeface="Arimo"/>
                <a:ea typeface="Arimo"/>
                <a:cs typeface="Arimo"/>
                <a:sym typeface="Arimo"/>
              </a:rPr>
              <a:t>Logo del canal y código QR al canal</a:t>
            </a:r>
          </a:p>
        </p:txBody>
      </p:sp>
      <p:sp>
        <p:nvSpPr>
          <p:cNvPr name="TextBox 20" id="20"/>
          <p:cNvSpPr txBox="true"/>
          <p:nvPr/>
        </p:nvSpPr>
        <p:spPr>
          <a:xfrm rot="0">
            <a:off x="666750" y="9772650"/>
            <a:ext cx="5905500" cy="224790"/>
          </a:xfrm>
          <a:prstGeom prst="rect">
            <a:avLst/>
          </a:prstGeom>
        </p:spPr>
        <p:txBody>
          <a:bodyPr anchor="t" rtlCol="false" tIns="0" lIns="0" bIns="0" rIns="0">
            <a:spAutoFit/>
          </a:bodyPr>
          <a:lstStyle/>
          <a:p>
            <a:pPr algn="l">
              <a:lnSpc>
                <a:spcPts val="1784"/>
              </a:lnSpc>
            </a:pPr>
            <a:r>
              <a:rPr lang="en-US" sz="1275" b="true">
                <a:solidFill>
                  <a:srgbClr val="53697A"/>
                </a:solidFill>
                <a:latin typeface="Arimo Bold"/>
                <a:ea typeface="Arimo Bold"/>
                <a:cs typeface="Arimo Bold"/>
                <a:sym typeface="Arimo Bold"/>
              </a:rPr>
              <a:t>HELIODATA ACADEMY 2026  ·  ESCUELA DE ASTROFÍSICA SOLAR</a:t>
            </a:r>
          </a:p>
        </p:txBody>
      </p:sp>
      <p:pic>
        <p:nvPicPr>
          <p:cNvPr id="23" name="Picture 22" descr="canal_qr.png"/>
          <p:cNvPicPr>
            <a:picLocks noChangeAspect="1"/>
          </p:cNvPicPr>
          <p:nvPr/>
        </p:nvPicPr>
        <p:blipFill>
          <a:blip r:embed="rId5"/>
          <a:stretch>
            <a:fillRect/>
          </a:stretch>
        </p:blipFill>
        <p:spPr>
          <a:xfrm>
            <a:off x="9432000" y="2486118"/>
            <a:ext cx="8424000" cy="4459764"/>
          </a:xfrm>
          <a:prstGeom prst="rect">
            <a:avLst/>
          </a:prstGeom>
          <a:effectLst>
            <a:outerShdw blurRad="254000" dist="76200" dir="5400000" algn="t" rotWithShape="0">
              <a:srgbClr val="000000">
                <a:alpha val="55000"/>
              </a:srgbClr>
            </a:outerShdw>
          </a:effectLst>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71D30"/>
        </a:solidFill>
      </p:bgPr>
    </p:bg>
    <p:spTree>
      <p:nvGrpSpPr>
        <p:cNvPr id="1" name=""/>
        <p:cNvGrpSpPr/>
        <p:nvPr/>
      </p:nvGrpSpPr>
      <p:grpSpPr/>
      <p:grpSp>
        <p:nvGrpSpPr>
          <p:cNvPr name="Group 2" id="2"/>
          <p:cNvGrpSpPr/>
          <p:nvPr/>
        </p:nvGrpSpPr>
        <p:grpSpPr>
          <a:xfrm rot="0">
            <a:off x="0" y="0"/>
            <a:ext cx="7858125" cy="10287000"/>
            <a:chOff x="0" y="0"/>
            <a:chExt cx="1031988" cy="1350966"/>
          </a:xfrm>
        </p:grpSpPr>
        <p:sp>
          <p:nvSpPr>
            <p:cNvPr name="Freeform 3" id="3"/>
            <p:cNvSpPr/>
            <p:nvPr/>
          </p:nvSpPr>
          <p:spPr>
            <a:xfrm flipH="false" flipV="false" rot="0">
              <a:off x="0" y="0"/>
              <a:ext cx="1031988" cy="1350966"/>
            </a:xfrm>
            <a:custGeom>
              <a:avLst/>
              <a:gdLst/>
              <a:ahLst/>
              <a:cxnLst/>
              <a:rect r="r" b="b" t="t" l="l"/>
              <a:pathLst>
                <a:path h="1350966" w="1031988">
                  <a:moveTo>
                    <a:pt x="0" y="0"/>
                  </a:moveTo>
                  <a:lnTo>
                    <a:pt x="1031988" y="0"/>
                  </a:lnTo>
                  <a:lnTo>
                    <a:pt x="1031988" y="1350966"/>
                  </a:lnTo>
                  <a:lnTo>
                    <a:pt x="0" y="1350966"/>
                  </a:lnTo>
                  <a:close/>
                </a:path>
              </a:pathLst>
            </a:custGeom>
            <a:solidFill>
              <a:srgbClr val="F5B82E"/>
            </a:solidFill>
          </p:spPr>
        </p:sp>
      </p:grpSp>
      <p:grpSp>
        <p:nvGrpSpPr>
          <p:cNvPr name="Group 4" id="4"/>
          <p:cNvGrpSpPr/>
          <p:nvPr/>
        </p:nvGrpSpPr>
        <p:grpSpPr>
          <a:xfrm rot="0">
            <a:off x="1052512"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9315450" y="2914650"/>
            <a:ext cx="8324850" cy="608965"/>
          </a:xfrm>
          <a:prstGeom prst="rect">
            <a:avLst/>
          </a:prstGeom>
        </p:spPr>
        <p:txBody>
          <a:bodyPr anchor="t" rtlCol="false" tIns="0" lIns="0" bIns="0" rIns="0">
            <a:spAutoFit/>
          </a:bodyPr>
          <a:lstStyle/>
          <a:p>
            <a:pPr algn="l" marL="0" indent="0" lvl="0">
              <a:lnSpc>
                <a:spcPts val="4940"/>
              </a:lnSpc>
              <a:spcBef>
                <a:spcPct val="0"/>
              </a:spcBef>
            </a:pPr>
            <a:r>
              <a:rPr lang="en-US" sz="3800" spc="-57" strike="noStrike" u="none">
                <a:solidFill>
                  <a:srgbClr val="F5F7FA"/>
                </a:solidFill>
                <a:latin typeface="Helvetica World"/>
                <a:ea typeface="Helvetica World"/>
                <a:cs typeface="Helvetica World"/>
                <a:sym typeface="Helvetica World"/>
              </a:rPr>
              <a:t>¿Preguntas?</a:t>
            </a:r>
          </a:p>
        </p:txBody>
      </p:sp>
      <p:sp>
        <p:nvSpPr>
          <p:cNvPr name="TextBox 7" id="7"/>
          <p:cNvSpPr txBox="true"/>
          <p:nvPr/>
        </p:nvSpPr>
        <p:spPr>
          <a:xfrm rot="0">
            <a:off x="9303759" y="942975"/>
            <a:ext cx="8317491" cy="1999134"/>
          </a:xfrm>
          <a:prstGeom prst="rect">
            <a:avLst/>
          </a:prstGeom>
        </p:spPr>
        <p:txBody>
          <a:bodyPr anchor="t" rtlCol="false" tIns="0" lIns="0" bIns="0" rIns="0">
            <a:spAutoFit/>
          </a:bodyPr>
          <a:lstStyle/>
          <a:p>
            <a:pPr algn="l" marL="0" indent="0" lvl="0">
              <a:lnSpc>
                <a:spcPts val="14956"/>
              </a:lnSpc>
            </a:pPr>
            <a:r>
              <a:rPr lang="en-US" sz="14956" spc="-523">
                <a:solidFill>
                  <a:srgbClr val="F5B82E"/>
                </a:solidFill>
                <a:latin typeface="Georgia Pro Condensed"/>
                <a:ea typeface="Georgia Pro Condensed"/>
                <a:cs typeface="Georgia Pro Condensed"/>
                <a:sym typeface="Georgia Pro Condensed"/>
              </a:rPr>
              <a:t>¡Gracias!</a:t>
            </a:r>
          </a:p>
        </p:txBody>
      </p:sp>
      <p:sp>
        <p:nvSpPr>
          <p:cNvPr name="TextBox 8" id="8"/>
          <p:cNvSpPr txBox="true"/>
          <p:nvPr/>
        </p:nvSpPr>
        <p:spPr>
          <a:xfrm rot="0">
            <a:off x="9315450" y="3943350"/>
            <a:ext cx="8096250" cy="887730"/>
          </a:xfrm>
          <a:prstGeom prst="rect">
            <a:avLst/>
          </a:prstGeom>
        </p:spPr>
        <p:txBody>
          <a:bodyPr anchor="t" rtlCol="false" tIns="0" lIns="0" bIns="0" rIns="0">
            <a:spAutoFit/>
          </a:bodyPr>
          <a:lstStyle/>
          <a:p>
            <a:pPr algn="l">
              <a:lnSpc>
                <a:spcPts val="3569"/>
              </a:lnSpc>
            </a:pPr>
            <a:r>
              <a:rPr lang="en-US" sz="2550" i="0">
                <a:solidFill>
                  <a:srgbClr val="FFFFFF"/>
                </a:solidFill>
                <a:latin typeface="Arimo"/>
                <a:ea typeface="Arimo"/>
                <a:cs typeface="Arimo"/>
                <a:sym typeface="Arimo"/>
              </a:rPr>
              <a:t>Juan Esteban Agudelo Ortiz</a:t>
            </a:r>
          </a:p>
          <a:p>
            <a:pPr algn="l">
              <a:lnSpc>
                <a:spcPts val="3569"/>
              </a:lnSpc>
            </a:pPr>
            <a:r>
              <a:rPr lang="en-US" sz="2550" i="0">
                <a:solidFill>
                  <a:srgbClr val="FFFFFF"/>
                </a:solidFill>
                <a:latin typeface="Arimo"/>
                <a:ea typeface="Arimo"/>
                <a:cs typeface="Arimo"/>
                <a:sym typeface="Arimo"/>
              </a:rPr>
              <a:t>juagudeloo@unal.edu.co</a:t>
            </a:r>
          </a:p>
        </p:txBody>
      </p:sp>
      <p:grpSp>
        <p:nvGrpSpPr>
          <p:cNvPr name="Group 9" id="9"/>
          <p:cNvGrpSpPr/>
          <p:nvPr/>
        </p:nvGrpSpPr>
        <p:grpSpPr>
          <a:xfrm rot="0">
            <a:off x="9315450" y="5334000"/>
            <a:ext cx="1428750" cy="57150"/>
            <a:chOff x="0" y="0"/>
            <a:chExt cx="1905000" cy="76200"/>
          </a:xfrm>
        </p:grpSpPr>
        <p:sp>
          <p:nvSpPr>
            <p:cNvPr name="Freeform 10" id="10"/>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F5B82E"/>
            </a:solidFill>
          </p:spPr>
        </p:sp>
        <p:sp>
          <p:nvSpPr>
            <p:cNvPr name="TextBox 11" id="11"/>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9315450" y="5715000"/>
            <a:ext cx="2000250" cy="2000250"/>
            <a:chOff x="0" y="0"/>
            <a:chExt cx="2667000" cy="2667000"/>
          </a:xfrm>
        </p:grpSpPr>
        <p:sp>
          <p:nvSpPr>
            <p:cNvPr name="Freeform 13" id="13"/>
            <p:cNvSpPr/>
            <p:nvPr/>
          </p:nvSpPr>
          <p:spPr>
            <a:xfrm flipH="false" flipV="false" rot="0">
              <a:off x="0" y="0"/>
              <a:ext cx="2667000" cy="2667000"/>
            </a:xfrm>
            <a:custGeom>
              <a:avLst/>
              <a:gdLst/>
              <a:ahLst/>
              <a:cxnLst/>
              <a:rect r="r" b="b" t="t" l="l"/>
              <a:pathLst>
                <a:path h="2667000" w="2667000">
                  <a:moveTo>
                    <a:pt x="177800" y="0"/>
                  </a:moveTo>
                  <a:lnTo>
                    <a:pt x="2489200" y="0"/>
                  </a:lnTo>
                  <a:cubicBezTo>
                    <a:pt x="2587396" y="0"/>
                    <a:pt x="2667000" y="79604"/>
                    <a:pt x="2667000" y="177800"/>
                  </a:cubicBezTo>
                  <a:lnTo>
                    <a:pt x="2667000" y="2489200"/>
                  </a:lnTo>
                  <a:cubicBezTo>
                    <a:pt x="2667000" y="2587396"/>
                    <a:pt x="2587396" y="2667000"/>
                    <a:pt x="2489200" y="2667000"/>
                  </a:cubicBezTo>
                  <a:lnTo>
                    <a:pt x="177800" y="2667000"/>
                  </a:lnTo>
                  <a:cubicBezTo>
                    <a:pt x="79604" y="2667000"/>
                    <a:pt x="0" y="2587396"/>
                    <a:pt x="0" y="2489200"/>
                  </a:cubicBezTo>
                  <a:lnTo>
                    <a:pt x="0" y="177800"/>
                  </a:lnTo>
                  <a:cubicBezTo>
                    <a:pt x="0" y="79604"/>
                    <a:pt x="79604" y="0"/>
                    <a:pt x="177800" y="0"/>
                  </a:cubicBezTo>
                  <a:close/>
                </a:path>
              </a:pathLst>
            </a:custGeom>
            <a:solidFill>
              <a:srgbClr val="FFFFFF"/>
            </a:solidFill>
          </p:spPr>
        </p:sp>
        <p:sp>
          <p:nvSpPr>
            <p:cNvPr name="TextBox 14" id="14"/>
            <p:cNvSpPr txBox="true"/>
            <p:nvPr/>
          </p:nvSpPr>
          <p:spPr>
            <a:xfrm>
              <a:off x="0" y="-38100"/>
              <a:ext cx="2667000" cy="2705100"/>
            </a:xfrm>
            <a:prstGeom prst="rect">
              <a:avLst/>
            </a:prstGeom>
          </p:spPr>
          <p:txBody>
            <a:bodyPr anchor="ctr" rtlCol="false" tIns="50800" lIns="50800" bIns="50800" rIns="50800"/>
            <a:lstStyle/>
            <a:p>
              <a:pPr algn="l">
                <a:lnSpc>
                  <a:spcPts val="1679"/>
                </a:lnSpc>
              </a:pPr>
            </a:p>
          </p:txBody>
        </p:sp>
      </p:grpSp>
      <p:sp>
        <p:nvSpPr>
          <p:cNvPr name="Freeform 15" id="15" descr="Código QR de registro a la escuela"/>
          <p:cNvSpPr/>
          <p:nvPr/>
        </p:nvSpPr>
        <p:spPr>
          <a:xfrm flipH="false" flipV="false" rot="0">
            <a:off x="9410700" y="5810250"/>
            <a:ext cx="1809750" cy="1809750"/>
          </a:xfrm>
          <a:custGeom>
            <a:avLst/>
            <a:gdLst/>
            <a:ahLst/>
            <a:cxnLst/>
            <a:rect r="r" b="b" t="t" l="l"/>
            <a:pathLst>
              <a:path h="1809750" w="1809750">
                <a:moveTo>
                  <a:pt x="0" y="0"/>
                </a:moveTo>
                <a:lnTo>
                  <a:pt x="1809750" y="0"/>
                </a:lnTo>
                <a:lnTo>
                  <a:pt x="1809750" y="1809750"/>
                </a:lnTo>
                <a:lnTo>
                  <a:pt x="0" y="1809750"/>
                </a:lnTo>
                <a:lnTo>
                  <a:pt x="0" y="0"/>
                </a:lnTo>
                <a:close/>
              </a:path>
            </a:pathLst>
          </a:custGeom>
          <a:blipFill>
            <a:blip r:embed="rId3"/>
            <a:stretch>
              <a:fillRect l="0" t="0" r="0" b="0"/>
            </a:stretch>
          </a:blipFill>
        </p:spPr>
        <p:txBody>
          <a:bodyPr/>
          <a:p/>
        </p:txBody>
      </p:sp>
      <p:sp>
        <p:nvSpPr>
          <p:cNvPr name="TextBox 16" id="16"/>
          <p:cNvSpPr txBox="true"/>
          <p:nvPr/>
        </p:nvSpPr>
        <p:spPr>
          <a:xfrm rot="0">
            <a:off x="11668125" y="5772150"/>
            <a:ext cx="6096000" cy="1760220"/>
          </a:xfrm>
          <a:prstGeom prst="rect">
            <a:avLst/>
          </a:prstGeom>
        </p:spPr>
        <p:txBody>
          <a:bodyPr anchor="t" rtlCol="false" tIns="0" lIns="0" bIns="0" rIns="0">
            <a:spAutoFit/>
          </a:bodyPr>
          <a:lstStyle/>
          <a:p>
            <a:pPr algn="l">
              <a:lnSpc>
                <a:spcPts val="2835"/>
              </a:lnSpc>
            </a:pPr>
            <a:r>
              <a:rPr lang="en-US" sz="2100">
                <a:solidFill>
                  <a:srgbClr val="F5F7FA"/>
                </a:solidFill>
                <a:latin typeface="Arimo"/>
                <a:ea typeface="Arimo"/>
                <a:cs typeface="Arimo"/>
                <a:sym typeface="Arimo"/>
              </a:rPr>
              <a:t>Registro</a:t>
            </a:r>
          </a:p>
          <a:p>
            <a:pPr algn="l">
              <a:lnSpc>
                <a:spcPts val="2835"/>
              </a:lnSpc>
            </a:pPr>
            <a:r>
              <a:rPr lang="en-US" sz="2100">
                <a:solidFill>
                  <a:srgbClr val="F5F7FA"/>
                </a:solidFill>
                <a:latin typeface="Arimo"/>
                <a:ea typeface="Arimo"/>
                <a:cs typeface="Arimo"/>
                <a:sym typeface="Arimo"/>
              </a:rPr>
              <a:t>tiny.cc/escuelasolar</a:t>
            </a:r>
          </a:p>
          <a:p>
            <a:pPr algn="l">
              <a:lnSpc>
                <a:spcPts val="2835"/>
              </a:lnSpc>
            </a:pPr>
          </a:p>
          <a:p>
            <a:pPr algn="l">
              <a:lnSpc>
                <a:spcPts val="2835"/>
              </a:lnSpc>
            </a:pPr>
            <a:r>
              <a:rPr lang="en-US" sz="2100">
                <a:solidFill>
                  <a:srgbClr val="F5F7FA"/>
                </a:solidFill>
                <a:latin typeface="Arimo"/>
                <a:ea typeface="Arimo"/>
                <a:cs typeface="Arimo"/>
                <a:sym typeface="Arimo"/>
              </a:rPr>
              <a:t>Más información</a:t>
            </a:r>
          </a:p>
          <a:p>
            <a:pPr algn="l">
              <a:lnSpc>
                <a:spcPts val="2835"/>
              </a:lnSpc>
            </a:pPr>
            <a:r>
              <a:rPr lang="en-US" sz="2100">
                <a:solidFill>
                  <a:srgbClr val="F5F7FA"/>
                </a:solidFill>
                <a:latin typeface="Arimo"/>
                <a:ea typeface="Arimo"/>
                <a:cs typeface="Arimo"/>
                <a:sym typeface="Arimo"/>
              </a:rPr>
              <a:t>astronomiaoan.co/gosa/escuela.html</a:t>
            </a:r>
          </a:p>
        </p:txBody>
      </p:sp>
      <p:grpSp>
        <p:nvGrpSpPr>
          <p:cNvPr name="Group 17" id="17"/>
          <p:cNvGrpSpPr/>
          <p:nvPr/>
        </p:nvGrpSpPr>
        <p:grpSpPr>
          <a:xfrm rot="0">
            <a:off x="9315450" y="8382000"/>
            <a:ext cx="2857500" cy="952500"/>
            <a:chOff x="0" y="0"/>
            <a:chExt cx="3810000" cy="1270000"/>
          </a:xfrm>
        </p:grpSpPr>
        <p:sp>
          <p:nvSpPr>
            <p:cNvPr name="Freeform 18" id="18"/>
            <p:cNvSpPr/>
            <p:nvPr/>
          </p:nvSpPr>
          <p:spPr>
            <a:xfrm flipH="false" flipV="false" rot="0">
              <a:off x="0" y="0"/>
              <a:ext cx="3810000" cy="1270000"/>
            </a:xfrm>
            <a:custGeom>
              <a:avLst/>
              <a:gdLst/>
              <a:ahLst/>
              <a:cxnLst/>
              <a:rect r="r" b="b" t="t" l="l"/>
              <a:pathLst>
                <a:path h="1270000" w="3810000">
                  <a:moveTo>
                    <a:pt x="203200" y="0"/>
                  </a:moveTo>
                  <a:lnTo>
                    <a:pt x="3606800" y="0"/>
                  </a:lnTo>
                  <a:cubicBezTo>
                    <a:pt x="3719024" y="0"/>
                    <a:pt x="3810000" y="90976"/>
                    <a:pt x="3810000" y="203200"/>
                  </a:cubicBezTo>
                  <a:lnTo>
                    <a:pt x="3810000" y="1066800"/>
                  </a:lnTo>
                  <a:cubicBezTo>
                    <a:pt x="3810000" y="1179024"/>
                    <a:pt x="3719024" y="1270000"/>
                    <a:pt x="3606800" y="1270000"/>
                  </a:cubicBezTo>
                  <a:lnTo>
                    <a:pt x="203200" y="1270000"/>
                  </a:lnTo>
                  <a:cubicBezTo>
                    <a:pt x="90976" y="1270000"/>
                    <a:pt x="0" y="1179024"/>
                    <a:pt x="0" y="1066800"/>
                  </a:cubicBezTo>
                  <a:lnTo>
                    <a:pt x="0" y="203200"/>
                  </a:lnTo>
                  <a:cubicBezTo>
                    <a:pt x="0" y="90976"/>
                    <a:pt x="90976" y="0"/>
                    <a:pt x="203200" y="0"/>
                  </a:cubicBezTo>
                  <a:close/>
                </a:path>
              </a:pathLst>
            </a:custGeom>
            <a:solidFill>
              <a:srgbClr val="FFFFFF"/>
            </a:solidFill>
          </p:spPr>
        </p:sp>
        <p:sp>
          <p:nvSpPr>
            <p:cNvPr name="TextBox 19" id="19"/>
            <p:cNvSpPr txBox="true"/>
            <p:nvPr/>
          </p:nvSpPr>
          <p:spPr>
            <a:xfrm>
              <a:off x="0" y="-38100"/>
              <a:ext cx="3810000" cy="1308100"/>
            </a:xfrm>
            <a:prstGeom prst="rect">
              <a:avLst/>
            </a:prstGeom>
          </p:spPr>
          <p:txBody>
            <a:bodyPr anchor="ctr" rtlCol="false" tIns="50800" lIns="50800" bIns="50800" rIns="50800"/>
            <a:lstStyle/>
            <a:p>
              <a:pPr algn="l">
                <a:lnSpc>
                  <a:spcPts val="1679"/>
                </a:lnSpc>
              </a:pPr>
            </a:p>
          </p:txBody>
        </p:sp>
      </p:grpSp>
      <p:sp>
        <p:nvSpPr>
          <p:cNvPr name="Freeform 20" id="20" descr="Logo GoSA"/>
          <p:cNvSpPr/>
          <p:nvPr/>
        </p:nvSpPr>
        <p:spPr>
          <a:xfrm flipH="false" flipV="false" rot="0">
            <a:off x="9458325" y="8496300"/>
            <a:ext cx="1524000" cy="714375"/>
          </a:xfrm>
          <a:custGeom>
            <a:avLst/>
            <a:gdLst/>
            <a:ahLst/>
            <a:cxnLst/>
            <a:rect r="r" b="b" t="t" l="l"/>
            <a:pathLst>
              <a:path h="714375" w="1524000">
                <a:moveTo>
                  <a:pt x="0" y="0"/>
                </a:moveTo>
                <a:lnTo>
                  <a:pt x="1524000" y="0"/>
                </a:lnTo>
                <a:lnTo>
                  <a:pt x="1524000" y="714375"/>
                </a:lnTo>
                <a:lnTo>
                  <a:pt x="0" y="714375"/>
                </a:lnTo>
                <a:lnTo>
                  <a:pt x="0" y="0"/>
                </a:lnTo>
                <a:close/>
              </a:path>
            </a:pathLst>
          </a:custGeom>
          <a:blipFill>
            <a:blip r:embed="rId4"/>
            <a:stretch>
              <a:fillRect l="-82" t="0" r="-82" b="0"/>
            </a:stretch>
          </a:blipFill>
        </p:spPr>
        <p:txBody>
          <a:bodyPr/>
          <a:p/>
        </p:txBody>
      </p:sp>
      <p:sp>
        <p:nvSpPr>
          <p:cNvPr name="Freeform 21" id="21" descr="Logo Observatorio Astronómico Nacional"/>
          <p:cNvSpPr/>
          <p:nvPr/>
        </p:nvSpPr>
        <p:spPr>
          <a:xfrm flipH="false" flipV="false" rot="0">
            <a:off x="11163300" y="8477250"/>
            <a:ext cx="819150" cy="762000"/>
          </a:xfrm>
          <a:custGeom>
            <a:avLst/>
            <a:gdLst/>
            <a:ahLst/>
            <a:cxnLst/>
            <a:rect r="r" b="b" t="t" l="l"/>
            <a:pathLst>
              <a:path h="762000" w="819150">
                <a:moveTo>
                  <a:pt x="0" y="0"/>
                </a:moveTo>
                <a:lnTo>
                  <a:pt x="819150" y="0"/>
                </a:lnTo>
                <a:lnTo>
                  <a:pt x="819150" y="762000"/>
                </a:lnTo>
                <a:lnTo>
                  <a:pt x="0" y="762000"/>
                </a:lnTo>
                <a:lnTo>
                  <a:pt x="0" y="0"/>
                </a:lnTo>
                <a:close/>
              </a:path>
            </a:pathLst>
          </a:custGeom>
          <a:blipFill>
            <a:blip r:embed="rId5"/>
            <a:stretch>
              <a:fillRect l="0" t="-61" r="0" b="-61"/>
            </a:stretch>
          </a:blipFill>
        </p:spPr>
        <p:txBody>
          <a:bodyPr/>
          <a:p/>
        </p:txBody>
      </p:sp>
      <p:sp>
        <p:nvSpPr>
          <p:cNvPr name="TextBox 22" id="22"/>
          <p:cNvSpPr txBox="true"/>
          <p:nvPr/>
        </p:nvSpPr>
        <p:spPr>
          <a:xfrm rot="0">
            <a:off x="12430125" y="8515350"/>
            <a:ext cx="5334000" cy="587693"/>
          </a:xfrm>
          <a:prstGeom prst="rect">
            <a:avLst/>
          </a:prstGeom>
        </p:spPr>
        <p:txBody>
          <a:bodyPr anchor="t" rtlCol="false" tIns="0" lIns="0" bIns="0" rIns="0">
            <a:spAutoFit/>
          </a:bodyPr>
          <a:lstStyle/>
          <a:p>
            <a:pPr algn="l">
              <a:lnSpc>
                <a:spcPts val="2362"/>
              </a:lnSpc>
            </a:pPr>
            <a:r>
              <a:rPr lang="en-US" sz="1575">
                <a:solidFill>
                  <a:srgbClr val="9FB3C8"/>
                </a:solidFill>
                <a:latin typeface="Arimo"/>
                <a:ea typeface="Arimo"/>
                <a:cs typeface="Arimo"/>
                <a:sym typeface="Arimo"/>
              </a:rPr>
              <a:t>Organiza: Group of Solar Astrophysics GoSA</a:t>
            </a:r>
          </a:p>
          <a:p>
            <a:pPr algn="l">
              <a:lnSpc>
                <a:spcPts val="2362"/>
              </a:lnSpc>
            </a:pPr>
            <a:r>
              <a:rPr lang="en-US" sz="1575">
                <a:solidFill>
                  <a:srgbClr val="9FB3C8"/>
                </a:solidFill>
                <a:latin typeface="Arimo"/>
                <a:ea typeface="Arimo"/>
                <a:cs typeface="Arimo"/>
                <a:sym typeface="Arimo"/>
              </a:rPr>
              <a:t>Observatorio Astronómico Nacional · UNAL Bogotá</a:t>
            </a:r>
          </a:p>
        </p:txBody>
      </p:sp>
      <p:grpSp>
        <p:nvGrpSpPr>
          <p:cNvPr name="Group 23" id="23"/>
          <p:cNvGrpSpPr/>
          <p:nvPr/>
        </p:nvGrpSpPr>
        <p:grpSpPr>
          <a:xfrm rot="0">
            <a:off x="16287750" y="666750"/>
            <a:ext cx="1333500" cy="1333500"/>
            <a:chOff x="0" y="0"/>
            <a:chExt cx="1778000" cy="1778000"/>
          </a:xfrm>
        </p:grpSpPr>
        <p:sp>
          <p:nvSpPr>
            <p:cNvPr name="Freeform 24" id="24"/>
            <p:cNvSpPr/>
            <p:nvPr/>
          </p:nvSpPr>
          <p:spPr>
            <a:xfrm flipH="false" flipV="false" rot="0">
              <a:off x="200025" y="200025"/>
              <a:ext cx="1377950" cy="1377950"/>
            </a:xfrm>
            <a:custGeom>
              <a:avLst/>
              <a:gdLst/>
              <a:ahLst/>
              <a:cxnLst/>
              <a:rect r="r" b="b" t="t" l="l"/>
              <a:pathLst>
                <a:path h="1377950" w="1377950">
                  <a:moveTo>
                    <a:pt x="296333" y="688975"/>
                  </a:moveTo>
                  <a:cubicBezTo>
                    <a:pt x="296333" y="905825"/>
                    <a:pt x="472125" y="1081617"/>
                    <a:pt x="688975" y="1081617"/>
                  </a:cubicBezTo>
                  <a:cubicBezTo>
                    <a:pt x="905825" y="1081617"/>
                    <a:pt x="1081617" y="905825"/>
                    <a:pt x="1081617" y="688975"/>
                  </a:cubicBezTo>
                  <a:cubicBezTo>
                    <a:pt x="1081617" y="472125"/>
                    <a:pt x="905825" y="296333"/>
                    <a:pt x="688975" y="296333"/>
                  </a:cubicBezTo>
                  <a:cubicBezTo>
                    <a:pt x="472125" y="296333"/>
                    <a:pt x="296333" y="472125"/>
                    <a:pt x="296333" y="688975"/>
                  </a:cubicBezTo>
                  <a:close/>
                  <a:moveTo>
                    <a:pt x="1342390" y="280776"/>
                  </a:moveTo>
                  <a:cubicBezTo>
                    <a:pt x="1296472" y="202770"/>
                    <a:pt x="1127955" y="209077"/>
                    <a:pt x="900934" y="297297"/>
                  </a:cubicBezTo>
                  <a:cubicBezTo>
                    <a:pt x="673912" y="385518"/>
                    <a:pt x="423278" y="542093"/>
                    <a:pt x="244359" y="707470"/>
                  </a:cubicBezTo>
                  <a:cubicBezTo>
                    <a:pt x="65441" y="872847"/>
                    <a:pt x="-14264" y="1021609"/>
                    <a:pt x="35560" y="1097174"/>
                  </a:cubicBezTo>
                  <a:cubicBezTo>
                    <a:pt x="81478" y="1175180"/>
                    <a:pt x="249995" y="1168873"/>
                    <a:pt x="477016" y="1080653"/>
                  </a:cubicBezTo>
                  <a:cubicBezTo>
                    <a:pt x="704038" y="992432"/>
                    <a:pt x="954672" y="835857"/>
                    <a:pt x="1133591" y="670480"/>
                  </a:cubicBezTo>
                  <a:cubicBezTo>
                    <a:pt x="1312509" y="505103"/>
                    <a:pt x="1392214" y="356341"/>
                    <a:pt x="1342390" y="280776"/>
                  </a:cubicBezTo>
                  <a:close/>
                  <a:moveTo>
                    <a:pt x="688975" y="118533"/>
                  </a:moveTo>
                  <a:lnTo>
                    <a:pt x="688975" y="0"/>
                  </a:lnTo>
                  <a:moveTo>
                    <a:pt x="688975" y="1377950"/>
                  </a:moveTo>
                  <a:lnTo>
                    <a:pt x="688975" y="1259417"/>
                  </a:lnTo>
                  <a:moveTo>
                    <a:pt x="118533" y="688975"/>
                  </a:moveTo>
                  <a:lnTo>
                    <a:pt x="0" y="688975"/>
                  </a:lnTo>
                  <a:moveTo>
                    <a:pt x="1377950" y="688975"/>
                  </a:moveTo>
                  <a:lnTo>
                    <a:pt x="1259417" y="688975"/>
                  </a:lnTo>
                  <a:moveTo>
                    <a:pt x="288925" y="288925"/>
                  </a:moveTo>
                  <a:lnTo>
                    <a:pt x="207433" y="207433"/>
                  </a:lnTo>
                  <a:moveTo>
                    <a:pt x="1089025" y="1089025"/>
                  </a:moveTo>
                  <a:lnTo>
                    <a:pt x="1170517" y="1170517"/>
                  </a:lnTo>
                  <a:moveTo>
                    <a:pt x="325967" y="740833"/>
                  </a:moveTo>
                  <a:lnTo>
                    <a:pt x="488950" y="740833"/>
                  </a:lnTo>
                  <a:lnTo>
                    <a:pt x="570442" y="570442"/>
                  </a:lnTo>
                  <a:lnTo>
                    <a:pt x="696383" y="866775"/>
                  </a:lnTo>
                  <a:lnTo>
                    <a:pt x="807508" y="644525"/>
                  </a:lnTo>
                  <a:lnTo>
                    <a:pt x="881592" y="740833"/>
                  </a:lnTo>
                  <a:lnTo>
                    <a:pt x="1059392" y="740833"/>
                  </a:lnTo>
                </a:path>
              </a:pathLst>
            </a:custGeom>
            <a:ln w="38100" cap="sq">
              <a:solidFill>
                <a:srgbClr val="F5B82E"/>
              </a:solidFill>
              <a:prstDash val="solid"/>
              <a:miter/>
            </a:ln>
          </p:spPr>
        </p:sp>
        <p:sp>
          <p:nvSpPr>
            <p:cNvPr name="TextBox 25" id="25"/>
            <p:cNvSpPr txBox="true"/>
            <p:nvPr/>
          </p:nvSpPr>
          <p:spPr>
            <a:xfrm>
              <a:off x="0" y="-38100"/>
              <a:ext cx="1778000" cy="1816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16287750" y="666750"/>
            <a:ext cx="1333500" cy="1333500"/>
            <a:chOff x="0" y="0"/>
            <a:chExt cx="1778000" cy="1778000"/>
          </a:xfrm>
        </p:grpSpPr>
        <p:sp>
          <p:nvSpPr>
            <p:cNvPr name="Freeform 27" id="27"/>
            <p:cNvSpPr/>
            <p:nvPr/>
          </p:nvSpPr>
          <p:spPr>
            <a:xfrm flipH="false" flipV="false" rot="0">
              <a:off x="1274233" y="229658"/>
              <a:ext cx="237067" cy="237067"/>
            </a:xfrm>
            <a:custGeom>
              <a:avLst/>
              <a:gdLst/>
              <a:ahLst/>
              <a:cxnLst/>
              <a:rect r="r" b="b" t="t" l="l"/>
              <a:pathLst>
                <a:path h="237067" w="237067">
                  <a:moveTo>
                    <a:pt x="118534" y="0"/>
                  </a:moveTo>
                  <a:lnTo>
                    <a:pt x="148167" y="88900"/>
                  </a:lnTo>
                  <a:lnTo>
                    <a:pt x="237067" y="118534"/>
                  </a:lnTo>
                  <a:lnTo>
                    <a:pt x="148167" y="148167"/>
                  </a:lnTo>
                  <a:lnTo>
                    <a:pt x="118534" y="237067"/>
                  </a:lnTo>
                  <a:lnTo>
                    <a:pt x="88900" y="148167"/>
                  </a:lnTo>
                  <a:lnTo>
                    <a:pt x="0" y="118534"/>
                  </a:lnTo>
                  <a:lnTo>
                    <a:pt x="88900" y="88900"/>
                  </a:lnTo>
                  <a:close/>
                </a:path>
              </a:pathLst>
            </a:custGeom>
            <a:solidFill>
              <a:srgbClr val="FFFFFF"/>
            </a:solidFill>
          </p:spPr>
        </p:sp>
        <p:sp>
          <p:nvSpPr>
            <p:cNvPr name="TextBox 28" id="28"/>
            <p:cNvSpPr txBox="true"/>
            <p:nvPr/>
          </p:nvSpPr>
          <p:spPr>
            <a:xfrm>
              <a:off x="0" y="-38100"/>
              <a:ext cx="1778000" cy="18161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Presentación - HelioData Academy 2026</dc:description>
  <dc:identifier>DAHV1papYog</dc:identifier>
  <dcterms:modified xsi:type="dcterms:W3CDTF">2011-08-01T06:04:30Z</dcterms:modified>
  <cp:revision>1</cp:revision>
  <dc:title>Machine Learning aplicado al estudio del Sol</dc:title>
  <dc:creator>Juan Esteban Agudelo Ortiz</dc:creator>
</cp:coreProperties>
</file>